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147483072" r:id="rId3"/>
    <p:sldId id="2147483073" r:id="rId4"/>
    <p:sldId id="2147483004" r:id="rId5"/>
    <p:sldId id="2147483006" r:id="rId6"/>
    <p:sldId id="2147483007" r:id="rId7"/>
    <p:sldId id="2147483008" r:id="rId8"/>
    <p:sldId id="2147483009" r:id="rId9"/>
    <p:sldId id="2147483010" r:id="rId10"/>
    <p:sldId id="2147483011" r:id="rId11"/>
    <p:sldId id="2147483074" r:id="rId12"/>
    <p:sldId id="421" r:id="rId13"/>
    <p:sldId id="426" r:id="rId14"/>
    <p:sldId id="427" r:id="rId15"/>
    <p:sldId id="422" r:id="rId16"/>
    <p:sldId id="423" r:id="rId17"/>
    <p:sldId id="424" r:id="rId18"/>
    <p:sldId id="428" r:id="rId19"/>
    <p:sldId id="425" r:id="rId20"/>
    <p:sldId id="2147483076" r:id="rId21"/>
    <p:sldId id="2147483075" r:id="rId22"/>
    <p:sldId id="2147483048" r:id="rId23"/>
    <p:sldId id="2147483049" r:id="rId24"/>
    <p:sldId id="2147483050" r:id="rId25"/>
    <p:sldId id="2147483051" r:id="rId26"/>
    <p:sldId id="2147483052" r:id="rId27"/>
    <p:sldId id="2147483053" r:id="rId28"/>
    <p:sldId id="2147483054" r:id="rId29"/>
    <p:sldId id="2147483055" r:id="rId30"/>
    <p:sldId id="2147483056" r:id="rId31"/>
    <p:sldId id="214748305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42095-03E6-4772-A13B-9D54AB57D040}" v="9" dt="2026-02-27T10:53:28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ýček, Jakub" userId="0fd0477a-885b-4640-8df6-a47f260f7b47" providerId="ADAL" clId="{642162F9-3CBE-4328-B65F-6EA6B7ABAE33}"/>
    <pc:docChg chg="undo custSel mod addSld delSld modSld delMainMaster modMainMaster">
      <pc:chgData name="Strýček, Jakub" userId="0fd0477a-885b-4640-8df6-a47f260f7b47" providerId="ADAL" clId="{642162F9-3CBE-4328-B65F-6EA6B7ABAE33}" dt="2026-02-27T10:53:28.521" v="32"/>
      <pc:docMkLst>
        <pc:docMk/>
      </pc:docMkLst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4107154648" sldId="421"/>
        </pc:sldMkLst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756059033" sldId="422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756059033" sldId="422"/>
            <ac:spMk id="2" creationId="{596E9ACB-6CDF-67C3-DE25-EB4A08B9CBA5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1187125946" sldId="423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1187125946" sldId="423"/>
            <ac:spMk id="2" creationId="{2BD69937-2F8E-586F-73B8-124531973C19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50896166" sldId="424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50896166" sldId="424"/>
            <ac:spMk id="2" creationId="{3391F5A0-0046-4523-573A-60A4C4AFF1C0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1315920682" sldId="425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1315920682" sldId="425"/>
            <ac:spMk id="2" creationId="{E02911FC-74F9-C308-531E-2EDC3AC3DD5F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3342799518" sldId="426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3342799518" sldId="426"/>
            <ac:spMk id="2" creationId="{60DEC058-54D4-CDFB-2B8E-F62D205CBBDA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1875375471" sldId="427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1875375471" sldId="427"/>
            <ac:spMk id="2" creationId="{A200DD63-9232-48EB-0901-EC6D2247F3C6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750614787" sldId="428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750614787" sldId="428"/>
            <ac:spMk id="2" creationId="{D97829C9-1DE2-C160-BE06-9566F5399D32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1494961228" sldId="2147483004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1494961228" sldId="2147483004"/>
            <ac:spMk id="2" creationId="{223A2685-48A5-9E18-0A18-74C10A56F1BF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2423858603" sldId="2147483006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2423858603" sldId="2147483006"/>
            <ac:spMk id="2" creationId="{16CDD57B-C084-8120-4536-7841DA1BFE09}"/>
          </ac:spMkLst>
        </pc:spChg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3212239757" sldId="2147483007"/>
        </pc:sldMkLst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171587997" sldId="2147483008"/>
        </pc:sldMkLst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2235954917" sldId="2147483009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2235954917" sldId="2147483009"/>
            <ac:spMk id="2" creationId="{06B96BE7-6920-10DC-8DCC-60CAE187D085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416312061" sldId="2147483010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416312061" sldId="2147483010"/>
            <ac:spMk id="2" creationId="{0A6A11E4-3162-D197-BF13-02983FA99858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1260434587" sldId="2147483011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1260434587" sldId="2147483011"/>
            <ac:spMk id="2" creationId="{53B69319-0A26-3CFF-B670-16B55BFDEAED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1287354342" sldId="2147483048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1287354342" sldId="2147483048"/>
            <ac:spMk id="2" creationId="{E71CC0F1-73D6-4702-4517-9A8D586FD3E5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3467606536" sldId="2147483049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3467606536" sldId="2147483049"/>
            <ac:spMk id="2" creationId="{463B9368-4BBD-D2F1-64BA-7D9FBBA3A567}"/>
          </ac:spMkLst>
        </pc:spChg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2730379699" sldId="2147483050"/>
        </pc:sldMkLst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1154330528" sldId="2147483051"/>
        </pc:sldMkLst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1731317326" sldId="2147483052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1731317326" sldId="2147483052"/>
            <ac:spMk id="2" creationId="{F7C2DA8E-D380-6D9E-F26D-69D1A7182A58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4036471125" sldId="2147483053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4036471125" sldId="2147483053"/>
            <ac:spMk id="2" creationId="{D5B07401-3055-3143-22B3-07F3753C5180}"/>
          </ac:spMkLst>
        </pc:spChg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3107364341" sldId="2147483054"/>
        </pc:sldMkLst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1511518988" sldId="2147483055"/>
        </pc:sldMkLst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648254379" sldId="2147483056"/>
        </pc:sldMkLst>
      </pc:sldChg>
      <pc:sldChg chg="modSp add del mod">
        <pc:chgData name="Strýček, Jakub" userId="0fd0477a-885b-4640-8df6-a47f260f7b47" providerId="ADAL" clId="{642162F9-3CBE-4328-B65F-6EA6B7ABAE33}" dt="2026-02-27T10:53:28.521" v="32"/>
        <pc:sldMkLst>
          <pc:docMk/>
          <pc:sldMk cId="4136307480" sldId="2147483057"/>
        </pc:sldMkLst>
        <pc:spChg chg="mod">
          <ac:chgData name="Strýček, Jakub" userId="0fd0477a-885b-4640-8df6-a47f260f7b47" providerId="ADAL" clId="{642162F9-3CBE-4328-B65F-6EA6B7ABAE33}" dt="2026-02-27T10:53:28.333" v="31"/>
          <ac:spMkLst>
            <pc:docMk/>
            <pc:sldMk cId="4136307480" sldId="2147483057"/>
            <ac:spMk id="2" creationId="{CFDB986B-0ED8-55F5-C0C0-113BDB44A46A}"/>
          </ac:spMkLst>
        </pc:spChg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439336260" sldId="2147483072"/>
        </pc:sldMkLst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3430376069" sldId="2147483073"/>
        </pc:sldMkLst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2634862531" sldId="2147483074"/>
        </pc:sldMkLst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1064848659" sldId="2147483075"/>
        </pc:sldMkLst>
      </pc:sldChg>
      <pc:sldChg chg="add del">
        <pc:chgData name="Strýček, Jakub" userId="0fd0477a-885b-4640-8df6-a47f260f7b47" providerId="ADAL" clId="{642162F9-3CBE-4328-B65F-6EA6B7ABAE33}" dt="2026-02-27T10:53:28.521" v="32"/>
        <pc:sldMkLst>
          <pc:docMk/>
          <pc:sldMk cId="16658936" sldId="2147483076"/>
        </pc:sldMkLst>
      </pc:sldChg>
      <pc:sldMasterChg chg="addSp modSp mod">
        <pc:chgData name="Strýček, Jakub" userId="0fd0477a-885b-4640-8df6-a47f260f7b47" providerId="ADAL" clId="{642162F9-3CBE-4328-B65F-6EA6B7ABAE33}" dt="2026-02-27T07:43:55.427" v="6" actId="33475"/>
        <pc:sldMasterMkLst>
          <pc:docMk/>
          <pc:sldMasterMk cId="4139961364" sldId="2147483648"/>
        </pc:sldMasterMkLst>
        <pc:spChg chg="add mod">
          <ac:chgData name="Strýček, Jakub" userId="0fd0477a-885b-4640-8df6-a47f260f7b47" providerId="ADAL" clId="{642162F9-3CBE-4328-B65F-6EA6B7ABAE33}" dt="2026-02-27T07:43:55.427" v="6" actId="33475"/>
          <ac:spMkLst>
            <pc:docMk/>
            <pc:sldMasterMk cId="4139961364" sldId="2147483648"/>
            <ac:spMk id="8" creationId="{EDEFBE0D-898A-2F89-B41B-0D3BC0B098BC}"/>
          </ac:spMkLst>
        </pc:spChg>
      </pc:sldMasterChg>
      <pc:sldMasterChg chg="del delSldLayout">
        <pc:chgData name="Strýček, Jakub" userId="0fd0477a-885b-4640-8df6-a47f260f7b47" providerId="ADAL" clId="{642162F9-3CBE-4328-B65F-6EA6B7ABAE33}" dt="2026-02-27T10:53:09.480" v="11" actId="47"/>
        <pc:sldMasterMkLst>
          <pc:docMk/>
          <pc:sldMasterMk cId="101153299" sldId="2147483660"/>
        </pc:sldMasterMkLst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2660942124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1317813227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2416747656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2613569774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1559157698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452177505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1689408009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720559681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3551631050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735435003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1630397416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10:53:09.480" v="11" actId="47"/>
          <pc:sldLayoutMkLst>
            <pc:docMk/>
            <pc:sldMasterMk cId="101153299" sldId="2147483660"/>
            <pc:sldLayoutMk cId="241306186" sldId="2147483672"/>
          </pc:sldLayoutMkLst>
        </pc:sldLayoutChg>
      </pc:sldMasterChg>
      <pc:sldMasterChg chg="modSp del mod delSldLayout">
        <pc:chgData name="Strýček, Jakub" userId="0fd0477a-885b-4640-8df6-a47f260f7b47" providerId="ADAL" clId="{642162F9-3CBE-4328-B65F-6EA6B7ABAE33}" dt="2026-02-27T07:43:38.301" v="5" actId="47"/>
        <pc:sldMasterMkLst>
          <pc:docMk/>
          <pc:sldMasterMk cId="2710951034" sldId="2147483660"/>
        </pc:sldMasterMkLst>
        <pc:spChg chg="add mod">
          <ac:chgData name="Strýček, Jakub" userId="0fd0477a-885b-4640-8df6-a47f260f7b47" providerId="ADAL" clId="{642162F9-3CBE-4328-B65F-6EA6B7ABAE33}" dt="2026-02-27T05:45:38.735" v="3" actId="33475"/>
          <ac:spMkLst>
            <pc:docMk/>
            <pc:sldMasterMk cId="2710951034" sldId="2147483660"/>
            <ac:spMk id="8" creationId="{6D9CB86B-5A82-B697-C35D-20BA3B20C07B}"/>
          </ac:spMkLst>
        </pc:sp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1128837892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2100156566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2716894635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2559951586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4285833088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1576109060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4208781933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3327346815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288359194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4115175764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1801219126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07:43:38.301" v="5" actId="47"/>
          <pc:sldLayoutMkLst>
            <pc:docMk/>
            <pc:sldMasterMk cId="2710951034" sldId="2147483660"/>
            <pc:sldLayoutMk cId="257684347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94732-F302-C3E7-022E-6A3311085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E07A7-2D17-DBCD-AFFC-D58B7A3ED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E5366-D95F-272D-C9B7-B1660B7A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1DEA5-5670-9EEF-CE3D-C083BB00B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FEC7-B728-8037-E545-C23E790E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351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3E41-DB6C-6859-F1AD-031427B7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9BE8D-B1D3-5B17-E2F1-9A6BFA020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61364-B213-719A-3D97-25D12142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5D5C1-C87E-89F7-3BD8-90973FA4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22C16-DEDC-431C-331F-8836B315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19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73DD-FE82-1A57-27EB-14B9EAE4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90770-7E4C-BF5C-31A4-AAFF2D7BA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A16F7-6AA0-A327-577D-3C0DCC34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B482-6CA1-1FE6-CE61-71D1B610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942D5-092A-F56E-E0D8-1533DB7ED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29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D52E-D4FF-4039-B990-46BEB4AC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50354-C482-693B-33D1-CF9C8F33A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D2271-4717-16E8-6214-304B0C73E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27297-F6A0-6AE7-BA95-C1DF647B5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498AC-9FFC-83E8-EF34-D6C9AA5D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BEE29-BA17-76B8-57A4-9F3BFCC5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91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22C0-1ADF-5083-C18C-4C97D17ED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487D-864B-CB64-0FD3-EC9ADEA72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0AEF8-6737-1150-2C9D-FF571CECB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56D46-9393-1D6F-35A9-E42C3B955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1FFAC-01D4-1DCE-D02A-2E831F558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6F674B-C941-59A2-2D5A-121D96B1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28399-D8E8-8F57-BCE4-F2A79562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DDF5C-0093-1E13-5197-0FD83B3E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74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E567-E773-2D4A-3701-75DB9ED0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86A59-980D-E8D4-08F5-053DDC4D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640E7-4B60-95C4-2EB2-AF91C35F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DFE27-C997-3AA4-DD21-B2AB7EBA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24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80619-58CB-056D-1113-D4DE6277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EB572-D23C-2D4B-1837-46E0F0E5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D5AE4-2F35-370C-73A6-A335A8CC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92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5EC96-86C4-3440-A1D9-48B2BE2F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F2C74-528A-B4E1-B863-9D9CFFA9A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42A06-0CC2-D671-05B9-C28BF2EAD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B565-BB70-6664-58AA-F6A735219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8CB3E-C1E3-2653-F529-F9D85CFD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F9EEC-A357-4F75-0BCF-A3DFCC0B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51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E0B1E-FC41-414C-8362-624504E3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94EBF8-8B1F-690A-E304-5E455395A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AE3AF-8D3E-0768-1B54-C94A61D1F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93198-690C-595C-3CA5-F64E95A3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54572-32E6-C0BF-99DD-E942ADBD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758E6-4375-6CB3-CB6D-DCBC3317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0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6EA3-DA35-03AA-6712-CB3F95984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FCE43-FD93-9599-4EBF-D7322B4E0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9A323-C569-A34C-073F-792E833A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93FD5-C3F8-FC58-C84A-F9F86F26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1C452-D814-B515-9743-1FAB2D88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57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E292F-B460-EA2F-E5C3-1DAB45935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47392-0317-8013-CFC5-EDEDF8A50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6DCC-68F7-F9AA-2BAC-7660FEFD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6C8E1-B8CF-68AB-1790-8D68998C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0142E-5663-A9D8-6ABE-A6FA61D2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735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E31F4-01A2-E6F1-B374-7CC95B53C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2EDE0A-8CA4-BE57-5C53-40E9661DD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C94EB4A-EEA2-490F-CAE4-993DE35A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FC6-2C3D-430D-B009-7B7F642ABE14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ADE9B73-AB57-658C-7DA5-217ECDC3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FD5A285-F0CF-4C03-F2C2-B32E6004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482640-75BE-4676-8FBA-7A48CEEC95B0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36625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310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47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990074"/>
            <a:ext cx="9901382" cy="656164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0859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6950"/>
            <a:ext cx="9818255" cy="6492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1825625"/>
            <a:ext cx="11120582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7221A705-3299-48EB-854F-C3B4273BA57B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E4D3BAD3-06E2-8976-1503-A80952267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10" y="5616379"/>
            <a:ext cx="11120582" cy="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39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92F3D5-CD3E-29D4-CC4B-9EC71ABD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13A22E-C17D-D2E7-C115-423CEC0B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EECA32A-4681-9BA5-A0D8-54F09F11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6690-AF75-4187-BFC3-D5F2332C501B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B627AD7-A404-67BA-ABD1-021ED93D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43788D0-A08F-658B-474D-433D7602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44548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6C460-0F35-4E85-6A09-AE39960C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FAB8BD-D9D4-6732-570A-9B37C5C9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70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A7B67C0-F900-C5B2-C56C-35CF66249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F16AB83-1D47-9E2E-1472-C633E9A2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EAE3A-F887-47E6-BD99-55D80AEBF460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634056E-F687-6D18-7D49-0C715498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E9E4B79-2095-E9C7-049E-6E2B5B52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35096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A7DDE2E-A692-3DAD-62E1-9B3AF46C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10" y="1681163"/>
            <a:ext cx="54618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34030DF-31C2-E488-649D-035B23F1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710" y="2505075"/>
            <a:ext cx="5461866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E017A73-BA90-1271-D4BE-EA520C43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40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DF63CFB1-52B3-2337-5C70-EFAB4C37A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84089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198C0987-EF61-2B1A-3FB6-8517F4E8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92BEE-E86B-49DF-B1B3-CCEC9E68AD35}" type="datetime1">
              <a:rPr lang="sk-SK" smtClean="0"/>
              <a:t>27. 2. 2026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9C82B51-FA16-0B39-04A8-7FDCC03A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9112C33-D93B-E83C-FDAC-75B7736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441622A9-7D0F-4365-C6FA-80D5F022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0600"/>
            <a:ext cx="9818255" cy="7000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</p:spTree>
    <p:extLst>
      <p:ext uri="{BB962C8B-B14F-4D97-AF65-F5344CB8AC3E}">
        <p14:creationId xmlns:p14="http://schemas.microsoft.com/office/powerpoint/2010/main" val="7907248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043D30-071D-33AB-9669-23DC9D7D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626F86A-ED8E-E2CB-0045-882B2081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7997-9BB1-469D-AB8B-75A91F8709FB}" type="datetime1">
              <a:rPr lang="sk-SK" smtClean="0"/>
              <a:t>27. 2. 2026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AA76809C-B35F-91E8-F0FC-58E4DA05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20999B0-23F7-AD49-85E6-5F16A8F0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038275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294DAC2C-3747-CF3D-3CAD-2D3648B2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7880-69E6-4017-911E-C813255CF17D}" type="datetime1">
              <a:rPr lang="sk-SK" smtClean="0"/>
              <a:t>27. 2. 2026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2264B98-8195-D8D6-63E7-7160E646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A3CB4A4-DECD-DD2C-2867-C21C476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29644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ED231A-84A5-F5D9-5D2E-50078FC0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C5581D-D921-5F0F-AE2D-99906DBF2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1EC71DA-B330-2925-634E-8AF351D6A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9CAA74C9-159A-4142-CD81-9C0EBC9A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D860-1691-4A1E-951E-860E288D7ED9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EE73CA0-8128-6D89-5779-DE33B887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9D1AA6B-8076-B5A9-6F2D-053A8646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4440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D6BD6-170C-44DD-BDC0-D960921B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8" y="457200"/>
            <a:ext cx="43361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DABB3901-CBE5-CD07-4906-E15786878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731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DDBA57B-148A-F609-6500-9FB9CDADF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079480"/>
            <a:ext cx="42862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B07352E-769A-F29D-4DE0-19240FFE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6A6A-330E-44F1-9989-89ED565DD888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D766888-199E-BEED-A3B9-4EE38408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87AE7F8-4D13-FAEB-EAF6-80CD1BE4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211276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3DF940-CA92-904E-80FF-E6F99971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246ADBA-C098-2C20-660C-3760EF1E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68A9-2373-480D-BEC3-8767F6491096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7ADCD98-DFDB-5022-61A3-7705C605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3E782B7-3401-F2F1-32A7-8F6FC2A6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1" name="Zástupný text 3">
            <a:extLst>
              <a:ext uri="{FF2B5EF4-FFF2-40B4-BE49-F238E27FC236}">
                <a16:creationId xmlns:a16="http://schemas.microsoft.com/office/drawing/2014/main" id="{0C564EC2-EE3E-27C0-6E49-AD055C579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175382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2" name="Zástupný text 3">
            <a:extLst>
              <a:ext uri="{FF2B5EF4-FFF2-40B4-BE49-F238E27FC236}">
                <a16:creationId xmlns:a16="http://schemas.microsoft.com/office/drawing/2014/main" id="{6F97C8EF-0CB2-322D-9076-99ABF456029F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35709" y="3004849"/>
            <a:ext cx="5024582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13" name="Zástupný text 3">
            <a:extLst>
              <a:ext uri="{FF2B5EF4-FFF2-40B4-BE49-F238E27FC236}">
                <a16:creationId xmlns:a16="http://schemas.microsoft.com/office/drawing/2014/main" id="{D84772E5-CFF9-718C-802E-19550E9B968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632434" y="2179014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4" name="Zástupný text 3">
            <a:extLst>
              <a:ext uri="{FF2B5EF4-FFF2-40B4-BE49-F238E27FC236}">
                <a16:creationId xmlns:a16="http://schemas.microsoft.com/office/drawing/2014/main" id="{FE1BA62C-FF9F-4199-686B-F448EBF36D9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1711" y="3004849"/>
            <a:ext cx="5023859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</p:spTree>
    <p:extLst>
      <p:ext uri="{BB962C8B-B14F-4D97-AF65-F5344CB8AC3E}">
        <p14:creationId xmlns:p14="http://schemas.microsoft.com/office/powerpoint/2010/main" val="426874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F9D36B-1BF0-E611-64AA-CD4AF57A7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06848-4B8A-2341-56C7-D85F4C84F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053E5-80B3-7461-1B5D-E3ED7B6FD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F4A9C4-1D3E-4FDB-84A3-E17B165DCBBD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0C67B-FA5E-F522-04D2-52CBD18BE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79DDC-A457-FFFF-69C0-F996BEC55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16175-89C3-4242-8C5D-9EA701F8AD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FBE0D-898A-2F89-B41B-0D3BC0B098B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431350" y="6642100"/>
            <a:ext cx="53546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This item is classified as Internal. Sharing outside of the CME Group is permitted with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4139961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ok 9" descr="Obrázok, na ktorom je nebo, modrá, snímka obrazovky, rozmazanie&#10;&#10;Obsah vygenerovaný pomocou AI môže byť nesprávny.">
            <a:extLst>
              <a:ext uri="{FF2B5EF4-FFF2-40B4-BE49-F238E27FC236}">
                <a16:creationId xmlns:a16="http://schemas.microsoft.com/office/drawing/2014/main" id="{C71F1129-C362-F7B5-2DE7-D5B8B8D330A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36343588-5C6D-5217-EDC9-609AD8D2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1041400"/>
            <a:ext cx="9818255" cy="649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A1C42F2-A5DE-357A-C4CF-5A290B76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09" y="1825625"/>
            <a:ext cx="108180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E5A5F4F-D90E-E642-21B8-C18A81F22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2C8D9-E561-4CC8-AC32-35F66DAD277A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61D836A-C826-6445-380C-EC3A44206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08C169-9F46-5E9A-1745-62AB43CD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7F2538-5172-44FE-BA0F-FAB2B9E4D3CD}" type="slidenum">
              <a:rPr lang="sk-SK" smtClean="0"/>
              <a:pPr/>
              <a:t>‹#›</a:t>
            </a:fld>
            <a:endParaRPr lang="sk-SK">
              <a:solidFill>
                <a:schemeClr val="bg1"/>
              </a:solidFill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6D9CB86B-5A82-B697-C35D-20BA3B20C0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3275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k-SK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  <p:pic>
        <p:nvPicPr>
          <p:cNvPr id="7" name="Obrázok 6" descr="Obrázok, na ktorom je písmo, grafika, logo, kruh">
            <a:extLst>
              <a:ext uri="{FF2B5EF4-FFF2-40B4-BE49-F238E27FC236}">
                <a16:creationId xmlns:a16="http://schemas.microsoft.com/office/drawing/2014/main" id="{97A7DE47-3C26-9503-4E0D-3CA5230F4F1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1" y="324810"/>
            <a:ext cx="1255720" cy="4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0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Gotham Book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otham Book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otham Ligh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otham Ligh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6327-57F6-C6FD-8C0B-69B4B062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2D9BC6E9-47EA-D30B-DEC3-FA3695D70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6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91E2BB36-6ADC-F6BD-5442-6A235D1AF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64071"/>
            <a:ext cx="11068493" cy="1039604"/>
          </a:xfrm>
        </p:spPr>
        <p:txBody>
          <a:bodyPr anchor="ctr">
            <a:normAutofit/>
          </a:bodyPr>
          <a:lstStyle/>
          <a:p>
            <a:r>
              <a:rPr lang="sk-SK" sz="6000" b="1" dirty="0">
                <a:latin typeface="Gotham Black"/>
              </a:rPr>
              <a:t>GROWTH</a:t>
            </a:r>
            <a:r>
              <a:rPr lang="sk-SK" sz="6000" dirty="0">
                <a:latin typeface="Gotham Black"/>
              </a:rPr>
              <a:t> &amp; PARTNERSHIP</a:t>
            </a:r>
            <a:endParaRPr lang="en-US" sz="60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9BB31754-0268-CB43-89EB-C8DC93B0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33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2BB93-1A44-4BDC-9A6E-610BBC57E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E0AFF40C-5375-87FC-52FA-FE57B3E72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6.1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F5F0096B-9C2A-49B0-E0AE-B950F9E5E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64071"/>
            <a:ext cx="11068493" cy="1039604"/>
          </a:xfrm>
        </p:spPr>
        <p:txBody>
          <a:bodyPr>
            <a:normAutofit/>
          </a:bodyPr>
          <a:lstStyle/>
          <a:p>
            <a:r>
              <a:rPr lang="sk-SK" sz="6000" b="1" dirty="0">
                <a:latin typeface="Gotham Black"/>
              </a:rPr>
              <a:t>Marketing</a:t>
            </a:r>
            <a:r>
              <a:rPr lang="sk-SK" sz="6000" dirty="0">
                <a:latin typeface="Gotham Black"/>
              </a:rPr>
              <a:t> Strategy</a:t>
            </a:r>
            <a:endParaRPr lang="en-US" sz="60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30E2D03A-4A59-53A0-26D2-16AD20BF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37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2BD347-A895-312E-1803-8F856A0FB697}"/>
              </a:ext>
            </a:extLst>
          </p:cNvPr>
          <p:cNvSpPr/>
          <p:nvPr/>
        </p:nvSpPr>
        <p:spPr>
          <a:xfrm rot="5400000">
            <a:off x="7445047" y="2680799"/>
            <a:ext cx="2094273" cy="527035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A79B7-FC4E-D133-A929-AF9D02657E79}"/>
              </a:ext>
            </a:extLst>
          </p:cNvPr>
          <p:cNvSpPr/>
          <p:nvPr/>
        </p:nvSpPr>
        <p:spPr>
          <a:xfrm rot="16200000">
            <a:off x="2104407" y="2690174"/>
            <a:ext cx="2091543" cy="52543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AAA08C-EBDB-ED76-AF66-A67BF7EB62A9}"/>
              </a:ext>
            </a:extLst>
          </p:cNvPr>
          <p:cNvSpPr/>
          <p:nvPr/>
        </p:nvSpPr>
        <p:spPr>
          <a:xfrm rot="5400000">
            <a:off x="7388939" y="465153"/>
            <a:ext cx="2206486" cy="52543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362C41-8B54-FBB7-0D49-F52181C51BAF}"/>
              </a:ext>
            </a:extLst>
          </p:cNvPr>
          <p:cNvSpPr/>
          <p:nvPr/>
        </p:nvSpPr>
        <p:spPr>
          <a:xfrm rot="16200000">
            <a:off x="2039275" y="465560"/>
            <a:ext cx="2221808" cy="525433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23A2685-48A5-9E18-0A18-74C10A56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4178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VOYO </a:t>
            </a:r>
            <a:r>
              <a:rPr lang="sk-SK" b="1" dirty="0" err="1">
                <a:latin typeface="Gotham Black"/>
              </a:rPr>
              <a:t>Growth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Pillars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B4312D6-7C6F-C120-F382-1F3C9A77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5E881A06-FDD7-536A-40A3-5752F415CE19}"/>
              </a:ext>
            </a:extLst>
          </p:cNvPr>
          <p:cNvSpPr txBox="1"/>
          <p:nvPr/>
        </p:nvSpPr>
        <p:spPr>
          <a:xfrm>
            <a:off x="456332" y="2109311"/>
            <a:ext cx="5019675" cy="1634490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CONTENT-LED GROWTH</a:t>
            </a:r>
            <a:endParaRPr kumimoji="0" lang="sk-S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Local originals, reality moments and premium sport drive subscriptions and conversation. VOYO grows when stories become unmissable.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71CE6F53-88C2-3BD1-95C0-FD95D5E4BDDE}"/>
              </a:ext>
            </a:extLst>
          </p:cNvPr>
          <p:cNvSpPr txBox="1"/>
          <p:nvPr/>
        </p:nvSpPr>
        <p:spPr>
          <a:xfrm>
            <a:off x="5990359" y="2136934"/>
            <a:ext cx="5019673" cy="1634490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ECOSYSTEM AMPLIFICATION</a:t>
            </a:r>
            <a:endParaRPr kumimoji="0" lang="sk-S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TV builds national moments. VOYO extends access and continuity. Social and digital keep the conversation alive.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78FF158F-4B0B-5F52-E14A-8ECF216E92B0}"/>
              </a:ext>
            </a:extLst>
          </p:cNvPr>
          <p:cNvSpPr txBox="1"/>
          <p:nvPr/>
        </p:nvSpPr>
        <p:spPr>
          <a:xfrm>
            <a:off x="456332" y="4403596"/>
            <a:ext cx="5019675" cy="1634490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HABIT &amp; LIFECYCLE GROWTH</a:t>
            </a:r>
            <a:endParaRPr kumimoji="0" lang="sk-S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builds daily viewing habits through continuity,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personalisation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and lifecycle communication, not one-time campaigns.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DA742E1F-E14C-1D62-B789-53F399651DD4}"/>
              </a:ext>
            </a:extLst>
          </p:cNvPr>
          <p:cNvSpPr txBox="1"/>
          <p:nvPr/>
        </p:nvSpPr>
        <p:spPr>
          <a:xfrm>
            <a:off x="5990359" y="4415393"/>
            <a:ext cx="5019675" cy="1634490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DISTRIBUTION &amp; VALUE PARTNERSHIPS</a:t>
            </a:r>
            <a:endParaRPr kumimoji="0" lang="sk-S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Bundles, telco integrations and device partnerships expand reach while strengthening VOYO’s premium value.</a:t>
            </a:r>
          </a:p>
        </p:txBody>
      </p:sp>
    </p:spTree>
    <p:extLst>
      <p:ext uri="{BB962C8B-B14F-4D97-AF65-F5344CB8AC3E}">
        <p14:creationId xmlns:p14="http://schemas.microsoft.com/office/powerpoint/2010/main" val="149496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CDD57B-C084-8120-4536-7841DA1B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136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Content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Strategy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DB312B-371C-01BA-D9EC-A61F2D1CA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650" y="1825625"/>
            <a:ext cx="8062768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Local stories &amp; shared moments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Reality formats, local adaptations and advanced streaming from TV bring culturally close stories and national moments people follow together.</a:t>
            </a: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Sport &amp; live excitement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Local leagues and global competitions deliver high-stakes moments that drive engagement and real-time viewing</a:t>
            </a: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Continuity beyond broadcast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VOYO extends TV storytelling through early access, full seasons and on-demand viewing that fits everyday life</a:t>
            </a: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Curated global entertainment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Selected international series and films broaden choice while remaining relevant and appealing to local audiences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863B70-5666-6F57-A256-BF24D80F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2693E-8E29-DDFB-A008-E72D0204E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109" y="1568450"/>
            <a:ext cx="1063466" cy="10634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760048-3FF3-FE07-D1DC-F990A06C7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780" y="2870548"/>
            <a:ext cx="926795" cy="926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A60F22-9882-D0B5-487D-277786219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109" y="3949352"/>
            <a:ext cx="1158929" cy="11589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0105AB-4A90-4099-5489-2F8F53F0D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19" y="5215932"/>
            <a:ext cx="856945" cy="85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58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93089D-25C4-6553-2686-6CB4A6B05AE8}"/>
              </a:ext>
            </a:extLst>
          </p:cNvPr>
          <p:cNvSpPr/>
          <p:nvPr/>
        </p:nvSpPr>
        <p:spPr>
          <a:xfrm rot="5400000">
            <a:off x="6814853" y="1275917"/>
            <a:ext cx="4171950" cy="5388838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2F03B6-D457-5C1B-EB3E-9646CD210DCA}"/>
              </a:ext>
            </a:extLst>
          </p:cNvPr>
          <p:cNvSpPr/>
          <p:nvPr/>
        </p:nvSpPr>
        <p:spPr>
          <a:xfrm rot="16200000">
            <a:off x="1144156" y="1275917"/>
            <a:ext cx="4171950" cy="5388838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486519C-51F0-812F-DACF-68861915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>
                <a:latin typeface="Gotham Black"/>
              </a:rPr>
              <a:t>User</a:t>
            </a:r>
            <a:r>
              <a:rPr lang="sk-SK" dirty="0">
                <a:latin typeface="Gotham Black"/>
              </a:rPr>
              <a:t> </a:t>
            </a:r>
            <a:r>
              <a:rPr lang="sk-SK" b="1" dirty="0" err="1">
                <a:latin typeface="Gotham Black"/>
              </a:rPr>
              <a:t>Acquisition</a:t>
            </a:r>
            <a:r>
              <a:rPr lang="sk-SK" dirty="0">
                <a:latin typeface="Gotham Black"/>
              </a:rPr>
              <a:t> &amp; </a:t>
            </a:r>
            <a:r>
              <a:rPr lang="sk-SK" dirty="0" err="1">
                <a:latin typeface="Gotham Black"/>
              </a:rPr>
              <a:t>Retention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5947C85-9876-245B-99F9-774B90CF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620F994E-B136-5B83-CDCD-86B264D7897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78694" y="2166361"/>
            <a:ext cx="5484813" cy="4351337"/>
          </a:xfrm>
        </p:spPr>
        <p:txBody>
          <a:bodyPr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WHY PEOPLE SUBSCRIBE</a:t>
            </a:r>
            <a:endParaRPr lang="sk-SK" sz="1600" b="1" dirty="0">
              <a:solidFill>
                <a:srgbClr val="DB9E0A"/>
              </a:solidFill>
              <a:latin typeface="Montserrat" panose="00000500000000000000" pitchFamily="2" charset="0"/>
            </a:endParaRPr>
          </a:p>
          <a:p>
            <a:pPr marL="0" indent="0" algn="r">
              <a:lnSpc>
                <a:spcPct val="120000"/>
              </a:lnSpc>
              <a:buNone/>
            </a:pP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VOYO attracts new subscribers through must-watch moments that spark conversation and cultural relevance. </a:t>
            </a:r>
            <a:endParaRPr lang="sk-SK" sz="1600" dirty="0">
              <a:latin typeface="Montserrat" panose="00000500000000000000" pitchFamily="2" charset="0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Major premieres, reality milestones and live sport create urgency and a clear reason to join now rather than later. </a:t>
            </a:r>
            <a:endParaRPr lang="sk-SK" sz="1600" dirty="0">
              <a:latin typeface="Montserrat" panose="00000500000000000000" pitchFamily="2" charset="0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The strength of the TV ecosystem amplifies awareness, while VOYO offers immediate access and viewing flexibility.</a:t>
            </a:r>
            <a:endParaRPr lang="sk-SK" sz="1600" dirty="0">
              <a:latin typeface="Montserrat" panose="00000500000000000000" pitchFamily="2" charset="0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9F979459-BEF2-B888-69F8-F8550C7EAF5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67452" y="2166361"/>
            <a:ext cx="5202953" cy="435133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WHY THEY STAY AND RETURN</a:t>
            </a:r>
            <a:endParaRPr lang="sk-SK" sz="1600" b="1" dirty="0">
              <a:solidFill>
                <a:srgbClr val="DB9E0A"/>
              </a:solidFill>
              <a:latin typeface="Montserrat" panose="00000500000000000000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Subscribers remain when viewing becomes effortless and continuous. </a:t>
            </a:r>
            <a:endParaRPr lang="sk-SK" sz="1600" dirty="0">
              <a:latin typeface="Montserrat" panose="00000500000000000000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Early access, full seasons and on-demand availability allow stories to continue beyond broadcast, fitting everyday routines. </a:t>
            </a:r>
            <a:endParaRPr lang="sk-SK" sz="1600" dirty="0">
              <a:latin typeface="Montserrat" panose="00000500000000000000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Personalized recommendations, lifecycle communication and a steady flow of new releases help viewers discover more of what they love, strengthening habit and reducing churn.</a:t>
            </a:r>
            <a:endParaRPr lang="sk-SK" sz="16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239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6249CD09-1D5F-9D26-384A-AE90E026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611252"/>
            <a:ext cx="10501457" cy="656164"/>
          </a:xfrm>
        </p:spPr>
        <p:txBody>
          <a:bodyPr>
            <a:noAutofit/>
          </a:bodyPr>
          <a:lstStyle/>
          <a:p>
            <a:r>
              <a:rPr lang="sk-SK" sz="4000" b="1" dirty="0">
                <a:latin typeface="Gotham Black"/>
              </a:rPr>
              <a:t>Performance</a:t>
            </a:r>
            <a:r>
              <a:rPr lang="sk-SK" sz="4000" dirty="0">
                <a:latin typeface="Gotham Black"/>
              </a:rPr>
              <a:t> Marketing &amp; Growth Intelligence</a:t>
            </a: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4989C435-E872-4E84-902A-52509B7F4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1030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Performance marketing converts viewer interest into measurable action and strengthens VOYO’s understanding of its audience.</a:t>
            </a:r>
            <a:endParaRPr lang="sk-SK" sz="2000" dirty="0">
              <a:latin typeface="Gotham Black"/>
            </a:endParaRPr>
          </a:p>
          <a:p>
            <a:pPr marL="0" indent="0">
              <a:buNone/>
            </a:pPr>
            <a:endParaRPr lang="sk-SK" sz="2000" dirty="0">
              <a:latin typeface="Gotham Black"/>
            </a:endParaRPr>
          </a:p>
          <a:p>
            <a:pPr marL="0" indent="0">
              <a:buNone/>
            </a:pPr>
            <a:endParaRPr lang="en-US" sz="2000" dirty="0">
              <a:latin typeface="Gotham Black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4194512-8782-B7DB-6486-CE6EA0DE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50161D0A-7AFF-1EDA-52A6-193E6114F1AC}"/>
              </a:ext>
            </a:extLst>
          </p:cNvPr>
          <p:cNvSpPr txBox="1"/>
          <p:nvPr/>
        </p:nvSpPr>
        <p:spPr>
          <a:xfrm>
            <a:off x="461818" y="2878386"/>
            <a:ext cx="3533775" cy="2062103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CAPTURE DEMAND AND DRIVE ACTION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Campaigns convert peak interest into subscription and viewing, and ahead of release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optimise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for signals such as registrations, reminders or app installs.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DD40E14E-150F-D9F1-BEA6-E3423885D40B}"/>
              </a:ext>
            </a:extLst>
          </p:cNvPr>
          <p:cNvSpPr txBox="1"/>
          <p:nvPr/>
        </p:nvSpPr>
        <p:spPr>
          <a:xfrm>
            <a:off x="4333732" y="2878386"/>
            <a:ext cx="3533774" cy="2062103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>
            <a:spAutoFit/>
          </a:bodyPr>
          <a:lstStyle>
            <a:defPPr>
              <a:defRPr lang="sk-SK"/>
            </a:defPPr>
            <a:lvl1pPr>
              <a:buNone/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PRIORITISE EFFICIENCY AND LONG-TERM VALUE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Optimisation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focuses on conversion quality and lifetime value rather than reach, ensuring sustainable growth and smarter allocation of investment.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9F9D246C-0152-8A27-93DF-9C1292EC03B5}"/>
              </a:ext>
            </a:extLst>
          </p:cNvPr>
          <p:cNvSpPr txBox="1"/>
          <p:nvPr/>
        </p:nvSpPr>
        <p:spPr>
          <a:xfrm>
            <a:off x="8205645" y="2869481"/>
            <a:ext cx="3533773" cy="2062103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>
            <a:spAutoFit/>
          </a:bodyPr>
          <a:lstStyle>
            <a:defPPr>
              <a:defRPr lang="sk-SK"/>
            </a:defPPr>
            <a:lvl1pPr>
              <a:buNone/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GENERATE INSIGHT FOR SMARTER DECISIONS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Tracking and data integration reveal viewer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behaviour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content impact and campaign effectiveness, enabling continuous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optimisation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and better decision-making.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8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B96BE7-6920-10DC-8DCC-60CAE187D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404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Strategic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Partnerships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E7B9CC5-5DD9-00B1-7AC1-E79937504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5947" y="1564553"/>
            <a:ext cx="7824642" cy="508418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Gotham Black"/>
              </a:rPr>
              <a:t>Partnerships expand access to VOYO and strengthen its everyday value by integrating the service into the devices, services and experiences people already use.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sz="1800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Gotham Black"/>
              </a:rPr>
              <a:t>DISTRIBUTION &amp; ACCESS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Partnerships with telecommunications providers integrate VOYO into service bundles, simplifying access and accelerating adoption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sz="1600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Gotham Black"/>
              </a:rPr>
              <a:t>DEVICE INTEGRATION &amp; VISIBILITY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Pre-installation, remote control shortcuts and platform integrations ensure VOYO is easy to find and effortless to use at home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sz="1600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Gotham Black"/>
              </a:rPr>
              <a:t>NEW AUDIENCE ENTRY POINTS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Collaborations in areas such as gaming and digital entertainment introduce VOYO to younger and highly engaged audiences through culturally relevant experiences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78E6F89-03C1-F4AD-2A84-4BF1C948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68333E-54F5-77BC-7C70-DBFC73A98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255" y="2910834"/>
            <a:ext cx="2180919" cy="218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5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6A11E4-3162-D197-BF13-02983FA9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6477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Promotional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Principles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27FF364-B039-6498-E327-9874D34F4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936" y="1750290"/>
            <a:ext cx="776200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Gotham Black"/>
              </a:rPr>
              <a:t>Promotions should accelerate adoption while protecting long-term value.</a:t>
            </a:r>
            <a:endParaRPr lang="sk-SK" sz="1800" dirty="0">
              <a:latin typeface="Gotham Black"/>
            </a:endParaRPr>
          </a:p>
          <a:p>
            <a:pPr>
              <a:lnSpc>
                <a:spcPct val="100000"/>
              </a:lnSpc>
            </a:pPr>
            <a:endParaRPr lang="en-US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DO</a:t>
            </a:r>
            <a:br>
              <a:rPr lang="en-US" sz="1800" dirty="0">
                <a:latin typeface="Gotham Black"/>
              </a:rPr>
            </a:br>
            <a:r>
              <a:rPr lang="en-US" sz="1800" dirty="0">
                <a:latin typeface="Gotham Black"/>
              </a:rPr>
              <a:t>Use limited-time offers for launches, strategic growth periods and market</a:t>
            </a:r>
            <a:r>
              <a:rPr lang="sk-SK" sz="1800" dirty="0">
                <a:latin typeface="Gotham Black"/>
              </a:rPr>
              <a:t> </a:t>
            </a:r>
            <a:r>
              <a:rPr lang="en-US" sz="1800" dirty="0">
                <a:latin typeface="Gotham Black"/>
              </a:rPr>
              <a:t>entry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AVOID</a:t>
            </a:r>
            <a:br>
              <a:rPr lang="en-US" sz="1800" dirty="0">
                <a:latin typeface="Gotham Black"/>
              </a:rPr>
            </a:br>
            <a:r>
              <a:rPr lang="en-US" sz="1800" dirty="0">
                <a:latin typeface="Gotham Black"/>
              </a:rPr>
              <a:t>Frequent or deep discounting that conditions audiences to wait for deals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PRIORITISE</a:t>
            </a:r>
            <a:br>
              <a:rPr lang="en-US" sz="1800" dirty="0">
                <a:latin typeface="Gotham Black"/>
              </a:rPr>
            </a:br>
            <a:r>
              <a:rPr lang="en-US" sz="1800" dirty="0">
                <a:latin typeface="Gotham Black"/>
              </a:rPr>
              <a:t>Bundles, added benefits and extended access over price-led reductions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0AC341B-C327-5C25-0517-41BC9671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168FE-303A-B717-4963-326D4E377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5" y="3024463"/>
            <a:ext cx="3169324" cy="18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2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B69319-0A26-3CFF-B670-16B55BFD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70974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Growth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Execution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Principles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C04971C-FE5B-7CFF-D9E2-B5B1F277E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692" y="1713056"/>
            <a:ext cx="780703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GROWTH HAPPENS IN MOMENTS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VOYO builds growth around cultural moments, premieres and live events that create urgency, conversation and shared viewing.</a:t>
            </a:r>
            <a:endParaRPr lang="sk-SK" sz="14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sk-SK" sz="1400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LONG-TERM BRAND TRUST ENABLES EFFICIENT GROWTH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Sustained brand strength improves performance efficiency and supports long-term willingness to pay</a:t>
            </a:r>
          </a:p>
          <a:p>
            <a:pPr marL="0" indent="0">
              <a:lnSpc>
                <a:spcPct val="120000"/>
              </a:lnSpc>
              <a:buNone/>
            </a:pPr>
            <a:endParaRPr lang="sk-SK" sz="1400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LOCAL RELEVANCE DRIVES CONNECTION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Marketing must feel culturally fluent and locally close to ensure VOYO is perceived as “our service” in every market</a:t>
            </a:r>
          </a:p>
          <a:p>
            <a:pPr marL="0" indent="0">
              <a:lnSpc>
                <a:spcPct val="120000"/>
              </a:lnSpc>
              <a:buNone/>
            </a:pPr>
            <a:endParaRPr lang="sk-SK" sz="1400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SUCCESS IS MEASURED BY SUSTAINABLE VALUE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Decisions </a:t>
            </a:r>
            <a:r>
              <a:rPr lang="en-US" sz="1400" dirty="0" err="1">
                <a:latin typeface="Gotham Black"/>
              </a:rPr>
              <a:t>prioritise</a:t>
            </a:r>
            <a:r>
              <a:rPr lang="en-US" sz="1400" dirty="0">
                <a:latin typeface="Gotham Black"/>
              </a:rPr>
              <a:t> engagement, retention and lifetime value over short-term acquisition spikes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4A61D5F-E55B-FEB6-448D-999AC5B2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309A14-BA74-C853-28DA-1BF6A4AEE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2" y="2895600"/>
            <a:ext cx="1755368" cy="175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34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3A80F-CB63-06D3-9AA5-ADA0F4A49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D8F3B8D8-596A-4AAF-E20F-4FAF40394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6.2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1563D6A4-3551-4A88-0589-5F7891F2C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64070"/>
            <a:ext cx="11068493" cy="1979405"/>
          </a:xfrm>
        </p:spPr>
        <p:txBody>
          <a:bodyPr anchor="ctr">
            <a:normAutofit/>
          </a:bodyPr>
          <a:lstStyle/>
          <a:p>
            <a:r>
              <a:rPr lang="en-US" sz="6000" b="1" dirty="0">
                <a:latin typeface="Gotham Black"/>
              </a:rPr>
              <a:t>B2B Brand Usage </a:t>
            </a:r>
          </a:p>
          <a:p>
            <a:r>
              <a:rPr lang="en-US" sz="6000" dirty="0">
                <a:latin typeface="Gotham Black"/>
              </a:rPr>
              <a:t>&amp; Governance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3A92D9B2-B0FE-5EE9-2590-7C6BF931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862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27A3F5-885D-3A66-04F4-18FB3A8C8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117"/>
            <a:ext cx="11139632" cy="656164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Gotham Black"/>
              </a:rPr>
              <a:t>Purpose</a:t>
            </a:r>
            <a:r>
              <a:rPr lang="en-US" sz="4000" dirty="0">
                <a:latin typeface="Gotham Black"/>
              </a:rPr>
              <a:t> of B2B Brand Usage &amp; Governance</a:t>
            </a:r>
            <a:endParaRPr lang="sk-SK" sz="4000" dirty="0">
              <a:latin typeface="Gotham Black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50968AF7-1CBD-6A71-0B66-F26780D02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1306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1600" b="1" dirty="0">
                <a:solidFill>
                  <a:srgbClr val="DB9E0A"/>
                </a:solidFill>
                <a:latin typeface="Gotham Black"/>
              </a:rPr>
              <a:t>WHY THIS EXIST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36F329E-7411-EFFD-A625-B6FE3604871F}"/>
              </a:ext>
            </a:extLst>
          </p:cNvPr>
          <p:cNvSpPr/>
          <p:nvPr/>
        </p:nvSpPr>
        <p:spPr>
          <a:xfrm>
            <a:off x="461818" y="2210371"/>
            <a:ext cx="2714001" cy="921934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 anchor="ctr"/>
          <a:lstStyle/>
          <a:p>
            <a:pPr marL="0" marR="0" lvl="0" indent="0" algn="ct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Protect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as a premium, trusted streaming service</a:t>
            </a:r>
            <a:r>
              <a:rPr kumimoji="0" lang="sk-SK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	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C4F5314-4B54-D27A-6427-1BF2287F8F35}"/>
              </a:ext>
            </a:extLst>
          </p:cNvPr>
          <p:cNvSpPr/>
          <p:nvPr/>
        </p:nvSpPr>
        <p:spPr>
          <a:xfrm>
            <a:off x="3320398" y="2210372"/>
            <a:ext cx="2714001" cy="921934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Ensure partners use the brand consistently and correctly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89A8B91-5289-96CD-085C-5F942E80D188}"/>
              </a:ext>
            </a:extLst>
          </p:cNvPr>
          <p:cNvSpPr/>
          <p:nvPr/>
        </p:nvSpPr>
        <p:spPr>
          <a:xfrm>
            <a:off x="6178979" y="2218203"/>
            <a:ext cx="2714001" cy="921934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 anchor="ctr"/>
          <a:lstStyle/>
          <a:p>
            <a:pPr marL="0" marR="0" lvl="0" indent="0" algn="ct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Prevent dilution through uncontrolled promotions</a:t>
            </a:r>
            <a:endParaRPr kumimoji="0" lang="en-GB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C26EDAC3-E5BF-94E4-0B6B-A53EDC20A96B}"/>
              </a:ext>
            </a:extLst>
          </p:cNvPr>
          <p:cNvSpPr txBox="1"/>
          <p:nvPr/>
        </p:nvSpPr>
        <p:spPr>
          <a:xfrm>
            <a:off x="3320398" y="3725695"/>
            <a:ext cx="6094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Brand principle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is not just a platform.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It is a trusted entertainment brand and viewer promise.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CFD910BB-4932-942D-EA98-7B5ABBD119AE}"/>
              </a:ext>
            </a:extLst>
          </p:cNvPr>
          <p:cNvSpPr txBox="1"/>
          <p:nvPr/>
        </p:nvSpPr>
        <p:spPr>
          <a:xfrm>
            <a:off x="802027" y="5514860"/>
            <a:ext cx="9542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Partners help distribute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. They do not redefine it.</a:t>
            </a:r>
            <a:endParaRPr kumimoji="0" lang="sk-SK" sz="24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cxnSp>
        <p:nvCxnSpPr>
          <p:cNvPr id="17" name="Rovná spojnica 16">
            <a:extLst>
              <a:ext uri="{FF2B5EF4-FFF2-40B4-BE49-F238E27FC236}">
                <a16:creationId xmlns:a16="http://schemas.microsoft.com/office/drawing/2014/main" id="{A7F4FD0D-B691-E5CC-BB91-6716E5818838}"/>
              </a:ext>
            </a:extLst>
          </p:cNvPr>
          <p:cNvCxnSpPr/>
          <p:nvPr/>
        </p:nvCxnSpPr>
        <p:spPr>
          <a:xfrm>
            <a:off x="595818" y="5378061"/>
            <a:ext cx="0" cy="7352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Shape 5">
            <a:extLst>
              <a:ext uri="{FF2B5EF4-FFF2-40B4-BE49-F238E27FC236}">
                <a16:creationId xmlns:a16="http://schemas.microsoft.com/office/drawing/2014/main" id="{DB4F39BF-90EB-15D2-E158-A0FB9D493C4C}"/>
              </a:ext>
            </a:extLst>
          </p:cNvPr>
          <p:cNvSpPr/>
          <p:nvPr/>
        </p:nvSpPr>
        <p:spPr>
          <a:xfrm>
            <a:off x="9025417" y="2210371"/>
            <a:ext cx="2714001" cy="929765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 anchor="ctr"/>
          <a:lstStyle/>
          <a:p>
            <a:pPr marL="0" marR="0" lvl="0" indent="0" algn="ct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Safeguard long-term willingness to pay</a:t>
            </a:r>
            <a:endParaRPr kumimoji="0" lang="en-GB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64653D1-EF48-F01F-1391-A675D7C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22A350-4889-2EFF-0436-7EFCA0DCF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65" y="3504700"/>
            <a:ext cx="1558705" cy="155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54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DEC058-54D4-CDFB-2B8E-F62D205C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136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Scope</a:t>
            </a:r>
            <a:r>
              <a:rPr lang="en-US" dirty="0">
                <a:latin typeface="Gotham Black"/>
              </a:rPr>
              <a:t> – Who These Rules Apply To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8ACDCE5-2FCA-DA5C-551E-46C32FB7A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850" y="1882775"/>
            <a:ext cx="7986567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Gotham Black"/>
              </a:rPr>
              <a:t>These rules apply to any third party using the VOYO brand, directly or indirectly.</a:t>
            </a:r>
          </a:p>
          <a:p>
            <a:pPr marL="0" indent="0">
              <a:buNone/>
            </a:pPr>
            <a:endParaRPr lang="en-US" sz="2600" dirty="0">
              <a:latin typeface="Gotham Black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IPTV &amp; Telco operators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Distribution and reseller partners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FMCG and promotional partners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Media &amp; technology partners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Agencies acting on behalf of partners</a:t>
            </a:r>
          </a:p>
          <a:p>
            <a:pPr marL="0" indent="0">
              <a:buNone/>
            </a:pPr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sz="2600" dirty="0">
                <a:latin typeface="Gotham Black"/>
              </a:rPr>
              <a:t>Accountability extends to all subcontractors and agencies.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A86DFA3-C1A2-F0E5-5E9A-01A26A24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BFE54E-58C2-FC64-98E5-56F4ED045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55" y="2619374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99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00DD63-9232-48EB-0901-EC6D2247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6477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>
                <a:latin typeface="Gotham Black"/>
              </a:rPr>
              <a:t>Brand</a:t>
            </a:r>
            <a:r>
              <a:rPr lang="sk-SK" dirty="0">
                <a:latin typeface="Gotham Black"/>
              </a:rPr>
              <a:t> </a:t>
            </a:r>
            <a:r>
              <a:rPr lang="sk-SK" b="1" dirty="0">
                <a:latin typeface="Gotham Black"/>
              </a:rPr>
              <a:t>Ownership</a:t>
            </a:r>
            <a:r>
              <a:rPr lang="sk-SK" dirty="0">
                <a:latin typeface="Gotham Black"/>
              </a:rPr>
              <a:t> &amp; Legal Status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3044A7-E18A-FEE0-37FB-8384E7AC3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921362"/>
            <a:ext cx="11277600" cy="3610744"/>
          </a:xfrm>
        </p:spPr>
        <p:txBody>
          <a:bodyPr/>
          <a:lstStyle/>
          <a:p>
            <a:r>
              <a:rPr lang="en-US" dirty="0">
                <a:latin typeface="Gotham Black"/>
              </a:rPr>
              <a:t>VOYO is a registered trademark owned by CME</a:t>
            </a:r>
            <a:endParaRPr lang="sk-SK" dirty="0">
              <a:latin typeface="Gotham Black"/>
            </a:endParaRPr>
          </a:p>
          <a:p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All brand assets are exclusive property of CME</a:t>
            </a:r>
          </a:p>
          <a:p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Partners receive a limited, non-transferable, revocable license</a:t>
            </a:r>
          </a:p>
          <a:p>
            <a:endParaRPr lang="en-US" dirty="0">
              <a:latin typeface="Gotham Black"/>
            </a:endParaRPr>
          </a:p>
          <a:p>
            <a:endParaRPr lang="sk-SK" dirty="0">
              <a:latin typeface="Gotham Black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5001961C-EA69-C4BA-E1EF-651C7ADC4539}"/>
              </a:ext>
            </a:extLst>
          </p:cNvPr>
          <p:cNvSpPr txBox="1"/>
          <p:nvPr/>
        </p:nvSpPr>
        <p:spPr>
          <a:xfrm>
            <a:off x="1609724" y="5237935"/>
            <a:ext cx="974407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KEY RULE</a:t>
            </a:r>
          </a:p>
          <a:p>
            <a:pPr marL="0" marR="0" lvl="0" indent="0" algn="l" defTabSz="914400" rtl="0" eaLnBrk="1" fontAlgn="auto" latinLnBrk="0" hangingPunct="1"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No partnership grants ownership, control, or reinterpretation of the VOYO brand.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54547AF-1623-88F4-563A-56F94B0EA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 descr="Attention PNG transparent image download, size: 2400x2400px">
            <a:extLst>
              <a:ext uri="{FF2B5EF4-FFF2-40B4-BE49-F238E27FC236}">
                <a16:creationId xmlns:a16="http://schemas.microsoft.com/office/drawing/2014/main" id="{D74A73A0-1502-0B9C-20C8-3D6F00A26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33419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375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E4706E-46D9-6527-2C5B-A61ADB3C43CD}"/>
              </a:ext>
            </a:extLst>
          </p:cNvPr>
          <p:cNvSpPr/>
          <p:nvPr/>
        </p:nvSpPr>
        <p:spPr>
          <a:xfrm rot="5400000">
            <a:off x="7171187" y="1160687"/>
            <a:ext cx="3272527" cy="5522190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A551ED-8BD1-A874-AD1A-3464CAB4D9AD}"/>
              </a:ext>
            </a:extLst>
          </p:cNvPr>
          <p:cNvSpPr/>
          <p:nvPr/>
        </p:nvSpPr>
        <p:spPr>
          <a:xfrm rot="5400000">
            <a:off x="1352566" y="1457115"/>
            <a:ext cx="3272528" cy="492933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96E9ACB-6CDF-67C3-DE25-EB4A08B9C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064"/>
            <a:ext cx="11044382" cy="659097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How</a:t>
            </a:r>
            <a:r>
              <a:rPr lang="en-US" dirty="0">
                <a:latin typeface="Gotham Black"/>
              </a:rPr>
              <a:t>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appears in partner ecosystems</a:t>
            </a:r>
            <a:endParaRPr lang="sk-SK" dirty="0">
              <a:latin typeface="Gotham Black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09D6C38A-7A55-39AA-CED4-48197D76D9A2}"/>
              </a:ext>
            </a:extLst>
          </p:cNvPr>
          <p:cNvSpPr txBox="1"/>
          <p:nvPr/>
        </p:nvSpPr>
        <p:spPr>
          <a:xfrm>
            <a:off x="426888" y="2400326"/>
            <a:ext cx="5362575" cy="2659593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</a:t>
            </a: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IS: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</a:t>
            </a:r>
            <a:r>
              <a:rPr kumimoji="0" lang="sk-S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stand-alone</a:t>
            </a: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sk-S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brand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 premium streaming service 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 content destination viewers choose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 digital product with its own experience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45325E3E-8A83-36E9-0215-11DFD4FF5BE3}"/>
              </a:ext>
            </a:extLst>
          </p:cNvPr>
          <p:cNvSpPr txBox="1"/>
          <p:nvPr/>
        </p:nvSpPr>
        <p:spPr>
          <a:xfrm>
            <a:off x="6182020" y="2285516"/>
            <a:ext cx="5643418" cy="3272527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>
              <a:buNone/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IS NOT:</a:t>
            </a:r>
            <a:endParaRPr kumimoji="0" lang="sk-SK" sz="18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 free add-on feature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 generic application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 discount product or coupon-based incentive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 channel inside the partner brand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rebranded under partner naming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BE722360-7691-1529-C7DA-86F45637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059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D69937-2F8E-586F-73B8-12453197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6367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Brand </a:t>
            </a:r>
            <a:r>
              <a:rPr lang="sk-SK" b="1" dirty="0">
                <a:latin typeface="Gotham Black"/>
              </a:rPr>
              <a:t>Assets</a:t>
            </a:r>
            <a:r>
              <a:rPr lang="sk-SK" dirty="0">
                <a:latin typeface="Gotham Black"/>
              </a:rPr>
              <a:t> Usage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C012BB-A033-738C-AB2A-B8A8A9C96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124" y="1825625"/>
            <a:ext cx="7691293" cy="308067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B9E0A"/>
                </a:solidFill>
                <a:latin typeface="Gotham Black"/>
              </a:rPr>
              <a:t>USE ONLY APPROVED VOYO ASSETS</a:t>
            </a:r>
          </a:p>
          <a:p>
            <a:pPr marL="0" indent="0">
              <a:buNone/>
            </a:pPr>
            <a:r>
              <a:rPr lang="en-US" dirty="0">
                <a:latin typeface="Gotham Black"/>
              </a:rPr>
              <a:t>Partners must use current VOYO brand materials across all touchpoints.</a:t>
            </a:r>
            <a:endParaRPr lang="sk-SK" dirty="0">
              <a:latin typeface="Gotham Black"/>
            </a:endParaRPr>
          </a:p>
          <a:p>
            <a:pPr marL="0" indent="0">
              <a:buNone/>
            </a:pPr>
            <a:endParaRPr lang="en-US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Includes:</a:t>
            </a:r>
            <a:endParaRPr lang="sk-SK" b="1" dirty="0">
              <a:latin typeface="Gotham Black"/>
            </a:endParaRPr>
          </a:p>
          <a:p>
            <a:r>
              <a:rPr lang="en-US" dirty="0">
                <a:latin typeface="Gotham Black"/>
              </a:rPr>
              <a:t>logo &amp; visual identity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key visuals &amp; imagery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service descriptions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tone of voice</a:t>
            </a:r>
            <a:endParaRPr lang="sk-SK" dirty="0">
              <a:latin typeface="Gotham Black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F8B05669-CFDF-33E8-39B7-ECF47C1C69B2}"/>
              </a:ext>
            </a:extLst>
          </p:cNvPr>
          <p:cNvSpPr txBox="1"/>
          <p:nvPr/>
        </p:nvSpPr>
        <p:spPr>
          <a:xfrm>
            <a:off x="835740" y="5265027"/>
            <a:ext cx="9871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lways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use official assets.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Do not recreate, modify, or reinterpret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branding.</a:t>
            </a:r>
          </a:p>
        </p:txBody>
      </p:sp>
      <p:cxnSp>
        <p:nvCxnSpPr>
          <p:cNvPr id="6" name="Rovná spojnica 5">
            <a:extLst>
              <a:ext uri="{FF2B5EF4-FFF2-40B4-BE49-F238E27FC236}">
                <a16:creationId xmlns:a16="http://schemas.microsoft.com/office/drawing/2014/main" id="{E89797DA-BD68-CB07-DDB6-909AC9763CD2}"/>
              </a:ext>
            </a:extLst>
          </p:cNvPr>
          <p:cNvCxnSpPr/>
          <p:nvPr/>
        </p:nvCxnSpPr>
        <p:spPr>
          <a:xfrm>
            <a:off x="615482" y="5219850"/>
            <a:ext cx="0" cy="7352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FA3A831-F466-5332-02E1-B44B897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F63BFA-900A-7B09-5C58-0C0DA6549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115" y="2658911"/>
            <a:ext cx="1540177" cy="154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25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91F5A0-0046-4523-573A-60A4C4AF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613404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Promotion &amp; </a:t>
            </a:r>
            <a:r>
              <a:rPr lang="sk-SK" b="1" dirty="0">
                <a:latin typeface="Gotham Black"/>
              </a:rPr>
              <a:t>Visibility</a:t>
            </a:r>
            <a:r>
              <a:rPr lang="sk-SK" dirty="0">
                <a:latin typeface="Gotham Black"/>
              </a:rPr>
              <a:t> Standards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B5B95B7-738C-DBCB-7A4A-F105BB1B6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9374" y="1724891"/>
            <a:ext cx="7748443" cy="47054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DB9E0A"/>
                </a:solidFill>
                <a:latin typeface="Gotham Black"/>
              </a:rPr>
              <a:t>VOYO must be clearly visible and fairly represented</a:t>
            </a:r>
            <a:endParaRPr lang="sk-SK" sz="2400" b="1" dirty="0">
              <a:solidFill>
                <a:srgbClr val="DB9E0A"/>
              </a:solidFill>
              <a:latin typeface="Gotham Black"/>
            </a:endParaRPr>
          </a:p>
          <a:p>
            <a:endParaRPr lang="sk-SK" sz="1600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>
                <a:latin typeface="Gotham Black"/>
              </a:rPr>
              <a:t>Partners must ensure:</a:t>
            </a:r>
          </a:p>
          <a:p>
            <a:pPr>
              <a:lnSpc>
                <a:spcPct val="120000"/>
              </a:lnSpc>
            </a:pPr>
            <a:r>
              <a:rPr lang="sk-SK" sz="1600" dirty="0">
                <a:latin typeface="Gotham Black"/>
              </a:rPr>
              <a:t>no less favourable prominence vs other SVOD service</a:t>
            </a:r>
            <a:endParaRPr lang="en-US" sz="16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sk-SK" sz="1600" dirty="0">
                <a:latin typeface="Gotham Black"/>
              </a:rPr>
              <a:t>visibility across digital properties &amp; journeys</a:t>
            </a:r>
            <a:endParaRPr lang="en-US" sz="16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sk-SK" sz="1600" dirty="0">
                <a:latin typeface="Gotham Black"/>
              </a:rPr>
              <a:t>defined promotional frequency</a:t>
            </a:r>
          </a:p>
          <a:p>
            <a:pPr marL="0" indent="0">
              <a:lnSpc>
                <a:spcPct val="120000"/>
              </a:lnSpc>
              <a:buNone/>
            </a:pPr>
            <a:endParaRPr lang="sk-SK" sz="16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 err="1">
                <a:latin typeface="Gotham Black"/>
              </a:rPr>
              <a:t>Promotion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must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focus</a:t>
            </a:r>
            <a:r>
              <a:rPr lang="sk-SK" sz="1600" dirty="0">
                <a:latin typeface="Gotham Black"/>
              </a:rPr>
              <a:t> on: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>
                <a:latin typeface="Gotham Black"/>
              </a:rPr>
              <a:t>✔ </a:t>
            </a:r>
            <a:r>
              <a:rPr lang="sk-SK" sz="1600" dirty="0" err="1">
                <a:latin typeface="Gotham Black"/>
              </a:rPr>
              <a:t>exclusive</a:t>
            </a:r>
            <a:r>
              <a:rPr lang="sk-SK" sz="1600" dirty="0">
                <a:latin typeface="Gotham Black"/>
              </a:rPr>
              <a:t> &amp; </a:t>
            </a:r>
            <a:r>
              <a:rPr lang="sk-SK" sz="1600" dirty="0" err="1">
                <a:latin typeface="Gotham Black"/>
              </a:rPr>
              <a:t>original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content</a:t>
            </a:r>
            <a:br>
              <a:rPr lang="sk-SK" sz="1600" dirty="0">
                <a:latin typeface="Gotham Black"/>
              </a:rPr>
            </a:br>
            <a:r>
              <a:rPr lang="sk-SK" sz="1600" dirty="0">
                <a:latin typeface="Gotham Black"/>
              </a:rPr>
              <a:t>✔ </a:t>
            </a:r>
            <a:r>
              <a:rPr lang="sk-SK" sz="1600" dirty="0" err="1">
                <a:latin typeface="Gotham Black"/>
              </a:rPr>
              <a:t>local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relevance</a:t>
            </a:r>
            <a:r>
              <a:rPr lang="sk-SK" sz="1600" dirty="0">
                <a:latin typeface="Gotham Black"/>
              </a:rPr>
              <a:t> &amp; </a:t>
            </a:r>
            <a:r>
              <a:rPr lang="sk-SK" sz="1600" dirty="0" err="1">
                <a:latin typeface="Gotham Black"/>
              </a:rPr>
              <a:t>premium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stories</a:t>
            </a:r>
            <a:endParaRPr lang="sk-SK" sz="16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>
                <a:latin typeface="Gotham Black"/>
              </a:rPr>
              <a:t>NOT </a:t>
            </a:r>
            <a:r>
              <a:rPr lang="sk-SK" sz="1600" dirty="0" err="1">
                <a:latin typeface="Gotham Black"/>
              </a:rPr>
              <a:t>only</a:t>
            </a:r>
            <a:r>
              <a:rPr lang="sk-SK" sz="1600" dirty="0">
                <a:latin typeface="Gotham Black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>
                <a:latin typeface="Gotham Black"/>
              </a:rPr>
              <a:t>✖ </a:t>
            </a:r>
            <a:r>
              <a:rPr lang="sk-SK" sz="1600" dirty="0" err="1">
                <a:latin typeface="Gotham Black"/>
              </a:rPr>
              <a:t>price</a:t>
            </a:r>
            <a:br>
              <a:rPr lang="sk-SK" sz="1600" dirty="0">
                <a:latin typeface="Gotham Black"/>
              </a:rPr>
            </a:br>
            <a:r>
              <a:rPr lang="sk-SK" sz="1600" dirty="0">
                <a:latin typeface="Gotham Black"/>
              </a:rPr>
              <a:t>✖ </a:t>
            </a:r>
            <a:r>
              <a:rPr lang="sk-SK" sz="1600" dirty="0" err="1">
                <a:latin typeface="Gotham Black"/>
              </a:rPr>
              <a:t>technical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specification</a:t>
            </a:r>
            <a:endParaRPr lang="sk-SK" sz="1600" dirty="0">
              <a:latin typeface="Gotham Black"/>
            </a:endParaRPr>
          </a:p>
          <a:p>
            <a:endParaRPr lang="sk-SK" sz="1600" b="1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5C371CD-A850-A8B9-4D96-F272965A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33365D-74EE-A8B0-B2D8-88BC31841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05" y="2924178"/>
            <a:ext cx="1692642" cy="169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6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52DB2E-FE2D-121A-9426-923076BC0EB0}"/>
              </a:ext>
            </a:extLst>
          </p:cNvPr>
          <p:cNvSpPr/>
          <p:nvPr/>
        </p:nvSpPr>
        <p:spPr>
          <a:xfrm rot="5400000">
            <a:off x="7715250" y="2676526"/>
            <a:ext cx="2324098" cy="5181599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C2C880-91DE-754D-CBD9-F62752CB0D9A}"/>
              </a:ext>
            </a:extLst>
          </p:cNvPr>
          <p:cNvSpPr/>
          <p:nvPr/>
        </p:nvSpPr>
        <p:spPr>
          <a:xfrm rot="5400000">
            <a:off x="7485500" y="582188"/>
            <a:ext cx="2228842" cy="462684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97829C9-1DE2-C160-BE06-9566F539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2771"/>
            <a:ext cx="11277600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Pricing</a:t>
            </a:r>
            <a:r>
              <a:rPr lang="sk-SK" dirty="0">
                <a:latin typeface="Gotham Black"/>
              </a:rPr>
              <a:t> &amp; </a:t>
            </a:r>
            <a:r>
              <a:rPr lang="sk-SK" dirty="0" err="1">
                <a:latin typeface="Gotham Black"/>
              </a:rPr>
              <a:t>Value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Communication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BC6FBF-C2F8-10A5-FB3C-BAFB4C1C0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35" y="1893891"/>
            <a:ext cx="562956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rgbClr val="DB9E0A"/>
                </a:solidFill>
                <a:latin typeface="Gotham Black"/>
              </a:rPr>
              <a:t>VOYO must never be presented as free.</a:t>
            </a:r>
            <a:endParaRPr lang="sk-SK" sz="2400" dirty="0">
              <a:solidFill>
                <a:srgbClr val="DB9E0A"/>
              </a:solidFill>
              <a:latin typeface="Gotham Black"/>
            </a:endParaRPr>
          </a:p>
          <a:p>
            <a:pPr marL="0" indent="0">
              <a:lnSpc>
                <a:spcPct val="70000"/>
              </a:lnSpc>
              <a:buNone/>
            </a:pPr>
            <a:endParaRPr lang="sk-SK" sz="2400" dirty="0">
              <a:solidFill>
                <a:srgbClr val="DB9E0A"/>
              </a:solidFill>
              <a:latin typeface="Gotham Black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VOYO is always communicated as: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part of a bundle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an included benefit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a premium extra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a partner-added value</a:t>
            </a:r>
          </a:p>
          <a:p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80A7330-B763-4808-28A0-4E523FF1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2C259658-3A16-5238-0914-C44982E1EDA9}"/>
              </a:ext>
            </a:extLst>
          </p:cNvPr>
          <p:cNvSpPr txBox="1"/>
          <p:nvPr/>
        </p:nvSpPr>
        <p:spPr>
          <a:xfrm>
            <a:off x="6567632" y="1857746"/>
            <a:ext cx="4490893" cy="4391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Correct examples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• “Included in your plan”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• “Available with your package”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• “Enjoy VOYO with your subscription”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• “A premium benefit from [Partner]”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Avoid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✖ “VOYO for free”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✖ “Free VOYO”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✖ “Get VOYO at no cost”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✖ price-led messaging that devalues the service</a:t>
            </a:r>
          </a:p>
        </p:txBody>
      </p:sp>
    </p:spTree>
    <p:extLst>
      <p:ext uri="{BB962C8B-B14F-4D97-AF65-F5344CB8AC3E}">
        <p14:creationId xmlns:p14="http://schemas.microsoft.com/office/powerpoint/2010/main" val="750614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BD22186-D35A-FF95-8B19-C0F2F9D98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Gotham Black"/>
              </a:rPr>
              <a:t>Make </a:t>
            </a:r>
            <a:r>
              <a:rPr lang="en-US" sz="2400" dirty="0" err="1">
                <a:latin typeface="Gotham Black"/>
              </a:rPr>
              <a:t>VOYO</a:t>
            </a:r>
            <a:r>
              <a:rPr lang="en-US" sz="2400" dirty="0">
                <a:latin typeface="Gotham Black"/>
              </a:rPr>
              <a:t> visible and valuable</a:t>
            </a:r>
            <a:endParaRPr lang="sk-SK" sz="2400" dirty="0">
              <a:latin typeface="Gotham Black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88EA04-90F5-305E-C076-318057BF66BE}"/>
              </a:ext>
            </a:extLst>
          </p:cNvPr>
          <p:cNvSpPr/>
          <p:nvPr/>
        </p:nvSpPr>
        <p:spPr>
          <a:xfrm rot="5400000">
            <a:off x="7603262" y="1008983"/>
            <a:ext cx="2228842" cy="52722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0B62D8-0ACB-9F3C-238B-BF48CEB668DD}"/>
              </a:ext>
            </a:extLst>
          </p:cNvPr>
          <p:cNvSpPr/>
          <p:nvPr/>
        </p:nvSpPr>
        <p:spPr>
          <a:xfrm rot="5400000">
            <a:off x="2030849" y="999073"/>
            <a:ext cx="2228842" cy="5272234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02911FC-74F9-C308-531E-2EDC3AC3D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606439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How to </a:t>
            </a:r>
            <a:r>
              <a:rPr lang="en-US" b="1" dirty="0">
                <a:latin typeface="Gotham Black"/>
              </a:rPr>
              <a:t>present</a:t>
            </a:r>
            <a:r>
              <a:rPr lang="en-US" dirty="0">
                <a:latin typeface="Gotham Black"/>
              </a:rPr>
              <a:t>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in Bundles</a:t>
            </a:r>
            <a:endParaRPr lang="sk-SK" dirty="0">
              <a:latin typeface="Gotham Black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852058A7-AC90-DA76-DF55-0E2B768AB78B}"/>
              </a:ext>
            </a:extLst>
          </p:cNvPr>
          <p:cNvSpPr txBox="1"/>
          <p:nvPr/>
        </p:nvSpPr>
        <p:spPr>
          <a:xfrm>
            <a:off x="471053" y="2649337"/>
            <a:ext cx="5437537" cy="1736646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POSITIONING IN THE OFFER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Present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as a core entertainment benefit, not a hidden add-on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Include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clearly in bundle descriptions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Avoid placing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only in footnotes or technical details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E62CF7D5-EB13-65AA-7623-E64A40CF37AE}"/>
              </a:ext>
            </a:extLst>
          </p:cNvPr>
          <p:cNvSpPr txBox="1"/>
          <p:nvPr/>
        </p:nvSpPr>
        <p:spPr>
          <a:xfrm>
            <a:off x="6301884" y="2663333"/>
            <a:ext cx="5446770" cy="200906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VALUE FRAMING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Lead with original and exclusive content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Highlight strong local stories and premium titles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Focus on storytelling and experience, not price or technical features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F11341E6-BD62-03F6-E1F7-301B29B7D75D}"/>
              </a:ext>
            </a:extLst>
          </p:cNvPr>
          <p:cNvSpPr txBox="1"/>
          <p:nvPr/>
        </p:nvSpPr>
        <p:spPr>
          <a:xfrm>
            <a:off x="452582" y="4938908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CLEAR MESSAGING EXAMPLES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✓ “Includes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– premium local stories and </a:t>
            </a:r>
            <a:r>
              <a:rPr kumimoji="0" lang="sk-SK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riginals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”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✓ “Watch exclusive series and </a:t>
            </a:r>
            <a:r>
              <a:rPr kumimoji="0" lang="sk-SK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riginals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on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”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✕ “Free streaming app included”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✕ “Bonus access”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8243CAF5-A7E2-4DA5-C636-F8912738216A}"/>
              </a:ext>
            </a:extLst>
          </p:cNvPr>
          <p:cNvSpPr txBox="1"/>
          <p:nvPr/>
        </p:nvSpPr>
        <p:spPr>
          <a:xfrm>
            <a:off x="6283413" y="4952904"/>
            <a:ext cx="5181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GUARDRAIL 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Content communicated in B2B partnerships must reflect rights available within the B2B model.</a:t>
            </a:r>
          </a:p>
        </p:txBody>
      </p:sp>
      <p:sp>
        <p:nvSpPr>
          <p:cNvPr id="11" name="Zástupný objekt pre číslo snímky 10">
            <a:extLst>
              <a:ext uri="{FF2B5EF4-FFF2-40B4-BE49-F238E27FC236}">
                <a16:creationId xmlns:a16="http://schemas.microsoft.com/office/drawing/2014/main" id="{D8ADE1C8-9A67-6CB7-4844-929FF73D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920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E8E4-1CD8-28BA-7AE0-DF41F347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39F25E-9A3D-4C11-EFEA-1817B6D7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606439"/>
            <a:ext cx="9901382" cy="656164"/>
          </a:xfrm>
        </p:spPr>
        <p:txBody>
          <a:bodyPr>
            <a:noAutofit/>
          </a:bodyPr>
          <a:lstStyle/>
          <a:p>
            <a:pPr>
              <a:lnSpc>
                <a:spcPts val="6700"/>
              </a:lnSpc>
            </a:pPr>
            <a:r>
              <a:rPr lang="en-US" dirty="0">
                <a:latin typeface="Gotham Black"/>
                <a:ea typeface="Raleway" pitchFamily="34" charset="-122"/>
                <a:cs typeface="Raleway" pitchFamily="34" charset="-120"/>
              </a:rPr>
              <a:t>Final Partner Rule</a:t>
            </a:r>
            <a:endParaRPr lang="en-US" dirty="0">
              <a:latin typeface="Gotham Black"/>
            </a:endParaRPr>
          </a:p>
        </p:txBody>
      </p:sp>
      <p:sp>
        <p:nvSpPr>
          <p:cNvPr id="11" name="Zástupný objekt pre číslo snímky 10">
            <a:extLst>
              <a:ext uri="{FF2B5EF4-FFF2-40B4-BE49-F238E27FC236}">
                <a16:creationId xmlns:a16="http://schemas.microsoft.com/office/drawing/2014/main" id="{1207EC15-6DFE-7032-276E-3314A78E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541388DA-6D60-85A8-B19A-F8E12EE2CA76}"/>
              </a:ext>
            </a:extLst>
          </p:cNvPr>
          <p:cNvSpPr/>
          <p:nvPr/>
        </p:nvSpPr>
        <p:spPr>
          <a:xfrm>
            <a:off x="748071" y="3056926"/>
            <a:ext cx="9615128" cy="21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If you are unsure – stop and ask.</a:t>
            </a:r>
            <a:endParaRPr kumimoji="0" lang="cs-CZ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itchFamily="34" charset="-122"/>
              <a:cs typeface="Roboto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If it is not approved – it does not go live.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8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10C7-74B5-85E2-B169-30FDE377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2F91F7A-9EF1-728C-5723-0728A0AED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6.3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E7BF579E-B4EB-ECC8-4B4B-F11710589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64070"/>
            <a:ext cx="11068493" cy="1979405"/>
          </a:xfrm>
        </p:spPr>
        <p:txBody>
          <a:bodyPr anchor="ctr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Brand Safety </a:t>
            </a:r>
            <a:r>
              <a:rPr lang="en-US" sz="6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&amp; </a:t>
            </a:r>
            <a:endParaRPr lang="cs-CZ" sz="6000" dirty="0">
              <a:solidFill>
                <a:srgbClr val="FFFFFF"/>
              </a:solidFill>
              <a:latin typeface="Gotham Black"/>
              <a:ea typeface="Gotham Light" pitchFamily="34" charset="-122"/>
              <a:cs typeface="Gotham Light" pitchFamily="34" charset="-120"/>
            </a:endParaRPr>
          </a:p>
          <a:p>
            <a:r>
              <a:rPr lang="en-US" sz="6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Editorial Responsibility</a:t>
            </a:r>
            <a:endParaRPr lang="en-US" sz="60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BF79B7C3-D56C-D86E-AAB2-12F5A928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848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CC0F1-73D6-4702-4517-9A8D586F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09" y="613543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Our </a:t>
            </a:r>
            <a:r>
              <a:rPr lang="en-US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responsibility</a:t>
            </a:r>
            <a:endParaRPr lang="sk-SK" b="1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4012D4E-07EE-EAC4-DA30-5ADE5E50A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3850" y="1825625"/>
            <a:ext cx="7605567" cy="346074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VOYO is a curated local streaming environment — not open-content.</a:t>
            </a:r>
            <a:endParaRPr lang="en-US" sz="2400" dirty="0">
              <a:latin typeface="Gotham Black"/>
            </a:endParaRPr>
          </a:p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Every title published under VOYO reflects editorial standards, cultural awareness and commercial responsibility.</a:t>
            </a:r>
            <a:endParaRPr lang="en-US" sz="2400" dirty="0">
              <a:latin typeface="Gotham Black"/>
            </a:endParaRPr>
          </a:p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400" b="1" dirty="0">
                <a:latin typeface="Gotham Black"/>
              </a:rPr>
              <a:t>Brand safety </a:t>
            </a:r>
            <a:r>
              <a:rPr lang="sk-SK" sz="2400" b="1" dirty="0">
                <a:latin typeface="Gotham Black"/>
              </a:rPr>
              <a:t>is not censorship.</a:t>
            </a:r>
            <a:endParaRPr lang="en-US" sz="2400" b="1" dirty="0">
              <a:latin typeface="Gotham Black"/>
            </a:endParaRPr>
          </a:p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sk-SK" sz="2400" dirty="0">
                <a:latin typeface="Gotham Black"/>
              </a:rPr>
              <a:t>It </a:t>
            </a:r>
            <a:r>
              <a:rPr lang="en-US" sz="2400" dirty="0">
                <a:latin typeface="Gotham Black"/>
              </a:rPr>
              <a:t>protects trust, cultural relevance and long-term viewer relationships.</a:t>
            </a:r>
            <a:endParaRPr lang="sk-SK" sz="24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8CC0D87-C9C9-08A1-F53F-C3881A97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E434980B-A203-F207-7A95-E83676F6BAEE}"/>
              </a:ext>
            </a:extLst>
          </p:cNvPr>
          <p:cNvSpPr txBox="1"/>
          <p:nvPr/>
        </p:nvSpPr>
        <p:spPr>
          <a:xfrm>
            <a:off x="1471468" y="5544760"/>
            <a:ext cx="9026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SIMPLE CHECK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Would we be comfortable putting the VOYO logo next to this </a:t>
            </a: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today and in 3 yea</a:t>
            </a: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r?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7" name="Picture 6" descr="Attention PNG transparent image download, size: 2400x2400px">
            <a:extLst>
              <a:ext uri="{FF2B5EF4-FFF2-40B4-BE49-F238E27FC236}">
                <a16:creationId xmlns:a16="http://schemas.microsoft.com/office/drawing/2014/main" id="{A188E420-77C1-6128-21E2-416231768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02885A-792D-21CD-9BBB-39895331E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994" y="2498855"/>
            <a:ext cx="1858831" cy="202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54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3B9368-4BBD-D2F1-64BA-7D9FBBA3A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9075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Guiding</a:t>
            </a:r>
            <a:r>
              <a:rPr lang="en-US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 principles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D19EF4-A665-5950-8FE4-897E28FA9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2002060"/>
            <a:ext cx="11277600" cy="3378930"/>
          </a:xfrm>
        </p:spPr>
        <p:txBody>
          <a:bodyPr>
            <a:normAutofit/>
          </a:bodyPr>
          <a:lstStyle/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Curated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, not chaotic — review and classify before publish</a:t>
            </a:r>
            <a:endParaRPr lang="en-US" sz="2400" dirty="0">
              <a:latin typeface="Gotham Black"/>
              <a:ea typeface="Gotham Light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Context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 over sensationalism — avoid exploiting trauma or controversy</a:t>
            </a:r>
            <a:endParaRPr lang="en-US" sz="2400" dirty="0">
              <a:latin typeface="Gotham Black"/>
              <a:ea typeface="Gotham Light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Audience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 trust first — trust beats virality</a:t>
            </a:r>
            <a:endParaRPr lang="en-US" sz="2400" dirty="0">
              <a:latin typeface="Gotham Black"/>
              <a:ea typeface="Gotham Light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Commercial </a:t>
            </a: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responsibility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 — protect advertisers and partners</a:t>
            </a:r>
            <a:endParaRPr lang="en-US" sz="2400" dirty="0">
              <a:latin typeface="Gotham Black"/>
              <a:ea typeface="Gotham Light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Cultural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 awareness — respect local context, regulation and sensitivities</a:t>
            </a:r>
            <a:endParaRPr lang="en-US" sz="2400" dirty="0">
              <a:latin typeface="Gotham Black"/>
              <a:ea typeface="Gotham Light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0AF26B6-0BFE-4696-9253-666829F2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A309B704-15DE-86D3-8F15-AF8683BF504C}"/>
              </a:ext>
            </a:extLst>
          </p:cNvPr>
          <p:cNvSpPr txBox="1"/>
          <p:nvPr/>
        </p:nvSpPr>
        <p:spPr>
          <a:xfrm>
            <a:off x="1429066" y="5654457"/>
            <a:ext cx="8043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KEY RULE: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Long-term trust outweighs short-term performance spikes.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6" name="Picture 5" descr="Attention PNG transparent image download, size: 2400x2400px">
            <a:extLst>
              <a:ext uri="{FF2B5EF4-FFF2-40B4-BE49-F238E27FC236}">
                <a16:creationId xmlns:a16="http://schemas.microsoft.com/office/drawing/2014/main" id="{5880BA9B-481F-2418-2D0F-694D69839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606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DD1A7A-CB94-1AC2-F3FD-DB7830AF2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704656"/>
            <a:ext cx="11130107" cy="566642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Content </a:t>
            </a:r>
            <a:r>
              <a:rPr lang="en-US" sz="4000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classification</a:t>
            </a:r>
            <a:r>
              <a:rPr lang="en-US" sz="4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 &amp; audience protection</a:t>
            </a:r>
            <a:endParaRPr lang="sk-SK" sz="40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3334655-6EF8-53A2-6485-50A86F15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49C46D7-C97D-3677-8AC7-DE860C2B4EFA}"/>
              </a:ext>
            </a:extLst>
          </p:cNvPr>
          <p:cNvSpPr/>
          <p:nvPr/>
        </p:nvSpPr>
        <p:spPr>
          <a:xfrm>
            <a:off x="454481" y="2508700"/>
            <a:ext cx="3510639" cy="2146427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Gotham Light"/>
                <a:cs typeface="Gotham Light" pitchFamily="34" charset="-120"/>
              </a:rPr>
              <a:t>AGE RATINGS &amp; LABELS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Gotham Black"/>
              <a:ea typeface="Gotham Light"/>
              <a:cs typeface="Gotham Book" pitchFamily="34" charset="-120"/>
            </a:endParaRPr>
          </a:p>
          <a:p>
            <a:pPr marL="213360" marR="0" lvl="0" indent="-21336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Light"/>
                <a:cs typeface="Gotham Book" pitchFamily="34" charset="-120"/>
              </a:rPr>
              <a:t>Visible on the title page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  <a:p>
            <a:pPr marL="213360" marR="0" lvl="0" indent="-21336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Light"/>
                <a:cs typeface="Gotham Book" pitchFamily="34" charset="-120"/>
              </a:rPr>
              <a:t>Pre-play warnings when needed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  <a:p>
            <a:pPr marL="213360" marR="0" lvl="0" indent="-21336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Light"/>
                <a:cs typeface="Gotham Book" pitchFamily="34" charset="-120"/>
              </a:rPr>
              <a:t>Consistent metadata for discovery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779C860-E97F-8AFE-34BD-9BA3007CC66E}"/>
              </a:ext>
            </a:extLst>
          </p:cNvPr>
          <p:cNvSpPr/>
          <p:nvPr/>
        </p:nvSpPr>
        <p:spPr>
          <a:xfrm>
            <a:off x="4340681" y="2508700"/>
            <a:ext cx="3510638" cy="2146427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PARENTAL CONTROLS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Gotham Light"/>
                <a:cs typeface="+mn-cs"/>
              </a:rPr>
              <a:t>Profile restrictions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Gotham Light"/>
                <a:cs typeface="+mn-cs"/>
              </a:rPr>
              <a:t>PIN for adult access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Gotham Light"/>
                <a:cs typeface="+mn-cs"/>
              </a:rPr>
              <a:t>Kids profiles: strict default</a:t>
            </a: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Gotham Light"/>
                <a:cs typeface="+mn-cs"/>
              </a:rPr>
              <a:t>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262F5562-F9C2-4EAC-D49B-7480ABDA3F1B}"/>
              </a:ext>
            </a:extLst>
          </p:cNvPr>
          <p:cNvSpPr/>
          <p:nvPr/>
        </p:nvSpPr>
        <p:spPr>
          <a:xfrm>
            <a:off x="8226881" y="2508700"/>
            <a:ext cx="3510638" cy="2146427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KIDS ENVIRONMENT</a:t>
            </a: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No mature recommendations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No sensitive thumbnails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Commercial protection non-negotiable</a:t>
            </a:r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5EAD8185-F69F-61FF-375C-AE4CD19A1685}"/>
              </a:ext>
            </a:extLst>
          </p:cNvPr>
          <p:cNvSpPr/>
          <p:nvPr/>
        </p:nvSpPr>
        <p:spPr>
          <a:xfrm>
            <a:off x="1411909" y="5696144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PRINCIPLE TIE-IN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Trust &amp; Fair Value: clear labels, honest expectations, no tricks.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6" name="Picture 5" descr="Attention PNG transparent image download, size: 2400x2400px">
            <a:extLst>
              <a:ext uri="{FF2B5EF4-FFF2-40B4-BE49-F238E27FC236}">
                <a16:creationId xmlns:a16="http://schemas.microsoft.com/office/drawing/2014/main" id="{649DD960-64AC-8D21-59B4-942217C79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379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E71061-2559-9FB2-11C2-0DF5082C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22" y="606523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Sensitive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themes</a:t>
            </a:r>
            <a:r>
              <a:rPr lang="sk-SK" dirty="0">
                <a:latin typeface="Gotham Black"/>
              </a:rPr>
              <a:t> &amp; </a:t>
            </a:r>
            <a:r>
              <a:rPr lang="sk-SK" dirty="0" err="1">
                <a:latin typeface="Gotham Black"/>
              </a:rPr>
              <a:t>enhanced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review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00F1602-798D-231C-15E8-1206214D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sk-SK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215AE30F-4686-0783-5F38-30E00AA5571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11187" y="1825625"/>
            <a:ext cx="5484813" cy="349408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b="1" dirty="0">
                <a:solidFill>
                  <a:srgbClr val="F7CD50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Sensitive themes (examples)</a:t>
            </a:r>
            <a:endParaRPr lang="en-US" b="1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endParaRPr lang="sk-SK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Self-harm and suicide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Domestic violence and abuse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Sexual assault and exploitation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Graphic violence or gore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Hate speech, extremism, </a:t>
            </a:r>
            <a:r>
              <a:rPr lang="en-US" dirty="0" err="1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radicalisation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Real-life tragedy </a:t>
            </a:r>
            <a:r>
              <a:rPr lang="en-US" dirty="0" err="1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dramatisation</a:t>
            </a: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 and war</a:t>
            </a:r>
            <a:endParaRPr lang="sk-SK" dirty="0">
              <a:latin typeface="Gotham Black"/>
            </a:endParaRP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04428277-BF82-3693-E2C9-9EBD6880E17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833755" y="1822450"/>
            <a:ext cx="4329113" cy="3758739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000" b="1" dirty="0">
                <a:solidFill>
                  <a:srgbClr val="F7CD50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Enhanced review includes</a:t>
            </a:r>
            <a:endParaRPr lang="en-US" sz="2000" b="1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endParaRPr lang="sk-SK" sz="2000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Editorial sign-off</a:t>
            </a:r>
            <a:endParaRPr lang="en-US" sz="20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Legal assessment</a:t>
            </a:r>
            <a:endParaRPr lang="en-US" sz="20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PR risk review</a:t>
            </a:r>
            <a:endParaRPr lang="en-US" sz="20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Marketing asset screening (trailers, thumbs, copy)</a:t>
            </a:r>
            <a:endParaRPr lang="sk-SK" sz="2000" dirty="0">
              <a:latin typeface="Gotham Black"/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2946DB77-306E-C517-CC27-963E97D2E369}"/>
              </a:ext>
            </a:extLst>
          </p:cNvPr>
          <p:cNvSpPr txBox="1"/>
          <p:nvPr/>
        </p:nvSpPr>
        <p:spPr>
          <a:xfrm>
            <a:off x="1480134" y="5584364"/>
            <a:ext cx="8711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KEY RULE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Marketing must never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sensationalise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 trauma or misrepresent tone.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D1C9FA53-B0E7-CF8B-7752-A8C48819E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330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385FBF-AAE3-F7FD-35AF-9722BFB13A05}"/>
              </a:ext>
            </a:extLst>
          </p:cNvPr>
          <p:cNvSpPr/>
          <p:nvPr/>
        </p:nvSpPr>
        <p:spPr>
          <a:xfrm>
            <a:off x="5707678" y="2066926"/>
            <a:ext cx="6022504" cy="2401165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9F77E-5C2C-7559-FC9E-CA7E9559C0BE}"/>
              </a:ext>
            </a:extLst>
          </p:cNvPr>
          <p:cNvSpPr/>
          <p:nvPr/>
        </p:nvSpPr>
        <p:spPr>
          <a:xfrm>
            <a:off x="461818" y="1854339"/>
            <a:ext cx="4976957" cy="261375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7C2DA8E-D380-6D9E-F26D-69D1A718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90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Editorial </a:t>
            </a:r>
            <a:r>
              <a:rPr lang="sk-SK" b="1" dirty="0">
                <a:latin typeface="Gotham Black"/>
              </a:rPr>
              <a:t>I</a:t>
            </a:r>
            <a:r>
              <a:rPr lang="en-US" b="1" dirty="0" err="1">
                <a:latin typeface="Gotham Black"/>
              </a:rPr>
              <a:t>ntegrity</a:t>
            </a:r>
            <a:r>
              <a:rPr lang="en-US" b="1" dirty="0">
                <a:latin typeface="Gotham Black"/>
              </a:rPr>
              <a:t> </a:t>
            </a:r>
            <a:r>
              <a:rPr lang="en-US" dirty="0">
                <a:latin typeface="Gotham Black"/>
              </a:rPr>
              <a:t>in </a:t>
            </a:r>
            <a:r>
              <a:rPr lang="sk-SK" dirty="0">
                <a:latin typeface="Gotham Black"/>
              </a:rPr>
              <a:t>M</a:t>
            </a:r>
            <a:r>
              <a:rPr lang="en-US" dirty="0" err="1">
                <a:latin typeface="Gotham Black"/>
              </a:rPr>
              <a:t>arketing</a:t>
            </a:r>
            <a:r>
              <a:rPr lang="en-US" dirty="0">
                <a:latin typeface="Gotham Black"/>
              </a:rPr>
              <a:t> </a:t>
            </a:r>
            <a:r>
              <a:rPr lang="sk-SK" dirty="0">
                <a:latin typeface="Gotham Black"/>
              </a:rPr>
              <a:t>A</a:t>
            </a:r>
            <a:r>
              <a:rPr lang="en-US" dirty="0" err="1">
                <a:latin typeface="Gotham Black"/>
              </a:rPr>
              <a:t>ssets</a:t>
            </a:r>
            <a:endParaRPr lang="sk-SK" dirty="0">
              <a:latin typeface="Gotham Black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456F2502-BB84-24D0-08DE-47E866B1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5EA6DFE-AF05-EC66-BEA9-D2D66C3D50E1}"/>
              </a:ext>
            </a:extLst>
          </p:cNvPr>
          <p:cNvSpPr/>
          <p:nvPr/>
        </p:nvSpPr>
        <p:spPr>
          <a:xfrm>
            <a:off x="461818" y="2149634"/>
            <a:ext cx="4678528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DO</a:t>
            </a: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Match the real tone, genre and intensity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Use clear warnings where needed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Respect sensitive themes in copy and visuals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Protect talent — avoid hate-bait framing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A1C2C00C-D73E-0F9F-813C-352E94CB485A}"/>
              </a:ext>
            </a:extLst>
          </p:cNvPr>
          <p:cNvSpPr txBox="1"/>
          <p:nvPr/>
        </p:nvSpPr>
        <p:spPr>
          <a:xfrm>
            <a:off x="5928852" y="2149634"/>
            <a:ext cx="6096000" cy="193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DON'T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Clickbait thumbnails and misleading trailers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Out-of-context edits designed to provoke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Artificial controversy or “manufactured outrage”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Misrepresenting “true story” claims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A809D0C8-DE21-73AF-39DE-1F9B9E147964}"/>
              </a:ext>
            </a:extLst>
          </p:cNvPr>
          <p:cNvSpPr txBox="1"/>
          <p:nvPr/>
        </p:nvSpPr>
        <p:spPr>
          <a:xfrm>
            <a:off x="1451742" y="5453691"/>
            <a:ext cx="10009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REALITY FORMATS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Extra care: promotion can drive disproportionate online harassment toward participants.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4" name="Picture 3" descr="Attention PNG transparent image download, size: 2400x2400px">
            <a:extLst>
              <a:ext uri="{FF2B5EF4-FFF2-40B4-BE49-F238E27FC236}">
                <a16:creationId xmlns:a16="http://schemas.microsoft.com/office/drawing/2014/main" id="{4DFC3346-710E-9AAD-5135-FEDC44553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317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B07401-3055-3143-22B3-07F3753C5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93516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Advertising</a:t>
            </a:r>
            <a:r>
              <a:rPr lang="sk-SK" dirty="0">
                <a:latin typeface="Gotham Black"/>
              </a:rPr>
              <a:t> &amp; Commercial </a:t>
            </a:r>
            <a:r>
              <a:rPr lang="sk-SK" dirty="0" err="1">
                <a:latin typeface="Gotham Black"/>
              </a:rPr>
              <a:t>Suitability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D56BB0-A844-CC8F-3701-300AC13C3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997710"/>
            <a:ext cx="11277600" cy="12604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Ad placements must respect contextual sensitivity and audience expectations.</a:t>
            </a:r>
            <a:endParaRPr lang="en-US" sz="2000" dirty="0">
              <a:latin typeface="Gotham Black"/>
            </a:endParaRPr>
          </a:p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Advertisers can opt out of higher-sensitivity environments (Amber/Red).</a:t>
            </a:r>
            <a:endParaRPr lang="en-US" sz="2000" dirty="0">
              <a:latin typeface="Gotham Black"/>
            </a:endParaRPr>
          </a:p>
          <a:p>
            <a:pPr marL="0" indent="0">
              <a:buNone/>
            </a:pPr>
            <a:endParaRPr lang="sk-SK" sz="20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F421283-ADB8-68E7-1D0D-4A451235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05421E5A-FEAC-EDD6-B4CB-1183B152D91D}"/>
              </a:ext>
            </a:extLst>
          </p:cNvPr>
          <p:cNvSpPr/>
          <p:nvPr/>
        </p:nvSpPr>
        <p:spPr>
          <a:xfrm>
            <a:off x="461818" y="3333214"/>
            <a:ext cx="10637215" cy="2011680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7CD50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Prohibited adjacencies (examples)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Alcohol next to Kids content or Kids profiles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Betting near minors-focused programming or under-18 environments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Political ads next to politically sensitive documentaries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Direct OTT competitors inside the VOYO ecosystem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FEE38D7D-377F-D21A-FEF2-D6CBE7FBF348}"/>
              </a:ext>
            </a:extLst>
          </p:cNvPr>
          <p:cNvSpPr txBox="1"/>
          <p:nvPr/>
        </p:nvSpPr>
        <p:spPr>
          <a:xfrm>
            <a:off x="1385743" y="5621328"/>
            <a:ext cx="8490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KEY RULE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When in doubt: choose the safer adjacency — or escalate for review.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cxnSp>
        <p:nvCxnSpPr>
          <p:cNvPr id="6" name="Rovná spojnica 6">
            <a:extLst>
              <a:ext uri="{FF2B5EF4-FFF2-40B4-BE49-F238E27FC236}">
                <a16:creationId xmlns:a16="http://schemas.microsoft.com/office/drawing/2014/main" id="{E4C8DAF5-3B89-5A26-F852-76664612BFD3}"/>
              </a:ext>
            </a:extLst>
          </p:cNvPr>
          <p:cNvCxnSpPr>
            <a:cxnSpLocks/>
          </p:cNvCxnSpPr>
          <p:nvPr/>
        </p:nvCxnSpPr>
        <p:spPr>
          <a:xfrm>
            <a:off x="442767" y="149606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ttention PNG transparent image download, size: 2400x2400px">
            <a:extLst>
              <a:ext uri="{FF2B5EF4-FFF2-40B4-BE49-F238E27FC236}">
                <a16:creationId xmlns:a16="http://schemas.microsoft.com/office/drawing/2014/main" id="{A4AE10A6-F3FE-4E80-326E-C466A7E47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471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F7C810-5BA6-DC9E-EFB9-8D8443FA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09" y="611892"/>
            <a:ext cx="9901382" cy="656164"/>
          </a:xfrm>
        </p:spPr>
        <p:txBody>
          <a:bodyPr>
            <a:noAutofit/>
          </a:bodyPr>
          <a:lstStyle/>
          <a:p>
            <a:r>
              <a:rPr lang="sk-SK" sz="4000" dirty="0" err="1">
                <a:latin typeface="Gotham Black"/>
              </a:rPr>
              <a:t>Suitability</a:t>
            </a:r>
            <a:r>
              <a:rPr lang="sk-SK" sz="4000" dirty="0">
                <a:latin typeface="Gotham Black"/>
              </a:rPr>
              <a:t> </a:t>
            </a:r>
            <a:r>
              <a:rPr lang="sk-SK" sz="4000" b="1" dirty="0" err="1">
                <a:latin typeface="Gotham Black"/>
              </a:rPr>
              <a:t>zones</a:t>
            </a:r>
            <a:r>
              <a:rPr lang="sk-SK" sz="4000" dirty="0">
                <a:latin typeface="Gotham Black"/>
              </a:rPr>
              <a:t> (</a:t>
            </a:r>
            <a:r>
              <a:rPr lang="sk-SK" sz="4000" dirty="0" err="1">
                <a:latin typeface="Gotham Black"/>
              </a:rPr>
              <a:t>Green</a:t>
            </a:r>
            <a:r>
              <a:rPr lang="sk-SK" sz="4000" dirty="0">
                <a:latin typeface="Gotham Black"/>
              </a:rPr>
              <a:t> / </a:t>
            </a:r>
            <a:r>
              <a:rPr lang="sk-SK" sz="4000" dirty="0" err="1">
                <a:latin typeface="Gotham Black"/>
              </a:rPr>
              <a:t>Amber</a:t>
            </a:r>
            <a:r>
              <a:rPr lang="sk-SK" sz="4000" dirty="0">
                <a:latin typeface="Gotham Black"/>
              </a:rPr>
              <a:t> / </a:t>
            </a:r>
            <a:r>
              <a:rPr lang="sk-SK" sz="4000" dirty="0" err="1">
                <a:latin typeface="Gotham Black"/>
              </a:rPr>
              <a:t>Red</a:t>
            </a:r>
            <a:r>
              <a:rPr lang="sk-SK" sz="4000" dirty="0">
                <a:latin typeface="Gotham Black"/>
              </a:rPr>
              <a:t>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5F82504-07D0-8EB0-67FF-2DE95630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C600325-E7EA-9814-4D09-34B6586114F8}"/>
              </a:ext>
            </a:extLst>
          </p:cNvPr>
          <p:cNvSpPr/>
          <p:nvPr/>
        </p:nvSpPr>
        <p:spPr>
          <a:xfrm>
            <a:off x="777392" y="1978794"/>
            <a:ext cx="10637215" cy="1188720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17D8D1-453A-5D18-2229-4D979FED83B8}"/>
              </a:ext>
            </a:extLst>
          </p:cNvPr>
          <p:cNvSpPr/>
          <p:nvPr/>
        </p:nvSpPr>
        <p:spPr>
          <a:xfrm>
            <a:off x="1005992" y="216167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CD50"/>
                </a:solidFill>
                <a:effectLst/>
                <a:uLnTx/>
                <a:uFillTx/>
                <a:latin typeface="Gotham Black"/>
                <a:ea typeface="Gotham Light"/>
                <a:cs typeface="Gotham Book" pitchFamily="34" charset="-120"/>
              </a:rPr>
              <a:t>GREEN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47E07B-840C-40CE-D1FF-9F31EE430AB9}"/>
              </a:ext>
            </a:extLst>
          </p:cNvPr>
          <p:cNvSpPr/>
          <p:nvPr/>
        </p:nvSpPr>
        <p:spPr>
          <a:xfrm>
            <a:off x="2011832" y="2097666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Gotham Light"/>
                <a:cs typeface="Gotham Light" pitchFamily="34" charset="-120"/>
              </a:rPr>
              <a:t>Universally suitable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506747-C11C-DC1D-88DC-A15EFF14049B}"/>
              </a:ext>
            </a:extLst>
          </p:cNvPr>
          <p:cNvSpPr/>
          <p:nvPr/>
        </p:nvSpPr>
        <p:spPr>
          <a:xfrm>
            <a:off x="2011832" y="2481714"/>
            <a:ext cx="9174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Light"/>
                <a:cs typeface="Gotham Book" pitchFamily="34" charset="-120"/>
              </a:rPr>
              <a:t>Family, lifestyle, light entertainment. Standard placement and broad advertise suitability.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62580F1-20C9-4CE0-2317-DCF7D1A1232A}"/>
              </a:ext>
            </a:extLst>
          </p:cNvPr>
          <p:cNvSpPr/>
          <p:nvPr/>
        </p:nvSpPr>
        <p:spPr>
          <a:xfrm>
            <a:off x="777392" y="3441834"/>
            <a:ext cx="10637215" cy="1188720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F55E911-1A34-EAB8-DBDD-41E52988688F}"/>
              </a:ext>
            </a:extLst>
          </p:cNvPr>
          <p:cNvSpPr/>
          <p:nvPr/>
        </p:nvSpPr>
        <p:spPr>
          <a:xfrm>
            <a:off x="1005992" y="362471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CD50"/>
                </a:solidFill>
                <a:effectLst/>
                <a:uLnTx/>
                <a:uFillTx/>
                <a:latin typeface="Gotham Black"/>
                <a:ea typeface="Gotham Light"/>
                <a:cs typeface="Gotham Book" pitchFamily="34" charset="-120"/>
              </a:rPr>
              <a:t>AMBER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BB9D1D6-6DAD-24FD-28CC-2D20033C0FBA}"/>
              </a:ext>
            </a:extLst>
          </p:cNvPr>
          <p:cNvSpPr/>
          <p:nvPr/>
        </p:nvSpPr>
        <p:spPr>
          <a:xfrm>
            <a:off x="2011832" y="3560706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Gotham Light"/>
                <a:cs typeface="Gotham Light" pitchFamily="34" charset="-120"/>
              </a:rPr>
              <a:t>Contextual review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E76AF2A-2E45-9EE4-5A3B-DC7C00728CEB}"/>
              </a:ext>
            </a:extLst>
          </p:cNvPr>
          <p:cNvSpPr/>
          <p:nvPr/>
        </p:nvSpPr>
        <p:spPr>
          <a:xfrm>
            <a:off x="2011832" y="3944754"/>
            <a:ext cx="9174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Light"/>
                <a:cs typeface="Gotham Book" pitchFamily="34" charset="-120"/>
              </a:rPr>
              <a:t>Reality, competitive formats, contact sports. Review tone and adjacency before major campaigns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8E2EC90-3F56-B848-92EE-81AA296F076A}"/>
              </a:ext>
            </a:extLst>
          </p:cNvPr>
          <p:cNvSpPr/>
          <p:nvPr/>
        </p:nvSpPr>
        <p:spPr>
          <a:xfrm>
            <a:off x="777392" y="4901004"/>
            <a:ext cx="10637215" cy="1188720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2F37F0-911B-0C6C-16F8-E1E94965B363}"/>
              </a:ext>
            </a:extLst>
          </p:cNvPr>
          <p:cNvSpPr/>
          <p:nvPr/>
        </p:nvSpPr>
        <p:spPr>
          <a:xfrm>
            <a:off x="1120292" y="506483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CD50"/>
                </a:solidFill>
                <a:effectLst/>
                <a:uLnTx/>
                <a:uFillTx/>
                <a:latin typeface="Gotham Black"/>
                <a:ea typeface="Gotham Light"/>
                <a:cs typeface="Gotham Book" pitchFamily="34" charset="-120"/>
              </a:rPr>
              <a:t>RED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71DB60-969B-21D8-04FE-52E4F63A45DB}"/>
              </a:ext>
            </a:extLst>
          </p:cNvPr>
          <p:cNvSpPr/>
          <p:nvPr/>
        </p:nvSpPr>
        <p:spPr>
          <a:xfrm>
            <a:off x="2011832" y="5019876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/>
                <a:ea typeface="Gotham Light"/>
                <a:cs typeface="Gotham Light" pitchFamily="34" charset="-120"/>
              </a:rPr>
              <a:t>Restricted placement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8EAFF37-AACA-3930-5765-6DF15C71B23B}"/>
              </a:ext>
            </a:extLst>
          </p:cNvPr>
          <p:cNvSpPr/>
          <p:nvPr/>
        </p:nvSpPr>
        <p:spPr>
          <a:xfrm>
            <a:off x="2011832" y="5403924"/>
            <a:ext cx="9174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Light"/>
                <a:cs typeface="Gotham Book" pitchFamily="34" charset="-120"/>
              </a:rPr>
              <a:t>Crime, explicit drama, investigative, high-sensitivity themes. Restricted adjacency; enhanced review required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Gotham Light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1A9E42E-DFE2-AB28-10EC-C024E33A103D}"/>
              </a:ext>
            </a:extLst>
          </p:cNvPr>
          <p:cNvSpPr/>
          <p:nvPr/>
        </p:nvSpPr>
        <p:spPr>
          <a:xfrm>
            <a:off x="1053617" y="2472189"/>
            <a:ext cx="564032" cy="56403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ABD66E-479D-2A53-9167-03E9048021DC}"/>
              </a:ext>
            </a:extLst>
          </p:cNvPr>
          <p:cNvSpPr/>
          <p:nvPr/>
        </p:nvSpPr>
        <p:spPr>
          <a:xfrm>
            <a:off x="1053617" y="3935229"/>
            <a:ext cx="564032" cy="5640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983285-1E66-D6C2-921D-5FF2B2BE2C61}"/>
              </a:ext>
            </a:extLst>
          </p:cNvPr>
          <p:cNvSpPr/>
          <p:nvPr/>
        </p:nvSpPr>
        <p:spPr>
          <a:xfrm>
            <a:off x="1053617" y="5408147"/>
            <a:ext cx="564032" cy="56403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7364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155245-9892-69D4-7671-AC0BC984BB51}"/>
              </a:ext>
            </a:extLst>
          </p:cNvPr>
          <p:cNvSpPr/>
          <p:nvPr/>
        </p:nvSpPr>
        <p:spPr>
          <a:xfrm>
            <a:off x="461818" y="1854339"/>
            <a:ext cx="4976957" cy="3317734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017BDBC-0D21-6ED2-C8A6-A1530650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sz="4000" dirty="0" err="1">
                <a:latin typeface="Gotham Black"/>
              </a:rPr>
              <a:t>Social</a:t>
            </a:r>
            <a:r>
              <a:rPr lang="sk-SK" sz="4000" dirty="0">
                <a:latin typeface="Gotham Black"/>
              </a:rPr>
              <a:t> </a:t>
            </a:r>
            <a:r>
              <a:rPr lang="sk-SK" sz="4000" dirty="0" err="1">
                <a:latin typeface="Gotham Black"/>
              </a:rPr>
              <a:t>Media</a:t>
            </a:r>
            <a:r>
              <a:rPr lang="sk-SK" sz="4000" dirty="0">
                <a:latin typeface="Gotham Black"/>
              </a:rPr>
              <a:t> &amp; </a:t>
            </a:r>
            <a:r>
              <a:rPr lang="sk-SK" sz="4000" b="1" dirty="0" err="1">
                <a:latin typeface="Gotham Black"/>
              </a:rPr>
              <a:t>Community</a:t>
            </a:r>
            <a:r>
              <a:rPr lang="sk-SK" sz="4000" dirty="0">
                <a:latin typeface="Gotham Black"/>
              </a:rPr>
              <a:t> </a:t>
            </a:r>
            <a:r>
              <a:rPr lang="sk-SK" sz="4000" dirty="0" err="1">
                <a:latin typeface="Gotham Black"/>
              </a:rPr>
              <a:t>Protection</a:t>
            </a:r>
            <a:endParaRPr lang="sk-SK" sz="40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A58D6F5-AF57-3FB4-B28C-4353D315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747419E6-BF5D-31FF-5047-BEE8CAC4BB1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946631" y="1841183"/>
            <a:ext cx="548481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ESCALATION FRAMEWORK</a:t>
            </a:r>
            <a:endParaRPr lang="sk-SK" sz="1800" b="1" dirty="0">
              <a:solidFill>
                <a:srgbClr val="DB9E0A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endParaRPr lang="sk-SK" sz="1800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Monitor → clarify facts</a:t>
            </a:r>
            <a:endParaRPr lang="en-US" sz="18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Respond with tone aligned to the brand</a:t>
            </a:r>
            <a:endParaRPr lang="en-US" sz="18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Escalate high-risk topics to PR/Legal</a:t>
            </a:r>
            <a:endParaRPr lang="en-US" sz="18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Document decisions and actions</a:t>
            </a:r>
            <a:endParaRPr lang="en-US" sz="1800" dirty="0">
              <a:latin typeface="Gotham Black"/>
            </a:endParaRPr>
          </a:p>
          <a:p>
            <a:endParaRPr lang="sk-SK" sz="1800" dirty="0">
              <a:latin typeface="Gotham Black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FA92A71-2EDA-1489-2F4C-281ED700DC2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34975" y="1841183"/>
            <a:ext cx="5484813" cy="43513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000" b="1" dirty="0">
                <a:solidFill>
                  <a:srgbClr val="DB9E0A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ZERO TOLERANCE</a:t>
            </a:r>
            <a:endParaRPr lang="sk-SK" sz="1800" b="1" dirty="0">
              <a:solidFill>
                <a:srgbClr val="DB9E0A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sk-SK" sz="1800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Hate speech and discrimination</a:t>
            </a:r>
            <a:endParaRPr lang="en-US" sz="18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Harassment of talent or other users</a:t>
            </a:r>
            <a:endParaRPr lang="en-US" sz="18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Threats and encouragement of violence</a:t>
            </a:r>
            <a:endParaRPr lang="en-US" sz="18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Misinformation that may cause harm</a:t>
            </a:r>
            <a:endParaRPr lang="en-US" sz="18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Promotion of illegal activity</a:t>
            </a:r>
            <a:endParaRPr lang="en-US" sz="1800" dirty="0">
              <a:latin typeface="Gotham Black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5C5181F1-803F-9EBF-8DF2-6AB68301D542}"/>
              </a:ext>
            </a:extLst>
          </p:cNvPr>
          <p:cNvSpPr txBox="1"/>
          <p:nvPr/>
        </p:nvSpPr>
        <p:spPr>
          <a:xfrm>
            <a:off x="1403772" y="5453691"/>
            <a:ext cx="9172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SLA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High-risk topics: response plan within 24 hours; PR informed before publishing statement</a:t>
            </a: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398B6802-FC55-1217-6C78-C0470C5AF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1BDCCD-FC89-8B77-DCE1-175FBD4F7D2E}"/>
              </a:ext>
            </a:extLst>
          </p:cNvPr>
          <p:cNvSpPr/>
          <p:nvPr/>
        </p:nvSpPr>
        <p:spPr>
          <a:xfrm>
            <a:off x="5757718" y="1841183"/>
            <a:ext cx="5596082" cy="3317734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518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78B1F1-255E-49E2-3D6A-D11E7D10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900"/>
            <a:ext cx="9901382" cy="65616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k-SK" sz="4000" dirty="0">
                <a:latin typeface="Gotham Black"/>
              </a:rPr>
              <a:t>Talent &amp; </a:t>
            </a:r>
            <a:r>
              <a:rPr lang="sk-SK" sz="4000" dirty="0" err="1">
                <a:latin typeface="Gotham Black"/>
              </a:rPr>
              <a:t>Influencer</a:t>
            </a:r>
            <a:r>
              <a:rPr lang="sk-SK" sz="4000" dirty="0">
                <a:latin typeface="Gotham Black"/>
              </a:rPr>
              <a:t> </a:t>
            </a:r>
            <a:r>
              <a:rPr lang="sk-SK" sz="4000" dirty="0" err="1">
                <a:latin typeface="Gotham Black"/>
              </a:rPr>
              <a:t>Governance</a:t>
            </a:r>
            <a:endParaRPr lang="sk-SK" sz="4000" dirty="0">
              <a:latin typeface="Gotham Black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0C51544D-548B-3F19-465D-EC404650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274" y="1825624"/>
            <a:ext cx="8015143" cy="3803647"/>
          </a:xfrm>
        </p:spPr>
        <p:txBody>
          <a:bodyPr>
            <a:normAutofit/>
          </a:bodyPr>
          <a:lstStyle/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Code of Conduct 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for talent and influencers working with VOYO</a:t>
            </a:r>
            <a:endParaRPr lang="en-US" sz="2400" dirty="0">
              <a:latin typeface="Gotham Black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Non-discrimination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 and anti-harassment standards</a:t>
            </a:r>
            <a:endParaRPr lang="en-US" sz="2400" dirty="0">
              <a:latin typeface="Gotham Black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Social media 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responsibility (especially during sensitive news moments)</a:t>
            </a:r>
            <a:endParaRPr lang="en-US" sz="2400" dirty="0">
              <a:latin typeface="Gotham Black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Morality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 clauses where applicable for major partnerships</a:t>
            </a:r>
            <a:endParaRPr lang="en-US" sz="2400" dirty="0">
              <a:latin typeface="Gotham Black"/>
            </a:endParaRPr>
          </a:p>
          <a:p>
            <a:pPr marL="0" indent="0">
              <a:buNone/>
            </a:pPr>
            <a:endParaRPr lang="sk-SK" sz="2400" dirty="0">
              <a:latin typeface="Gotham Black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F3812736-9058-0449-2022-74039296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EB04C5AD-1145-79EC-58BC-75D6F4EC1827}"/>
              </a:ext>
            </a:extLst>
          </p:cNvPr>
          <p:cNvSpPr txBox="1"/>
          <p:nvPr/>
        </p:nvSpPr>
        <p:spPr>
          <a:xfrm>
            <a:off x="1562101" y="5710019"/>
            <a:ext cx="83401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IF A CRISIS OCCURS</a:t>
            </a:r>
            <a:endParaRPr kumimoji="0" lang="sk-SK" sz="1800" b="1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Pause campaigns if needed, align with PR/Legal, and follow an agreed statement protocol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4" name="Picture 3" descr="Attention PNG transparent image download, size: 2400x2400px">
            <a:extLst>
              <a:ext uri="{FF2B5EF4-FFF2-40B4-BE49-F238E27FC236}">
                <a16:creationId xmlns:a16="http://schemas.microsoft.com/office/drawing/2014/main" id="{0BE08E59-7BF5-EE7D-3540-8BD440F1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792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27271F-E7E1-4615-693C-963FAEDA0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48199"/>
            <a:ext cx="2524415" cy="271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54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DB986B-0ED8-55F5-C0C0-113BDB44A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543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Brand risk scoring &amp; governance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6DB1C40-B8E2-6480-8F14-BB8FDE04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76F49FCA-EF5B-9DA9-6741-436A05349B17}"/>
              </a:ext>
            </a:extLst>
          </p:cNvPr>
          <p:cNvSpPr txBox="1"/>
          <p:nvPr/>
        </p:nvSpPr>
        <p:spPr>
          <a:xfrm>
            <a:off x="461818" y="1615818"/>
            <a:ext cx="112469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7CD50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Purpose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Evaluate reputational, legal and commercial exposure before acquisition, publication, or major campaigns.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B729EEE-AFE0-A65C-F7EA-EB55EB06098B}"/>
              </a:ext>
            </a:extLst>
          </p:cNvPr>
          <p:cNvSpPr/>
          <p:nvPr/>
        </p:nvSpPr>
        <p:spPr>
          <a:xfrm>
            <a:off x="483220" y="3028643"/>
            <a:ext cx="5669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7CD50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Risk pillars (score 1–5</a:t>
            </a:r>
            <a:r>
              <a:rPr kumimoji="0" lang="sk-SK" sz="2000" b="1" i="0" u="none" strike="noStrike" kern="1200" cap="none" spc="0" normalizeH="0" baseline="0" noProof="0" dirty="0">
                <a:ln>
                  <a:noFill/>
                </a:ln>
                <a:solidFill>
                  <a:srgbClr val="F7CD50"/>
                </a:solidFill>
                <a:effectLst/>
                <a:uLnTx/>
                <a:uFillTx/>
                <a:latin typeface="Montserrat" panose="00000500000000000000" pitchFamily="2" charset="0"/>
                <a:ea typeface="Gotham Book" pitchFamily="34" charset="-122"/>
                <a:cs typeface="Gotham Book" pitchFamily="34" charset="-120"/>
              </a:rPr>
              <a:t>)</a:t>
            </a:r>
            <a:endParaRPr kumimoji="0" lang="sk-SK" sz="1800" b="1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Content sensitivity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Cultural / political sensitivity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Legal &amp; regulatory exposure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Talent volatility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Commercial suitability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Social virality risk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F09EF9A-32D5-D540-26E9-1ED8EDB8A8B9}"/>
              </a:ext>
            </a:extLst>
          </p:cNvPr>
          <p:cNvSpPr/>
          <p:nvPr/>
        </p:nvSpPr>
        <p:spPr>
          <a:xfrm>
            <a:off x="5087186" y="3028643"/>
            <a:ext cx="6621594" cy="2374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7CD50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Governance (for high-risk)</a:t>
            </a:r>
            <a:endParaRPr kumimoji="0" lang="sk-SK" sz="1800" b="1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Panel: Programming, Legal, Marketing, PR, Platform Ops.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Enhanced review for Amber/Red scores; Exec sign-off for Critical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Gotham Black"/>
                <a:ea typeface="Gotham Book" pitchFamily="34" charset="-122"/>
                <a:cs typeface="Gotham Book" pitchFamily="34" charset="-120"/>
              </a:rPr>
              <a:t>Decisions documented and archived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0910826E-4443-E253-4837-1734E8ECC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792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BlokTextu 14">
            <a:extLst>
              <a:ext uri="{FF2B5EF4-FFF2-40B4-BE49-F238E27FC236}">
                <a16:creationId xmlns:a16="http://schemas.microsoft.com/office/drawing/2014/main" id="{36FA524D-A1E6-DDAA-B03D-DEF7C2BAB8EA}"/>
              </a:ext>
            </a:extLst>
          </p:cNvPr>
          <p:cNvSpPr txBox="1"/>
          <p:nvPr/>
        </p:nvSpPr>
        <p:spPr>
          <a:xfrm>
            <a:off x="1553715" y="5813972"/>
            <a:ext cx="9800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OUTCOME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Prevention &gt; reaction: consistent decisions, safer promotion, and protected long-term brand trust</a:t>
            </a:r>
          </a:p>
        </p:txBody>
      </p:sp>
    </p:spTree>
    <p:extLst>
      <p:ext uri="{BB962C8B-B14F-4D97-AF65-F5344CB8AC3E}">
        <p14:creationId xmlns:p14="http://schemas.microsoft.com/office/powerpoint/2010/main" val="413630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smtClean="0">
            <a:solidFill>
              <a:schemeClr val="bg1"/>
            </a:solidFill>
            <a:latin typeface="Gotham Book" panose="0200060404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bbb06d7-dc84-41cf-a936-1e85ffed1c67}" enabled="1" method="Standard" siteId="{ac66e848-7cb4-490d-b461-4eb2e62f834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Microsoft Office PowerPoint</Application>
  <PresentationFormat>Widescreen</PresentationFormat>
  <Paragraphs>326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Aptos</vt:lpstr>
      <vt:lpstr>Aptos Display</vt:lpstr>
      <vt:lpstr>Arial</vt:lpstr>
      <vt:lpstr>Gotham Black</vt:lpstr>
      <vt:lpstr>Gotham Book</vt:lpstr>
      <vt:lpstr>Gotham Light</vt:lpstr>
      <vt:lpstr>Montserrat</vt:lpstr>
      <vt:lpstr>Office Theme</vt:lpstr>
      <vt:lpstr>Motív Office</vt:lpstr>
      <vt:lpstr>Chapter 6</vt:lpstr>
      <vt:lpstr>Chapter 6.1</vt:lpstr>
      <vt:lpstr>VOYO Growth Pillars</vt:lpstr>
      <vt:lpstr>Content Strategy</vt:lpstr>
      <vt:lpstr>User Acquisition &amp; Retention</vt:lpstr>
      <vt:lpstr>Performance Marketing &amp; Growth Intelligence</vt:lpstr>
      <vt:lpstr>Strategic Partnerships</vt:lpstr>
      <vt:lpstr>Promotional Principles</vt:lpstr>
      <vt:lpstr>Growth Execution Principles</vt:lpstr>
      <vt:lpstr>Chapter 6.2</vt:lpstr>
      <vt:lpstr>Purpose of B2B Brand Usage &amp; Governance</vt:lpstr>
      <vt:lpstr>Scope – Who These Rules Apply To</vt:lpstr>
      <vt:lpstr>Brand Ownership &amp; Legal Status</vt:lpstr>
      <vt:lpstr>How VOYO appears in partner ecosystems</vt:lpstr>
      <vt:lpstr>Brand Assets Usage</vt:lpstr>
      <vt:lpstr>Promotion &amp; Visibility Standards</vt:lpstr>
      <vt:lpstr>Pricing &amp; Value Communication</vt:lpstr>
      <vt:lpstr>How to present VOYO in Bundles</vt:lpstr>
      <vt:lpstr>Final Partner Rule</vt:lpstr>
      <vt:lpstr>Chapter 6.3</vt:lpstr>
      <vt:lpstr>Our responsibility</vt:lpstr>
      <vt:lpstr>Guiding principles</vt:lpstr>
      <vt:lpstr>Content classification &amp; audience protection</vt:lpstr>
      <vt:lpstr>Sensitive themes &amp; enhanced review</vt:lpstr>
      <vt:lpstr>Editorial Integrity in Marketing Assets</vt:lpstr>
      <vt:lpstr>Advertising &amp; Commercial Suitability</vt:lpstr>
      <vt:lpstr>Suitability zones (Green / Amber / Red)</vt:lpstr>
      <vt:lpstr>Social Media &amp; Community Protection</vt:lpstr>
      <vt:lpstr>Talent &amp; Influencer Governance</vt:lpstr>
      <vt:lpstr>Brand risk scoring &amp; governance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Strýček, Jakub</dc:creator>
  <cp:lastModifiedBy>Strýček, Jakub</cp:lastModifiedBy>
  <cp:revision>1</cp:revision>
  <dcterms:created xsi:type="dcterms:W3CDTF">2026-02-27T05:44:52Z</dcterms:created>
  <dcterms:modified xsi:type="dcterms:W3CDTF">2026-02-27T10:53:30Z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This item is classified as Internal. Sharing outside of the CME Group is permitted with justification.</vt:lpwstr>
  </property>
</Properties>
</file>