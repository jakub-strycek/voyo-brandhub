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147483068" r:id="rId3"/>
    <p:sldId id="2147483069" r:id="rId4"/>
    <p:sldId id="377" r:id="rId5"/>
    <p:sldId id="378" r:id="rId6"/>
    <p:sldId id="380" r:id="rId7"/>
    <p:sldId id="2147483070" r:id="rId8"/>
    <p:sldId id="2147483027" r:id="rId9"/>
    <p:sldId id="2147483030" r:id="rId10"/>
    <p:sldId id="2147483025" r:id="rId11"/>
    <p:sldId id="2147483026" r:id="rId12"/>
    <p:sldId id="2147483028" r:id="rId13"/>
    <p:sldId id="2147483031" r:id="rId14"/>
    <p:sldId id="2147483032" r:id="rId15"/>
    <p:sldId id="2147483033" r:id="rId16"/>
    <p:sldId id="2147483034" r:id="rId17"/>
    <p:sldId id="2147483035" r:id="rId18"/>
    <p:sldId id="2147483071" r:id="rId19"/>
    <p:sldId id="2147483016" r:id="rId20"/>
    <p:sldId id="2147483017" r:id="rId21"/>
    <p:sldId id="2147483018" r:id="rId22"/>
    <p:sldId id="2147483021" r:id="rId23"/>
    <p:sldId id="21474830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F3F386-EAAF-4B67-B3B4-98D0AACE8E24}" v="9" dt="2026-02-27T10:52:50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mod addSld delSld modSld delMainMaster modMainMaster">
      <pc:chgData name="Strýček, Jakub" userId="0fd0477a-885b-4640-8df6-a47f260f7b47" providerId="ADAL" clId="{642162F9-3CBE-4328-B65F-6EA6B7ABAE33}" dt="2026-02-27T10:52:50.939" v="54"/>
      <pc:docMkLst>
        <pc:docMk/>
      </pc:docMkLst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1785827913" sldId="377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1785827913" sldId="377"/>
            <ac:spMk id="2" creationId="{FDA44DB3-9FE9-742D-CF0A-96B90A7A906E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599378863" sldId="378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599378863" sldId="378"/>
            <ac:spMk id="2" creationId="{21D52E98-EE11-6EA9-5687-06A36102D864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3486466611" sldId="380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3486466611" sldId="380"/>
            <ac:spMk id="2" creationId="{84026E29-2B04-178A-DE6B-6FEBF912BFE2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842814105" sldId="2147483016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842814105" sldId="2147483016"/>
            <ac:spMk id="2" creationId="{66CAE6A4-B8F0-A7DC-48EA-E285544D1081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801319108" sldId="2147483017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801319108" sldId="2147483017"/>
            <ac:spMk id="2" creationId="{4E3A5DF2-D2D1-1246-AA7F-C91ED346C67B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3962531237" sldId="2147483018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3962531237" sldId="2147483018"/>
            <ac:spMk id="2" creationId="{ED786F82-BAEA-9BA4-5F3A-8C19AB56EC42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1156010291" sldId="2147483020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1156010291" sldId="2147483020"/>
            <ac:spMk id="2" creationId="{AA62DA59-9911-AC58-B0DB-9569768BB1BB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3451866366" sldId="2147483021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3451866366" sldId="2147483021"/>
            <ac:spMk id="2" creationId="{46B26B3B-6D9E-83B4-4DFD-FA30D937FB72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2510145732" sldId="2147483025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2510145732" sldId="2147483025"/>
            <ac:spMk id="2" creationId="{D5AA04E1-188D-DCD2-EC51-F4690171F98A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1036657209" sldId="2147483026"/>
        </pc:sldMkLst>
        <pc:spChg chg="mod">
          <ac:chgData name="Strýček, Jakub" userId="0fd0477a-885b-4640-8df6-a47f260f7b47" providerId="ADAL" clId="{642162F9-3CBE-4328-B65F-6EA6B7ABAE33}" dt="2026-02-27T07:43:12.772" v="31"/>
          <ac:spMkLst>
            <pc:docMk/>
            <pc:sldMk cId="1036657209" sldId="2147483026"/>
            <ac:spMk id="2" creationId="{279AE273-9021-65A7-2F03-C73031DBE300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525731550" sldId="2147483027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525731550" sldId="2147483027"/>
            <ac:spMk id="2" creationId="{6096C3AD-9BC4-A029-DA87-821F19227AD7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1741009521" sldId="2147483028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1741009521" sldId="2147483028"/>
            <ac:spMk id="2" creationId="{CB0D7CE0-5DCE-20A3-16BE-2F6F4C787131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3562061179" sldId="2147483030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3562061179" sldId="2147483030"/>
            <ac:spMk id="2" creationId="{9EF6A6EC-E71A-8F37-4AC9-34793857FA0A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913111808" sldId="2147483031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913111808" sldId="2147483031"/>
            <ac:spMk id="2" creationId="{FD9B2DCE-5630-8792-5C6A-1FC225AA955D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461517605" sldId="2147483032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461517605" sldId="2147483032"/>
            <ac:spMk id="2" creationId="{EE320961-23D4-6540-D84B-BE371A91F7F6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2839394293" sldId="2147483033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2839394293" sldId="2147483033"/>
            <ac:spMk id="2" creationId="{58734C7F-18BC-0602-DC87-B038598BE431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2063550852" sldId="2147483034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2063550852" sldId="2147483034"/>
            <ac:spMk id="2" creationId="{DD3B2C5D-5DB5-C535-CBD4-53A5493BC91A}"/>
          </ac:spMkLst>
        </pc:spChg>
      </pc:sldChg>
      <pc:sldChg chg="modSp add del mod">
        <pc:chgData name="Strýček, Jakub" userId="0fd0477a-885b-4640-8df6-a47f260f7b47" providerId="ADAL" clId="{642162F9-3CBE-4328-B65F-6EA6B7ABAE33}" dt="2026-02-27T10:52:50.939" v="54"/>
        <pc:sldMkLst>
          <pc:docMk/>
          <pc:sldMk cId="2933561005" sldId="2147483035"/>
        </pc:sldMkLst>
        <pc:spChg chg="mod">
          <ac:chgData name="Strýček, Jakub" userId="0fd0477a-885b-4640-8df6-a47f260f7b47" providerId="ADAL" clId="{642162F9-3CBE-4328-B65F-6EA6B7ABAE33}" dt="2026-02-27T10:52:50.780" v="53"/>
          <ac:spMkLst>
            <pc:docMk/>
            <pc:sldMk cId="2933561005" sldId="2147483035"/>
            <ac:spMk id="2" creationId="{0A9C9E99-48C3-B99A-9E1F-49994DF96D32}"/>
          </ac:spMkLst>
        </pc:spChg>
      </pc:sldChg>
      <pc:sldChg chg="add del">
        <pc:chgData name="Strýček, Jakub" userId="0fd0477a-885b-4640-8df6-a47f260f7b47" providerId="ADAL" clId="{642162F9-3CBE-4328-B65F-6EA6B7ABAE33}" dt="2026-02-27T10:52:50.939" v="54"/>
        <pc:sldMkLst>
          <pc:docMk/>
          <pc:sldMk cId="3518748451" sldId="2147483068"/>
        </pc:sldMkLst>
      </pc:sldChg>
      <pc:sldChg chg="add del">
        <pc:chgData name="Strýček, Jakub" userId="0fd0477a-885b-4640-8df6-a47f260f7b47" providerId="ADAL" clId="{642162F9-3CBE-4328-B65F-6EA6B7ABAE33}" dt="2026-02-27T10:52:50.939" v="54"/>
        <pc:sldMkLst>
          <pc:docMk/>
          <pc:sldMk cId="1318384853" sldId="2147483069"/>
        </pc:sldMkLst>
      </pc:sldChg>
      <pc:sldChg chg="add del">
        <pc:chgData name="Strýček, Jakub" userId="0fd0477a-885b-4640-8df6-a47f260f7b47" providerId="ADAL" clId="{642162F9-3CBE-4328-B65F-6EA6B7ABAE33}" dt="2026-02-27T10:52:50.939" v="54"/>
        <pc:sldMkLst>
          <pc:docMk/>
          <pc:sldMk cId="4082384770" sldId="2147483070"/>
        </pc:sldMkLst>
      </pc:sldChg>
      <pc:sldChg chg="add del">
        <pc:chgData name="Strýček, Jakub" userId="0fd0477a-885b-4640-8df6-a47f260f7b47" providerId="ADAL" clId="{642162F9-3CBE-4328-B65F-6EA6B7ABAE33}" dt="2026-02-27T10:52:50.939" v="54"/>
        <pc:sldMkLst>
          <pc:docMk/>
          <pc:sldMk cId="4150635167" sldId="2147483071"/>
        </pc:sldMkLst>
      </pc:sldChg>
      <pc:sldMasterChg chg="addSp modSp mod">
        <pc:chgData name="Strýček, Jakub" userId="0fd0477a-885b-4640-8df6-a47f260f7b47" providerId="ADAL" clId="{642162F9-3CBE-4328-B65F-6EA6B7ABAE33}" dt="2026-02-27T07:43:00.807" v="17" actId="33475"/>
        <pc:sldMasterMkLst>
          <pc:docMk/>
          <pc:sldMasterMk cId="1329265354" sldId="2147483648"/>
        </pc:sldMasterMkLst>
        <pc:spChg chg="add mod">
          <ac:chgData name="Strýček, Jakub" userId="0fd0477a-885b-4640-8df6-a47f260f7b47" providerId="ADAL" clId="{642162F9-3CBE-4328-B65F-6EA6B7ABAE33}" dt="2026-02-27T07:43:00.807" v="17" actId="33475"/>
          <ac:spMkLst>
            <pc:docMk/>
            <pc:sldMasterMk cId="1329265354" sldId="2147483648"/>
            <ac:spMk id="8" creationId="{164F6260-DC2E-19BC-FBB3-D9EF82627E00}"/>
          </ac:spMkLst>
        </pc:spChg>
      </pc:sldMasterChg>
      <pc:sldMasterChg chg="del delSldLayout">
        <pc:chgData name="Strýček, Jakub" userId="0fd0477a-885b-4640-8df6-a47f260f7b47" providerId="ADAL" clId="{642162F9-3CBE-4328-B65F-6EA6B7ABAE33}" dt="2026-02-27T10:52:23.685" v="33" actId="47"/>
        <pc:sldMasterMkLst>
          <pc:docMk/>
          <pc:sldMasterMk cId="160524002" sldId="2147483660"/>
        </pc:sldMasterMkLst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1486036712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080709915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1224383926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1356780322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021307519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221522524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670354447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303433239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416439172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2803196124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3017972429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10:52:23.685" v="33" actId="47"/>
          <pc:sldLayoutMkLst>
            <pc:docMk/>
            <pc:sldMasterMk cId="160524002" sldId="2147483660"/>
            <pc:sldLayoutMk cId="269404318" sldId="2147483672"/>
          </pc:sldLayoutMkLst>
        </pc:sldLayoutChg>
      </pc:sldMasterChg>
      <pc:sldMasterChg chg="modSp del mod delSldLayout">
        <pc:chgData name="Strýček, Jakub" userId="0fd0477a-885b-4640-8df6-a47f260f7b47" providerId="ADAL" clId="{642162F9-3CBE-4328-B65F-6EA6B7ABAE33}" dt="2026-02-27T07:42:47.678" v="16" actId="47"/>
        <pc:sldMasterMkLst>
          <pc:docMk/>
          <pc:sldMasterMk cId="759204062" sldId="2147483660"/>
        </pc:sldMasterMkLst>
        <pc:spChg chg="add mod">
          <ac:chgData name="Strýček, Jakub" userId="0fd0477a-885b-4640-8df6-a47f260f7b47" providerId="ADAL" clId="{642162F9-3CBE-4328-B65F-6EA6B7ABAE33}" dt="2026-02-27T05:43:16.589" v="14" actId="33475"/>
          <ac:spMkLst>
            <pc:docMk/>
            <pc:sldMasterMk cId="759204062" sldId="2147483660"/>
            <ac:spMk id="8" creationId="{6D9CB86B-5A82-B697-C35D-20BA3B20C07B}"/>
          </ac:spMkLst>
        </pc:sp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2850649503" sldId="2147483661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770916080" sldId="2147483662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3027208238" sldId="2147483663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822719108" sldId="2147483664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3001891274" sldId="2147483665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1776477994" sldId="2147483666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3787803167" sldId="2147483667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135011984" sldId="2147483668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3136442801" sldId="2147483669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1298828775" sldId="2147483670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955233754" sldId="2147483671"/>
          </pc:sldLayoutMkLst>
        </pc:sldLayoutChg>
        <pc:sldLayoutChg chg="del">
          <pc:chgData name="Strýček, Jakub" userId="0fd0477a-885b-4640-8df6-a47f260f7b47" providerId="ADAL" clId="{642162F9-3CBE-4328-B65F-6EA6B7ABAE33}" dt="2026-02-27T07:42:47.678" v="16" actId="47"/>
          <pc:sldLayoutMkLst>
            <pc:docMk/>
            <pc:sldMasterMk cId="759204062" sldId="2147483660"/>
            <pc:sldLayoutMk cId="1906499935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BB1AE-5F34-4078-BDAB-AF4CA022F4CF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11C9C-E957-4567-BE21-2BA54F757B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24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3D8E0-4975-492D-9BB3-C7B6CCA7440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8257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8332-4A39-C994-8C48-8CE6F4371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CEE4D-A749-B6EC-CA69-AB54AD15A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44F15-9208-178C-6C28-296C8F43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4C661-92E7-474E-7A8B-799C1837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45226-1506-2E18-F2E6-740283FE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29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D8A0-1486-D1CE-551A-D8205234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6DF68-45CC-E2C0-06F8-B5D067C9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EB3E2-9467-26C4-E190-86DA9B0E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4926E-62A2-09A1-9C0C-744ED0A3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B39F3-97E8-768A-5CAE-537767DE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9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BA4BF-6CA0-90A7-59BE-445ABD430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62333-341F-61F0-3BDC-99D44B97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081E-1462-D6D4-9F1B-B370EA64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38F60-56D4-EE9C-C896-0A3C77F4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9E87-8E63-6FDB-D62A-D784505D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769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5AA0-ED0D-02C1-28C9-35D31D4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07099-3740-F0AA-F125-D5D85B4AE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68476-3181-AB5E-05E1-AD6E65F4C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4762B-BB3F-E37C-3125-F47DE78A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D0222-CE59-1E16-A74A-C0776A50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218FA-24D0-6B34-7BAA-7DEF18406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30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2E57-108A-ABE6-932A-09741FA9A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5A7AB-5742-B43E-5E56-FB2A4D97C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B87D5-3D49-FC56-3174-58BF7C2B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B3F8A-A7CA-8E26-2252-AE853EB3D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922B87-E130-D021-6677-364F7974F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CA576C-B260-ECAD-BCBE-11C829CD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41386-A5A3-FB44-D2D4-21C69E24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F44DF-B9FE-2AC6-B3D6-ED6BA575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9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C265-8F2C-89B3-AFB9-DDF7D200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6FDA1D-E650-A566-485F-E5AD143D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899719-7919-D131-4B84-8156268FD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07064-B08A-645E-05D5-B046CFDC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992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4CF0BC-8BB6-1CE2-59AD-DE093AAC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9C923-BE85-71CC-90FC-B2A5D35F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7AAE-701A-5AB5-DDA3-DF7BA58F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94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F9D7-E91C-761A-C906-28794017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FEB6D-8A4C-BA55-6A0C-D2366C3FE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DA583-C82A-A3FA-B9AE-0D284EA9D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1E19E3-6CD6-FF1F-2A03-5FD6475A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2223A-CFF7-5636-2525-D067A79F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FA6A0-9343-92A9-BA16-8CCDFDAA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08E9-FDED-5EDE-B50F-D7677423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1373D-49AC-F458-97FF-EF5E32BF0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90316-18A8-E483-37F0-89DB4F043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1141C-0CD1-4407-4CC0-7CFA8B76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0E6DA-F727-CC18-588F-8C430B05E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D432-CF79-7D91-75E7-19549596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34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805E-7C17-C870-F286-850D2C3A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7417E-DB57-DFE4-9581-B2C804835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0657D-DB8F-DA68-46AB-4E207A4A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6F1FD-99AB-1FC0-02D2-5F6CA9CE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DB63F-9A4F-E8B6-3BDC-C0995204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76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DAF54-2FDA-6B53-870F-7C11CA6F0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A95FA-763D-BE8C-0A26-B5258F674D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386E8-19A5-32C3-6E5E-716716D0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0205D-E832-E07A-B4F0-05C182834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D2964-B474-3D88-6B12-9778FEFE6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86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E31F4-01A2-E6F1-B374-7CC95B53C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32EDE0A-8CA4-BE57-5C53-40E9661DD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C94EB4A-EEA2-490F-CAE4-993DE35A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CFC6-2C3D-430D-B009-7B7F642ABE14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ADE9B73-AB57-658C-7DA5-217ECDC3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FD5A285-F0CF-4C03-F2C2-B32E6004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482640-75BE-4676-8FBA-7A48CEEC95B0}" type="slidenum">
              <a:rPr lang="sk-SK" smtClean="0"/>
              <a:pPr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37190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777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538869"/>
            <a:ext cx="9901382" cy="656164"/>
          </a:xfrm>
        </p:spPr>
        <p:txBody>
          <a:bodyPr>
            <a:noAutofit/>
          </a:bodyPr>
          <a:lstStyle>
            <a:lvl1pPr>
              <a:defRPr sz="4000">
                <a:latin typeface="Gotham Black"/>
              </a:defRPr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C3E9460F-8BB7-9C9F-E4D7-F6609C4E9AE4}"/>
              </a:ext>
            </a:extLst>
          </p:cNvPr>
          <p:cNvCxnSpPr>
            <a:cxnSpLocks/>
          </p:cNvCxnSpPr>
          <p:nvPr userDrawn="1"/>
        </p:nvCxnSpPr>
        <p:spPr>
          <a:xfrm>
            <a:off x="461818" y="1405230"/>
            <a:ext cx="11277600" cy="0"/>
          </a:xfrm>
          <a:prstGeom prst="line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572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990074"/>
            <a:ext cx="9901382" cy="656164"/>
          </a:xfrm>
        </p:spPr>
        <p:txBody>
          <a:bodyPr/>
          <a:lstStyle/>
          <a:p>
            <a:r>
              <a:rPr lang="sk-SK" dirty="0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4351338"/>
          </a:xfrm>
        </p:spPr>
        <p:txBody>
          <a:bodyPr/>
          <a:lstStyle/>
          <a:p>
            <a:pPr lvl="0"/>
            <a:r>
              <a:rPr lang="sk-SK" dirty="0"/>
              <a:t>Kliknite sem a upravte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E45AC5F3-9153-4848-B4E1-D5F235593822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49314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7A82B3-8FB6-8C6B-8923-37C885D5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6950"/>
            <a:ext cx="9818255" cy="6492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C245EC8-50B2-07D0-D5DF-71A84755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709" y="1825625"/>
            <a:ext cx="11120582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2A60C94-8AA8-F4F0-0E46-5754E88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otham Book"/>
              </a:defRPr>
            </a:lvl1pPr>
          </a:lstStyle>
          <a:p>
            <a:fld id="{7221A705-3299-48EB-854F-C3B4273BA57B}" type="datetime1">
              <a:rPr lang="sk-SK" smtClean="0"/>
              <a:t>27. 2. 2026</a:t>
            </a:fld>
            <a:endParaRPr lang="sk-SK">
              <a:latin typeface="Gotham Book"/>
            </a:endParaRPr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15645B2-6AD5-51A8-43C4-12A990BE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59F8681-910A-AA80-87F4-08330714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E4D3BAD3-06E2-8976-1503-A80952267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10" y="5616379"/>
            <a:ext cx="11120582" cy="5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39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92F3D5-CD3E-29D4-CC4B-9EC71ABD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E13A22E-C17D-D2E7-C115-423CEC0B8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EECA32A-4681-9BA5-A0D8-54F09F1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6690-AF75-4187-BFC3-D5F2332C501B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B627AD7-A404-67BA-ABD1-021ED93D7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F43788D0-A08F-658B-474D-433D76029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15999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6C460-0F35-4E85-6A09-AE39960C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7FAB8BD-D9D4-6732-570A-9B37C5C9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70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A7B67C0-F900-C5B2-C56C-35CF66249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484091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0F16AB83-1D47-9E2E-1472-C633E9A2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AE3A-F887-47E6-BD99-55D80AEBF460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8634056E-F687-6D18-7D49-0C71549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E9E4B79-2095-E9C7-049E-6E2B5B52B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911318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A7DDE2E-A692-3DAD-62E1-9B3AF46C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10" y="1681163"/>
            <a:ext cx="54618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934030DF-31C2-E488-649D-035B23F1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710" y="2505075"/>
            <a:ext cx="5461866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E017A73-BA90-1271-D4BE-EA520C431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DF63CFB1-52B3-2337-5C70-EFAB4C37A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089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198C0987-EF61-2B1A-3FB6-8517F4E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92BEE-E86B-49DF-B1B3-CCEC9E68AD35}" type="datetime1">
              <a:rPr lang="sk-SK" smtClean="0"/>
              <a:t>27. 2. 2026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9C82B51-FA16-0B39-04A8-7FDCC03A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9112C33-D93B-E83C-FDAC-75B77369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441622A9-7D0F-4365-C6FA-80D5F0229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990600"/>
            <a:ext cx="9818255" cy="700088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</p:spTree>
    <p:extLst>
      <p:ext uri="{BB962C8B-B14F-4D97-AF65-F5344CB8AC3E}">
        <p14:creationId xmlns:p14="http://schemas.microsoft.com/office/powerpoint/2010/main" val="2104513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043D30-071D-33AB-9669-23DC9D7D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0626F86A-ED8E-E2CB-0045-882B2081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7997-9BB1-469D-AB8B-75A91F8709FB}" type="datetime1">
              <a:rPr lang="sk-SK" smtClean="0"/>
              <a:t>27. 2. 2026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AA76809C-B35F-91E8-F0FC-58E4DA05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620999B0-23F7-AD49-85E6-5F16A8F0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90680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294DAC2C-3747-CF3D-3CAD-2D3648B2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17880-69E6-4017-911E-C813255CF17D}" type="datetime1">
              <a:rPr lang="sk-SK" smtClean="0"/>
              <a:t>27. 2. 2026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2264B98-8195-D8D6-63E7-7160E646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A3CB4A4-DECD-DD2C-2867-C21C476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43776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ED231A-84A5-F5D9-5D2E-50078FC0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C5581D-D921-5F0F-AE2D-99906DBF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1EC71DA-B330-2925-634E-8AF351D6A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CAA74C9-159A-4142-CD81-9C0EBC9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5D860-1691-4A1E-951E-860E288D7ED9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EE73CA0-8128-6D89-5779-DE33B887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69D1AA6B-8076-B5A9-6F2D-053A86461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5192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D6BD6-170C-44DD-BDC0-D960921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8" y="457200"/>
            <a:ext cx="43361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DABB3901-CBE5-CD07-4906-E15786878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731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DDBA57B-148A-F609-6500-9FB9CDADF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079480"/>
            <a:ext cx="42862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B07352E-769A-F29D-4DE0-19240FFE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6A6A-330E-44F1-9989-89ED565DD888}" type="datetime1">
              <a:rPr lang="sk-SK" smtClean="0"/>
              <a:t>27. 2. 2026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D766888-199E-BEED-A3B9-4EE38408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87AE7F8-4D13-FAEB-EAF6-80CD1BE4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17094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3DF940-CA92-904E-80FF-E6F99971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8246ADBA-C098-2C20-660C-3760EF1E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68A9-2373-480D-BEC3-8767F6491096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7ADCD98-DFDB-5022-61A3-7705C605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3E782B7-3401-F2F1-32A7-8F6FC2A6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F2538-5172-44FE-BA0F-FAB2B9E4D3CD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Zástupný text 3">
            <a:extLst>
              <a:ext uri="{FF2B5EF4-FFF2-40B4-BE49-F238E27FC236}">
                <a16:creationId xmlns:a16="http://schemas.microsoft.com/office/drawing/2014/main" id="{0C564EC2-EE3E-27C0-6E49-AD055C579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709" y="2175382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2" name="Zástupný text 3">
            <a:extLst>
              <a:ext uri="{FF2B5EF4-FFF2-40B4-BE49-F238E27FC236}">
                <a16:creationId xmlns:a16="http://schemas.microsoft.com/office/drawing/2014/main" id="{6F97C8EF-0CB2-322D-9076-99ABF456029F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35709" y="3004849"/>
            <a:ext cx="5024582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13" name="Zástupný text 3">
            <a:extLst>
              <a:ext uri="{FF2B5EF4-FFF2-40B4-BE49-F238E27FC236}">
                <a16:creationId xmlns:a16="http://schemas.microsoft.com/office/drawing/2014/main" id="{D84772E5-CFF9-718C-802E-19550E9B968D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632434" y="2179014"/>
            <a:ext cx="5023859" cy="7377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0"/>
            <a:endParaRPr lang="sk-SK"/>
          </a:p>
          <a:p>
            <a:pPr lvl="0"/>
            <a:endParaRPr lang="sk-SK"/>
          </a:p>
        </p:txBody>
      </p:sp>
      <p:sp>
        <p:nvSpPr>
          <p:cNvPr id="14" name="Zástupný text 3">
            <a:extLst>
              <a:ext uri="{FF2B5EF4-FFF2-40B4-BE49-F238E27FC236}">
                <a16:creationId xmlns:a16="http://schemas.microsoft.com/office/drawing/2014/main" id="{FE1BA62C-FF9F-4199-686B-F448EBF36D9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6631711" y="3004849"/>
            <a:ext cx="5023859" cy="300802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</p:spTree>
    <p:extLst>
      <p:ext uri="{BB962C8B-B14F-4D97-AF65-F5344CB8AC3E}">
        <p14:creationId xmlns:p14="http://schemas.microsoft.com/office/powerpoint/2010/main" val="319389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EE67C-600C-F660-2DBD-C2AB1DE9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FB3E8-05D3-AD51-FD67-F55C5CD9D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BCD5-F4C9-8AEB-7F2E-21EF8D7AD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EA7F6-5C23-46C1-931A-422EB77D4395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EA541-A2DC-DCBA-BC6B-305D15C57D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32173-A348-C7D3-005D-9A20D208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0175E-23A2-405F-AD48-22BEA44339F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F6260-DC2E-19BC-FBB3-D9EF82627E0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431350" y="6642100"/>
            <a:ext cx="53546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This item is classified as Internal. Sharing outside of the CME Group is permitted with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32926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rázok 9" descr="Obrázok, na ktorom je nebo, modrá, snímka obrazovky, rozmazanie&#10;&#10;Obsah vygenerovaný pomocou AI môže byť nesprávny.">
            <a:extLst>
              <a:ext uri="{FF2B5EF4-FFF2-40B4-BE49-F238E27FC236}">
                <a16:creationId xmlns:a16="http://schemas.microsoft.com/office/drawing/2014/main" id="{C71F1129-C362-F7B5-2DE7-D5B8B8D330A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36343588-5C6D-5217-EDC9-609AD8D24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09" y="1041400"/>
            <a:ext cx="9818255" cy="64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A1C42F2-A5DE-357A-C4CF-5A290B76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709" y="1825625"/>
            <a:ext cx="10818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E5A5F4F-D90E-E642-21B8-C18A81F22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C8D9-E561-4CC8-AC32-35F66DAD277A}" type="datetime1">
              <a:rPr lang="sk-SK" smtClean="0"/>
              <a:t>27. 2. 2026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61D836A-C826-6445-380C-EC3A44206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708C169-9F46-5E9A-1745-62AB43CD8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7F2538-5172-44FE-BA0F-FAB2B9E4D3CD}" type="slidenum">
              <a:rPr lang="sk-SK" smtClean="0"/>
              <a:pPr/>
              <a:t>‹#›</a:t>
            </a:fld>
            <a:endParaRPr lang="sk-SK">
              <a:solidFill>
                <a:schemeClr val="bg1"/>
              </a:solidFill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6D9CB86B-5A82-B697-C35D-20BA3B20C0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3275" y="6642100"/>
            <a:ext cx="4508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  <p:pic>
        <p:nvPicPr>
          <p:cNvPr id="7" name="Obrázok 6" descr="Obrázok, na ktorom je písmo, grafika, logo, kruh">
            <a:extLst>
              <a:ext uri="{FF2B5EF4-FFF2-40B4-BE49-F238E27FC236}">
                <a16:creationId xmlns:a16="http://schemas.microsoft.com/office/drawing/2014/main" id="{97A7DE47-3C26-9503-4E0D-3CA5230F4F13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1" y="324810"/>
            <a:ext cx="1255720" cy="44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6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Gotham Book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otham Book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otham Ligh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otham Ligh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otham Ligh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10F4-21F9-DD7D-6934-200F3A3D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E0D91FA4-8194-0E0D-CA60-873CB0087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77379FE5-E843-144F-F9E4-FFCF92084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 anchor="ctr">
            <a:normAutofit/>
          </a:bodyPr>
          <a:lstStyle/>
          <a:p>
            <a:r>
              <a:rPr lang="sk-SK" sz="6000" b="1" dirty="0">
                <a:latin typeface="Gotham Black"/>
              </a:rPr>
              <a:t>BRAND</a:t>
            </a:r>
            <a:r>
              <a:rPr lang="sk-SK" sz="6000" dirty="0">
                <a:latin typeface="Gotham Black"/>
              </a:rPr>
              <a:t> EXPRESSION</a:t>
            </a: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382A4B7F-8F96-920E-D5F9-5C27987C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8748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F05E-C809-747C-94BF-B7F7BE307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6F9AA9DD-415A-0D8A-094E-888A186B0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5.1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EAFB3BB8-D21D-31F6-944E-5A8551CAF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902441"/>
            <a:ext cx="11068493" cy="1520260"/>
          </a:xfrm>
        </p:spPr>
        <p:txBody>
          <a:bodyPr anchor="ctr">
            <a:noAutofit/>
          </a:bodyPr>
          <a:lstStyle/>
          <a:p>
            <a:r>
              <a:rPr lang="en-US" sz="6000" b="1" dirty="0">
                <a:latin typeface="Gotham Black"/>
              </a:rPr>
              <a:t>Speaking</a:t>
            </a:r>
            <a:r>
              <a:rPr lang="en-US" sz="6000" dirty="0">
                <a:latin typeface="Gotham Black"/>
              </a:rPr>
              <a:t> in the VOYO Way</a:t>
            </a:r>
            <a:endParaRPr lang="sk-SK" sz="60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81E4C0F8-0D02-6EC2-8E8E-3F1BB16A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84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A44DB3-9FE9-742D-CF0A-96B90A7A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839" y="612847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>
                <a:latin typeface="Gotham Black"/>
              </a:rPr>
              <a:t>Brand Personality </a:t>
            </a:r>
            <a:r>
              <a:rPr lang="sk-SK" dirty="0">
                <a:latin typeface="Gotham Black"/>
              </a:rPr>
              <a:t>and Voice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23E81C-F04F-2F8F-1D8F-996360144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4916" y="1548245"/>
            <a:ext cx="7326420" cy="499066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VOYO communicates as a familiar local presence, a streaming service that feels close to the viewer’s world. </a:t>
            </a:r>
            <a:endParaRPr lang="sk-SK" sz="1600" dirty="0">
              <a:latin typeface="Gotham Black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Gotham Black"/>
              </a:rPr>
              <a:t>We speak with warmth, energy, and emotional relevance, creating entertainment moments people want to share.</a:t>
            </a:r>
          </a:p>
          <a:p>
            <a:pPr marL="0" indent="0">
              <a:buNone/>
            </a:pPr>
            <a:endParaRPr lang="en-US" sz="1400" dirty="0">
              <a:latin typeface="Gotham Black"/>
            </a:endParaRPr>
          </a:p>
          <a:p>
            <a:pPr marL="0" indent="0">
              <a:buNone/>
            </a:pPr>
            <a:r>
              <a:rPr lang="en-US" sz="1400" dirty="0">
                <a:latin typeface="Gotham Black"/>
              </a:rPr>
              <a:t>Our communication is: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FRIENDLY AND DIRECT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Clear, everyday language, without corporate tone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LIVELY, NEVER OVERDONE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Energetic and present, but never loud or forced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PLAYFUL AND EMOTIONALLY CLOSE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Real emotions, </a:t>
            </a:r>
            <a:r>
              <a:rPr lang="en-US" sz="1400" dirty="0" err="1">
                <a:latin typeface="Gotham Black"/>
              </a:rPr>
              <a:t>humour</a:t>
            </a:r>
            <a:r>
              <a:rPr lang="en-US" sz="1400" dirty="0">
                <a:latin typeface="Gotham Black"/>
              </a:rPr>
              <a:t>, and moments that feel natural and shared</a:t>
            </a:r>
          </a:p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B9E0A"/>
                </a:solidFill>
                <a:latin typeface="Gotham Black"/>
              </a:rPr>
              <a:t>AUTHENTIC AND LOCALLY FLUENT</a:t>
            </a:r>
            <a:br>
              <a:rPr lang="en-US" sz="1400" dirty="0">
                <a:latin typeface="Gotham Black"/>
              </a:rPr>
            </a:br>
            <a:r>
              <a:rPr lang="en-US" sz="1400" dirty="0">
                <a:latin typeface="Gotham Black"/>
              </a:rPr>
              <a:t>A voice that feels culturally “from here”, not generic</a:t>
            </a:r>
          </a:p>
          <a:p>
            <a:endParaRPr lang="sk-SK" sz="1400" dirty="0">
              <a:latin typeface="Gotham Black"/>
            </a:endParaRPr>
          </a:p>
        </p:txBody>
      </p:sp>
      <p:pic>
        <p:nvPicPr>
          <p:cNvPr id="14" name="Obrázok 13">
            <a:extLst>
              <a:ext uri="{FF2B5EF4-FFF2-40B4-BE49-F238E27FC236}">
                <a16:creationId xmlns:a16="http://schemas.microsoft.com/office/drawing/2014/main" id="{CA48E373-5F78-77B5-3DA7-8690CCF40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" r="146"/>
          <a:stretch/>
        </p:blipFill>
        <p:spPr>
          <a:xfrm>
            <a:off x="622434" y="2328333"/>
            <a:ext cx="3210238" cy="3578228"/>
          </a:xfrm>
          <a:prstGeom prst="rect">
            <a:avLst/>
          </a:prstGeom>
        </p:spPr>
      </p:pic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F049C2F-07A8-24C8-3245-8CE32BA6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82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345C4-010F-B8DF-15AE-8B2CE207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D52E98-EE11-6EA9-5687-06A36102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08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solidFill>
                  <a:srgbClr val="FFFFFF"/>
                </a:solidFill>
                <a:latin typeface="Gotham Black"/>
              </a:rPr>
              <a:t>Communication Principles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FFAF21C3-BACD-D52E-38E3-7C74E08F0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456107"/>
            <a:ext cx="11277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VOYO is local streaming, fully in tune with your world, with premium entertainment at its heart.</a:t>
            </a:r>
          </a:p>
          <a:p>
            <a:pPr marL="0" indent="0">
              <a:buNone/>
            </a:pPr>
            <a:endParaRPr lang="sk-SK" sz="2000" dirty="0">
              <a:latin typeface="Gotham Black"/>
            </a:endParaRPr>
          </a:p>
        </p:txBody>
      </p:sp>
      <p:sp>
        <p:nvSpPr>
          <p:cNvPr id="10" name="Obdĺžnik 9">
            <a:extLst>
              <a:ext uri="{FF2B5EF4-FFF2-40B4-BE49-F238E27FC236}">
                <a16:creationId xmlns:a16="http://schemas.microsoft.com/office/drawing/2014/main" id="{B5CF2298-0EBE-2182-852B-AF4C1462C78A}"/>
              </a:ext>
            </a:extLst>
          </p:cNvPr>
          <p:cNvSpPr/>
          <p:nvPr/>
        </p:nvSpPr>
        <p:spPr>
          <a:xfrm>
            <a:off x="461818" y="2327493"/>
            <a:ext cx="5556123" cy="2699075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3A4E7CA1-8421-74ED-9835-3D0187D49726}"/>
              </a:ext>
            </a:extLst>
          </p:cNvPr>
          <p:cNvSpPr/>
          <p:nvPr/>
        </p:nvSpPr>
        <p:spPr>
          <a:xfrm>
            <a:off x="6174059" y="2327493"/>
            <a:ext cx="5565359" cy="2699075"/>
          </a:xfrm>
          <a:prstGeom prst="rect">
            <a:avLst/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67EB2754-0FE1-0032-1B65-9DF5CBEBE53A}"/>
              </a:ext>
            </a:extLst>
          </p:cNvPr>
          <p:cNvSpPr txBox="1"/>
          <p:nvPr/>
        </p:nvSpPr>
        <p:spPr>
          <a:xfrm>
            <a:off x="560140" y="2404360"/>
            <a:ext cx="5201563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WHAT WE SAY</a:t>
            </a: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highlight local entertainment that fits the viewer’s world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position VOYO as the easiest choice for familiar stories and big moments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communicate clear reasons to subscribe: first access, full seasons, shared events</a:t>
            </a: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BFCC24D5-074F-3DAA-3E81-E43A7D9342BD}"/>
              </a:ext>
            </a:extLst>
          </p:cNvPr>
          <p:cNvSpPr txBox="1"/>
          <p:nvPr/>
        </p:nvSpPr>
        <p:spPr>
          <a:xfrm>
            <a:off x="6336592" y="2404360"/>
            <a:ext cx="516714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HOW WE SAY IT</a:t>
            </a:r>
            <a:r>
              <a:rPr kumimoji="0" lang="sk-SK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use simple, direct language that feels human and close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sound lively and real - never exaggerated or clickbait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We keep messaging emotional, clear, and easy to choose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A1331579-FCE1-D0B3-74D2-205F43EA11BF}"/>
              </a:ext>
            </a:extLst>
          </p:cNvPr>
          <p:cNvSpPr txBox="1"/>
          <p:nvPr/>
        </p:nvSpPr>
        <p:spPr>
          <a:xfrm>
            <a:off x="1474066" y="5503778"/>
            <a:ext cx="92438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Example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We don’t say: “We have a new series.”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We say: “A new local story, ready whenever you are. Only on VOYO.”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4FD1AD2D-A9BC-ADEE-7BBC-644E2566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ttention PNG transparent image download, size: 2400x2400px">
            <a:extLst>
              <a:ext uri="{FF2B5EF4-FFF2-40B4-BE49-F238E27FC236}">
                <a16:creationId xmlns:a16="http://schemas.microsoft.com/office/drawing/2014/main" id="{D53AB977-C647-89E2-3A33-3286EB7FE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705560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37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4BC4-68D8-E691-3077-6484A0F8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026E29-2B04-178A-DE6B-6FEBF912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62" y="613867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Tone for Various Content Genres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3A5E681-C1F7-04B7-081C-1152289C5637}"/>
              </a:ext>
            </a:extLst>
          </p:cNvPr>
          <p:cNvSpPr/>
          <p:nvPr/>
        </p:nvSpPr>
        <p:spPr>
          <a:xfrm>
            <a:off x="471352" y="2367564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LOCAL SERIES &amp; FILMS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Familiar, emotionally close, culturally grounded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Stories that feel instantly ours - local faces, real emotions, everyday life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Warm, human, never overdone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02D06E4-55AA-067F-3AB2-7D22C3511B49}"/>
              </a:ext>
            </a:extLst>
          </p:cNvPr>
          <p:cNvSpPr/>
          <p:nvPr/>
        </p:nvSpPr>
        <p:spPr>
          <a:xfrm>
            <a:off x="3358121" y="2375349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REALITY &amp; ENTERTAINMENT</a:t>
            </a:r>
            <a:endParaRPr kumimoji="0" lang="sk-SK" sz="14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High emotion, big moments, instantly shareable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 is most lively here - playful, bold, built for reactions and conversation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EE990B0F-70EB-28C8-CD72-3279DE2D473E}"/>
              </a:ext>
            </a:extLst>
          </p:cNvPr>
          <p:cNvSpPr/>
          <p:nvPr/>
        </p:nvSpPr>
        <p:spPr>
          <a:xfrm>
            <a:off x="6212781" y="2375349"/>
            <a:ext cx="2737879" cy="4034045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High energy, premium excitement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Immediate, high-stakes moments - bold, clear, never chaotic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DDEF06C0-82DD-6910-0E23-36C8F3CB5E01}"/>
              </a:ext>
            </a:extLst>
          </p:cNvPr>
          <p:cNvSpPr/>
          <p:nvPr/>
        </p:nvSpPr>
        <p:spPr>
          <a:xfrm>
            <a:off x="9067441" y="2343807"/>
            <a:ext cx="2737879" cy="4034044"/>
          </a:xfrm>
          <a:prstGeom prst="roundRect">
            <a:avLst>
              <a:gd name="adj" fmla="val 4647"/>
            </a:avLst>
          </a:prstGeom>
          <a:noFill/>
          <a:ln w="12700">
            <a:solidFill>
              <a:srgbClr val="FFFB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BLOCKBUSTERS &amp; ACQUIRED HITS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Big entertainment, clearly chosen for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Global hits, presented through VOYO’s selection - not endless browsing</a:t>
            </a: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5CF8F610-15DE-9EED-378E-E9B3D35F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5" y="1521412"/>
            <a:ext cx="11419195" cy="413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VOYO</a:t>
            </a:r>
            <a:r>
              <a:rPr lang="en-US" sz="1800" dirty="0">
                <a:latin typeface="Gotham Black"/>
                <a:ea typeface="Roboto" panose="02000000000000000000" pitchFamily="2" charset="0"/>
                <a:cs typeface="Roboto" panose="02000000000000000000" pitchFamily="2" charset="0"/>
              </a:rPr>
              <a:t> always sounds familiar and confident. The energy and emotional register adapt to the content.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34D21012-B9B7-1EE4-513C-860CB9354971}"/>
              </a:ext>
            </a:extLst>
          </p:cNvPr>
          <p:cNvSpPr txBox="1"/>
          <p:nvPr/>
        </p:nvSpPr>
        <p:spPr>
          <a:xfrm>
            <a:off x="471352" y="5480905"/>
            <a:ext cx="262203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Example: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“A local story that feels instantly yours. Ready on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.</a:t>
            </a: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CDC69996-F81A-AEE1-7E2B-6AE14796EAFE}"/>
              </a:ext>
            </a:extLst>
          </p:cNvPr>
          <p:cNvSpPr txBox="1"/>
          <p:nvPr/>
        </p:nvSpPr>
        <p:spPr>
          <a:xfrm>
            <a:off x="3373705" y="5480905"/>
            <a:ext cx="270670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Example:</a:t>
            </a:r>
            <a:endParaRPr kumimoji="0" lang="sk-SK" sz="1100" b="1" i="0" u="none" strike="noStrike" kern="1200" cap="none" spc="0" normalizeH="0" baseline="0" noProof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“The moments everyone will be talking about. Watch it first on VOYO.”</a:t>
            </a:r>
          </a:p>
        </p:txBody>
      </p:sp>
      <p:sp>
        <p:nvSpPr>
          <p:cNvPr id="16" name="BlokTextu 15">
            <a:extLst>
              <a:ext uri="{FF2B5EF4-FFF2-40B4-BE49-F238E27FC236}">
                <a16:creationId xmlns:a16="http://schemas.microsoft.com/office/drawing/2014/main" id="{E2064A56-69F7-541F-10D1-2AA23A06A21D}"/>
              </a:ext>
            </a:extLst>
          </p:cNvPr>
          <p:cNvSpPr txBox="1"/>
          <p:nvPr/>
        </p:nvSpPr>
        <p:spPr>
          <a:xfrm>
            <a:off x="6244890" y="5480905"/>
            <a:ext cx="26615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Example: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“Kick-off is live on VOYO. Every moment, ready when you are.”</a:t>
            </a:r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55FB74AE-91B6-C6E4-2D7D-0DB06776FB1C}"/>
              </a:ext>
            </a:extLst>
          </p:cNvPr>
          <p:cNvSpPr txBox="1"/>
          <p:nvPr/>
        </p:nvSpPr>
        <p:spPr>
          <a:xfrm>
            <a:off x="9067441" y="5480905"/>
            <a:ext cx="265320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spcBef>
                <a:spcPts val="600"/>
              </a:spcBef>
              <a:defRPr sz="1400" b="1">
                <a:solidFill>
                  <a:srgbClr val="FFFBB1"/>
                </a:solidFill>
                <a:latin typeface="Gotham Book" panose="0200060404000002000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Example: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“Tonight’s blockbuster pick, ready on VOYO.”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18D3A9C4-1F33-97E4-1F59-C6EAB019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7C4601CA-DD5B-6938-800D-7E5E8016EA6A}"/>
              </a:ext>
            </a:extLst>
          </p:cNvPr>
          <p:cNvCxnSpPr>
            <a:cxnSpLocks/>
          </p:cNvCxnSpPr>
          <p:nvPr/>
        </p:nvCxnSpPr>
        <p:spPr>
          <a:xfrm flipH="1">
            <a:off x="1162050" y="5106580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Rovná spojnica 4">
            <a:extLst>
              <a:ext uri="{FF2B5EF4-FFF2-40B4-BE49-F238E27FC236}">
                <a16:creationId xmlns:a16="http://schemas.microsoft.com/office/drawing/2014/main" id="{0F579B2A-35F1-8628-2907-E9AA48D556AF}"/>
              </a:ext>
            </a:extLst>
          </p:cNvPr>
          <p:cNvCxnSpPr>
            <a:cxnSpLocks/>
          </p:cNvCxnSpPr>
          <p:nvPr/>
        </p:nvCxnSpPr>
        <p:spPr>
          <a:xfrm flipH="1">
            <a:off x="4095750" y="5098235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Rovná spojnica 4">
            <a:extLst>
              <a:ext uri="{FF2B5EF4-FFF2-40B4-BE49-F238E27FC236}">
                <a16:creationId xmlns:a16="http://schemas.microsoft.com/office/drawing/2014/main" id="{E343DF2A-6698-24A0-3D6A-6049F5A31EBD}"/>
              </a:ext>
            </a:extLst>
          </p:cNvPr>
          <p:cNvCxnSpPr>
            <a:cxnSpLocks/>
          </p:cNvCxnSpPr>
          <p:nvPr/>
        </p:nvCxnSpPr>
        <p:spPr>
          <a:xfrm flipH="1">
            <a:off x="6934200" y="5091070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Rovná spojnica 4">
            <a:extLst>
              <a:ext uri="{FF2B5EF4-FFF2-40B4-BE49-F238E27FC236}">
                <a16:creationId xmlns:a16="http://schemas.microsoft.com/office/drawing/2014/main" id="{8D65B530-D6F7-1876-3E41-8C396DA39BF0}"/>
              </a:ext>
            </a:extLst>
          </p:cNvPr>
          <p:cNvCxnSpPr>
            <a:cxnSpLocks/>
          </p:cNvCxnSpPr>
          <p:nvPr/>
        </p:nvCxnSpPr>
        <p:spPr>
          <a:xfrm flipH="1">
            <a:off x="9867900" y="5086265"/>
            <a:ext cx="1303123" cy="0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48646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05C8-FCD6-A5D8-4DDB-6D5D28D7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C9E30FD8-7481-DFCE-CE9B-228AD4D55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5.2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F8C942DC-A717-9778-B15D-A14FB1FDE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latin typeface="Gotham Black"/>
              </a:rPr>
              <a:t>Visual</a:t>
            </a:r>
            <a:r>
              <a:rPr lang="en-US" sz="6600" dirty="0">
                <a:latin typeface="Gotham Black"/>
              </a:rPr>
              <a:t> Identity</a:t>
            </a:r>
            <a:endParaRPr lang="sk-SK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673888D2-015E-5CAD-8FFF-C51CA0D3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38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96C3AD-9BC4-A029-DA87-821F1922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Logo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F0A953E-F3EC-6E98-7248-3DFEA0971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43616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primary VOYO logo combines the original VOYO wordmark with the signature comet underline.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comet extends from left to right and transitions into a transparent gradient, creating a sense of motion and continuity.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1CFEAAA-C50F-2E6C-D636-CF86D418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Obrázok 4" descr="Obrázok, na ktorom je písmo, grafika, logo, snímka obrazovky&#10;&#10;Automaticky generovaný popis">
            <a:extLst>
              <a:ext uri="{FF2B5EF4-FFF2-40B4-BE49-F238E27FC236}">
                <a16:creationId xmlns:a16="http://schemas.microsoft.com/office/drawing/2014/main" id="{B80C38ED-F972-1413-35DC-88876EE66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8" t="16892" r="7581" b="14614"/>
          <a:stretch>
            <a:fillRect/>
          </a:stretch>
        </p:blipFill>
        <p:spPr>
          <a:xfrm>
            <a:off x="155449" y="3903345"/>
            <a:ext cx="5303520" cy="2660904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0FD9FDC7-14F9-4E2D-CFFF-9342F5C8B1F9}"/>
              </a:ext>
            </a:extLst>
          </p:cNvPr>
          <p:cNvSpPr txBox="1"/>
          <p:nvPr/>
        </p:nvSpPr>
        <p:spPr>
          <a:xfrm>
            <a:off x="1857327" y="4191406"/>
            <a:ext cx="13494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Full-colour</a:t>
            </a:r>
            <a:r>
              <a:rPr kumimoji="0" lang="sk-SK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logo</a:t>
            </a:r>
          </a:p>
        </p:txBody>
      </p:sp>
      <p:sp>
        <p:nvSpPr>
          <p:cNvPr id="9" name="Obdĺžnik 8">
            <a:extLst>
              <a:ext uri="{FF2B5EF4-FFF2-40B4-BE49-F238E27FC236}">
                <a16:creationId xmlns:a16="http://schemas.microsoft.com/office/drawing/2014/main" id="{734125C9-93C9-2158-CDA7-F2DE2406C9C4}"/>
              </a:ext>
            </a:extLst>
          </p:cNvPr>
          <p:cNvSpPr/>
          <p:nvPr/>
        </p:nvSpPr>
        <p:spPr>
          <a:xfrm>
            <a:off x="7690704" y="1885072"/>
            <a:ext cx="3988800" cy="22417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Obrázok 9" descr="Obrázok, na ktorom je písmo, grafika, čierno-biela, čierny&#10;&#10;Automaticky generovaný popis">
            <a:extLst>
              <a:ext uri="{FF2B5EF4-FFF2-40B4-BE49-F238E27FC236}">
                <a16:creationId xmlns:a16="http://schemas.microsoft.com/office/drawing/2014/main" id="{2F07C28D-75E5-77F9-A09E-23D59D058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7" t="21435" r="20794" b="21434"/>
          <a:stretch>
            <a:fillRect/>
          </a:stretch>
        </p:blipFill>
        <p:spPr>
          <a:xfrm>
            <a:off x="7690705" y="1885072"/>
            <a:ext cx="4039478" cy="2241798"/>
          </a:xfrm>
          <a:prstGeom prst="rect">
            <a:avLst/>
          </a:prstGeom>
        </p:spPr>
      </p:pic>
      <p:sp>
        <p:nvSpPr>
          <p:cNvPr id="11" name="Obdĺžnik 10">
            <a:extLst>
              <a:ext uri="{FF2B5EF4-FFF2-40B4-BE49-F238E27FC236}">
                <a16:creationId xmlns:a16="http://schemas.microsoft.com/office/drawing/2014/main" id="{AFFD898C-D590-0736-9F3A-2769AE018BDD}"/>
              </a:ext>
            </a:extLst>
          </p:cNvPr>
          <p:cNvSpPr/>
          <p:nvPr/>
        </p:nvSpPr>
        <p:spPr>
          <a:xfrm>
            <a:off x="7690704" y="4097205"/>
            <a:ext cx="3988800" cy="224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Obrázok 11" descr="Obrázok, na ktorom je čierny, čierno-biela, temnota, grafika&#10;&#10;Automaticky generovaný popis">
            <a:extLst>
              <a:ext uri="{FF2B5EF4-FFF2-40B4-BE49-F238E27FC236}">
                <a16:creationId xmlns:a16="http://schemas.microsoft.com/office/drawing/2014/main" id="{BCCEC2A4-8B3B-8BE0-FCE1-86724B439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79" t="21892" r="24789" b="20948"/>
          <a:stretch>
            <a:fillRect/>
          </a:stretch>
        </p:blipFill>
        <p:spPr>
          <a:xfrm>
            <a:off x="7690704" y="4097204"/>
            <a:ext cx="3988800" cy="2241799"/>
          </a:xfrm>
          <a:prstGeom prst="rect">
            <a:avLst/>
          </a:prstGeom>
        </p:spPr>
      </p:pic>
      <p:sp>
        <p:nvSpPr>
          <p:cNvPr id="14" name="BlokTextu 13">
            <a:extLst>
              <a:ext uri="{FF2B5EF4-FFF2-40B4-BE49-F238E27FC236}">
                <a16:creationId xmlns:a16="http://schemas.microsoft.com/office/drawing/2014/main" id="{BAF6F223-49ED-D600-7830-24E1B854D13D}"/>
              </a:ext>
            </a:extLst>
          </p:cNvPr>
          <p:cNvSpPr txBox="1"/>
          <p:nvPr/>
        </p:nvSpPr>
        <p:spPr>
          <a:xfrm>
            <a:off x="5615942" y="2690500"/>
            <a:ext cx="2069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White logo on dark backgrounds</a:t>
            </a:r>
            <a:endParaRPr kumimoji="0" lang="sk-SK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68A1E28F-BB8D-30CA-6075-D751B0F39BFB}"/>
              </a:ext>
            </a:extLst>
          </p:cNvPr>
          <p:cNvSpPr txBox="1"/>
          <p:nvPr/>
        </p:nvSpPr>
        <p:spPr>
          <a:xfrm>
            <a:off x="5698259" y="4926317"/>
            <a:ext cx="20695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Black logo on light backgrounds</a:t>
            </a:r>
            <a:endParaRPr kumimoji="0" lang="sk-SK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F9867FE0-C2CA-A7E1-E77A-7074110DA276}"/>
              </a:ext>
            </a:extLst>
          </p:cNvPr>
          <p:cNvSpPr txBox="1"/>
          <p:nvPr/>
        </p:nvSpPr>
        <p:spPr>
          <a:xfrm>
            <a:off x="461818" y="6110129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Use only approved logo versions. Do not modify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, proportions, or effects.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5731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5B4C-B06D-F902-E152-7384C104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F6A6EC-E71A-8F37-4AC9-34793857F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>
                <a:latin typeface="Gotham Black"/>
              </a:rPr>
              <a:t>V </a:t>
            </a:r>
            <a:r>
              <a:rPr lang="sk-SK" dirty="0" err="1">
                <a:latin typeface="Gotham Black"/>
              </a:rPr>
              <a:t>Icon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2C1BFD8-08EE-B5BC-CCC2-C0D9F786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0B216525-B41B-CEA1-9137-2CC2F798E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52277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V icon is created from the VOYO logotype symbol and paired with the signature comet underline.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underline flows into a transparent gradient, preserving the sense of motion and continuity present in the full logo.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the V icon in app icons, favicons, and compact digital placements.</a:t>
            </a: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CCF6E2D-95A3-3721-8FE6-DF578D3339AE}"/>
              </a:ext>
            </a:extLst>
          </p:cNvPr>
          <p:cNvSpPr txBox="1"/>
          <p:nvPr/>
        </p:nvSpPr>
        <p:spPr>
          <a:xfrm>
            <a:off x="461818" y="6102434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he V icon should not replace the primary logo in brand communication.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3" name="Obrázok 2" descr="Obrázok, na ktorom je logo, grafika, dizajn&#10;&#10;Automaticky generovaný popis">
            <a:extLst>
              <a:ext uri="{FF2B5EF4-FFF2-40B4-BE49-F238E27FC236}">
                <a16:creationId xmlns:a16="http://schemas.microsoft.com/office/drawing/2014/main" id="{82638C6A-593C-B81F-8A8C-F09F73237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54" y="2542954"/>
            <a:ext cx="2979146" cy="297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6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AA04E1-188D-DCD2-EC51-F4690171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/>
              <a:t>Primary</a:t>
            </a:r>
            <a:r>
              <a:rPr lang="sk-SK" dirty="0"/>
              <a:t> </a:t>
            </a:r>
            <a:r>
              <a:rPr lang="sk-SK" dirty="0" err="1"/>
              <a:t>Typography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28326B0-4CFD-28EB-01D3-68EF2D1F6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9" y="1825625"/>
            <a:ext cx="3337774" cy="175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Gotham Black"/>
              </a:rPr>
              <a:t>Gotham</a:t>
            </a:r>
            <a:r>
              <a:rPr lang="en-US" sz="1800">
                <a:latin typeface="Gotham Black"/>
              </a:rPr>
              <a:t> is the primary typeface used across VOYO communications.</a:t>
            </a:r>
            <a:endParaRPr lang="sk-SK" sz="1800">
              <a:latin typeface="Montserrat" panose="00000500000000000000" pitchFamily="2" charset="0"/>
            </a:endParaRPr>
          </a:p>
          <a:p>
            <a:pPr marL="0" indent="0">
              <a:buNone/>
            </a:pPr>
            <a:endParaRPr lang="sk-SK" sz="1800" dirty="0">
              <a:latin typeface="Montserrat" panose="00000500000000000000" pitchFamily="2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1BE6B96-03D9-3E7E-EC68-242B2FC2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957C2FB4-FADF-4B8E-EDDA-45BC39DA7CAE}"/>
              </a:ext>
            </a:extLst>
          </p:cNvPr>
          <p:cNvSpPr txBox="1"/>
          <p:nvPr/>
        </p:nvSpPr>
        <p:spPr>
          <a:xfrm>
            <a:off x="8165054" y="1985923"/>
            <a:ext cx="3320140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ABCDEFGHIJKLMN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OPQRSTUVWXYZ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a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o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áãæčçćěéęĕğíłňń</a:t>
            </a:r>
            <a:endParaRPr kumimoji="0" lang="sk-SK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ó</a:t>
            </a:r>
            <a:r>
              <a:rPr kumimoji="0" lang="sk-SK" sz="25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Medium" pitchFamily="50" charset="0"/>
                <a:ea typeface="+mn-ea"/>
                <a:cs typeface="Arial" panose="020B0604020202020204" pitchFamily="34" charset="0"/>
              </a:rPr>
              <a:t>ŏ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ôřŕšśťțů</a:t>
            </a:r>
            <a:r>
              <a:rPr kumimoji="0" lang="hu-HU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ű</a:t>
            </a: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ý</a:t>
            </a:r>
            <a:r>
              <a:rPr kumimoji="0" lang="cy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ŷ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žź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0123456789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:;!?#$7£@%()[]</a:t>
            </a:r>
            <a:endParaRPr kumimoji="0" lang="sk-SK" sz="2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D550BFA-3372-AFEB-D766-D3E5B6653F93}"/>
              </a:ext>
            </a:extLst>
          </p:cNvPr>
          <p:cNvSpPr txBox="1"/>
          <p:nvPr/>
        </p:nvSpPr>
        <p:spPr>
          <a:xfrm>
            <a:off x="4701433" y="2339037"/>
            <a:ext cx="3337773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Light" pitchFamily="50" charset="0"/>
                <a:ea typeface="+mn-ea"/>
                <a:cs typeface="Golos Text Medium" panose="020B0503020202020204" pitchFamily="34" charset="0"/>
              </a:rPr>
              <a:t>Light</a:t>
            </a:r>
            <a:r>
              <a:rPr kumimoji="0" lang="sk-SK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Light" pitchFamily="50" charset="0"/>
                <a:ea typeface="+mn-ea"/>
                <a:cs typeface="Golos Text Medium" panose="020B0503020202020204" pitchFamily="34" charset="0"/>
              </a:rPr>
              <a:t>, </a:t>
            </a:r>
            <a:r>
              <a:rPr kumimoji="0" lang="sk-SK" sz="35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Light" pitchFamily="50" charset="0"/>
                <a:ea typeface="+mn-ea"/>
                <a:cs typeface="Golos Text Medium" panose="020B0503020202020204" pitchFamily="34" charset="0"/>
              </a:rPr>
              <a:t>Italic</a:t>
            </a:r>
            <a:endParaRPr kumimoji="0" lang="sk-SK" sz="35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Light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 pitchFamily="50" charset="0"/>
                <a:ea typeface="+mn-ea"/>
                <a:cs typeface="Golos Text Medium" panose="020B0503020202020204" pitchFamily="34" charset="0"/>
              </a:rPr>
              <a:t>Book</a:t>
            </a:r>
            <a:r>
              <a:rPr kumimoji="0" lang="sk-SK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 pitchFamily="50" charset="0"/>
                <a:ea typeface="+mn-ea"/>
                <a:cs typeface="Golos Text Medium" panose="020B0503020202020204" pitchFamily="34" charset="0"/>
              </a:rPr>
              <a:t>, </a:t>
            </a:r>
            <a:r>
              <a:rPr kumimoji="0" lang="sk-SK" sz="35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ok" pitchFamily="50" charset="0"/>
                <a:ea typeface="+mn-ea"/>
                <a:cs typeface="Golos Text Medium" panose="020B0503020202020204" pitchFamily="34" charset="0"/>
              </a:rPr>
              <a:t>Italic</a:t>
            </a:r>
            <a:endParaRPr kumimoji="0" lang="sk-SK" sz="35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ok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Medium</a:t>
            </a:r>
            <a:r>
              <a:rPr kumimoji="0" lang="sk-SK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, </a:t>
            </a:r>
            <a:r>
              <a:rPr kumimoji="0" lang="sk-SK" sz="35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Italic</a:t>
            </a:r>
            <a:endParaRPr kumimoji="0" lang="sk-SK" sz="35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3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ld" pitchFamily="50" charset="0"/>
                <a:ea typeface="+mn-ea"/>
                <a:cs typeface="Golos Text Medium" panose="020B0503020202020204" pitchFamily="34" charset="0"/>
              </a:rPr>
              <a:t>Bold</a:t>
            </a:r>
            <a:r>
              <a:rPr kumimoji="0" lang="sk-SK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ld" pitchFamily="50" charset="0"/>
                <a:ea typeface="+mn-ea"/>
                <a:cs typeface="Golos Text Medium" panose="020B0503020202020204" pitchFamily="34" charset="0"/>
              </a:rPr>
              <a:t>, </a:t>
            </a:r>
            <a:r>
              <a:rPr kumimoji="0" lang="sk-SK" sz="35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old" pitchFamily="50" charset="0"/>
                <a:ea typeface="+mn-ea"/>
                <a:cs typeface="Golos Text Medium" panose="020B0503020202020204" pitchFamily="34" charset="0"/>
              </a:rPr>
              <a:t>Italic</a:t>
            </a:r>
            <a:endParaRPr kumimoji="0" lang="sk-SK" sz="35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Bold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 pitchFamily="50" charset="0"/>
                <a:ea typeface="+mn-ea"/>
                <a:cs typeface="Golos Text Medium" panose="020B0503020202020204" pitchFamily="34" charset="0"/>
              </a:rPr>
              <a:t>Black, </a:t>
            </a:r>
            <a:r>
              <a:rPr kumimoji="0" lang="sk-SK" sz="3500" b="0" i="1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Black" pitchFamily="50" charset="0"/>
                <a:ea typeface="+mn-ea"/>
                <a:cs typeface="Golos Text Medium" panose="020B0503020202020204" pitchFamily="34" charset="0"/>
              </a:rPr>
              <a:t>Italic</a:t>
            </a:r>
            <a:endParaRPr kumimoji="0" lang="sk-SK" sz="35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 pitchFamily="50" charset="0"/>
              <a:ea typeface="+mn-ea"/>
              <a:cs typeface="Golos Text Medium" panose="020B0503020202020204" pitchFamily="34" charset="0"/>
            </a:endParaRPr>
          </a:p>
        </p:txBody>
      </p:sp>
      <p:cxnSp>
        <p:nvCxnSpPr>
          <p:cNvPr id="7" name="Rovná spojnica 4">
            <a:extLst>
              <a:ext uri="{FF2B5EF4-FFF2-40B4-BE49-F238E27FC236}">
                <a16:creationId xmlns:a16="http://schemas.microsoft.com/office/drawing/2014/main" id="{0D3593F3-77CB-844B-998C-EEB8015B844D}"/>
              </a:ext>
            </a:extLst>
          </p:cNvPr>
          <p:cNvCxnSpPr>
            <a:cxnSpLocks/>
          </p:cNvCxnSpPr>
          <p:nvPr/>
        </p:nvCxnSpPr>
        <p:spPr>
          <a:xfrm>
            <a:off x="4189198" y="323015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Rovná spojnica 4">
            <a:extLst>
              <a:ext uri="{FF2B5EF4-FFF2-40B4-BE49-F238E27FC236}">
                <a16:creationId xmlns:a16="http://schemas.microsoft.com/office/drawing/2014/main" id="{22296364-C709-0984-1281-3F6F53D8C9DF}"/>
              </a:ext>
            </a:extLst>
          </p:cNvPr>
          <p:cNvCxnSpPr>
            <a:cxnSpLocks/>
          </p:cNvCxnSpPr>
          <p:nvPr/>
        </p:nvCxnSpPr>
        <p:spPr>
          <a:xfrm>
            <a:off x="7808698" y="3325405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BlokTextu 9">
            <a:extLst>
              <a:ext uri="{FF2B5EF4-FFF2-40B4-BE49-F238E27FC236}">
                <a16:creationId xmlns:a16="http://schemas.microsoft.com/office/drawing/2014/main" id="{EF831674-ACD9-B896-E510-B9121B707D9F}"/>
              </a:ext>
            </a:extLst>
          </p:cNvPr>
          <p:cNvSpPr txBox="1"/>
          <p:nvPr/>
        </p:nvSpPr>
        <p:spPr>
          <a:xfrm>
            <a:off x="461818" y="6079351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Supports Central European characters and extended Latin set.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145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9AE273-9021-65A7-2F03-C73031DBE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Alternative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Typography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48C694-AFD2-4FD3-33EF-78B0DFB0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2196306"/>
            <a:ext cx="2738578" cy="360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When </a:t>
            </a:r>
            <a:r>
              <a:rPr lang="en-US" sz="1800" b="1" dirty="0">
                <a:latin typeface="Gotham Black"/>
              </a:rPr>
              <a:t>Gotham</a:t>
            </a:r>
            <a:r>
              <a:rPr lang="en-US" sz="1800" dirty="0">
                <a:latin typeface="Gotham Black"/>
              </a:rPr>
              <a:t> is unavailable, </a:t>
            </a:r>
            <a:r>
              <a:rPr lang="en-US" sz="1800" b="1" dirty="0">
                <a:latin typeface="Gotham Black"/>
              </a:rPr>
              <a:t>Arial</a:t>
            </a:r>
            <a:r>
              <a:rPr lang="en-US" sz="1800" dirty="0">
                <a:latin typeface="Gotham Black"/>
              </a:rPr>
              <a:t> serves as the approved fallback typeface.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Arial only in environments where Gotham cannot be embedded or supported.</a:t>
            </a:r>
          </a:p>
          <a:p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97CEEF3-930B-CFFC-F3F7-CD72BF11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D3393FFC-34BD-D097-BAE2-5FB4A3CC9167}"/>
              </a:ext>
            </a:extLst>
          </p:cNvPr>
          <p:cNvSpPr txBox="1"/>
          <p:nvPr/>
        </p:nvSpPr>
        <p:spPr>
          <a:xfrm>
            <a:off x="4396292" y="3578428"/>
            <a:ext cx="3320140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ABCDEFGHIJKLMN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OPQRSTUVWXYZ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a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o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CCD2E4A-FAED-F7FD-4A93-87DDE0414E06}"/>
              </a:ext>
            </a:extLst>
          </p:cNvPr>
          <p:cNvSpPr txBox="1"/>
          <p:nvPr/>
        </p:nvSpPr>
        <p:spPr>
          <a:xfrm>
            <a:off x="8628051" y="3578427"/>
            <a:ext cx="3102131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k-SK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bcdefghijklmn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r>
              <a:rPr kumimoji="0" lang="sk-SK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pqrstuvwxyz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B955BE82-7511-D6BF-06FF-9D4DDD725466}"/>
              </a:ext>
            </a:extLst>
          </p:cNvPr>
          <p:cNvSpPr txBox="1"/>
          <p:nvPr/>
        </p:nvSpPr>
        <p:spPr>
          <a:xfrm>
            <a:off x="4396292" y="1711760"/>
            <a:ext cx="198483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otham Medium" pitchFamily="50" charset="0"/>
                <a:ea typeface="+mn-ea"/>
                <a:cs typeface="Golos Text Medium" panose="020B0503020202020204" pitchFamily="34" charset="0"/>
              </a:rPr>
              <a:t>Gotham</a:t>
            </a: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otham Medium" pitchFamily="50" charset="0"/>
              <a:ea typeface="+mn-ea"/>
              <a:cs typeface="Golos Text Medium" panose="020B0503020202020204" pitchFamily="34" charset="0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7A23D1E-77EB-375B-2500-DAEEB913E0FD}"/>
              </a:ext>
            </a:extLst>
          </p:cNvPr>
          <p:cNvSpPr txBox="1"/>
          <p:nvPr/>
        </p:nvSpPr>
        <p:spPr>
          <a:xfrm>
            <a:off x="8628051" y="1807254"/>
            <a:ext cx="1082348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Arial</a:t>
            </a:r>
            <a:endParaRPr kumimoji="0" lang="en-GB" sz="3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9" name="Rovná spojnica 4">
            <a:extLst>
              <a:ext uri="{FF2B5EF4-FFF2-40B4-BE49-F238E27FC236}">
                <a16:creationId xmlns:a16="http://schemas.microsoft.com/office/drawing/2014/main" id="{B3C1855D-5241-2854-8576-0CA44B58721E}"/>
              </a:ext>
            </a:extLst>
          </p:cNvPr>
          <p:cNvCxnSpPr>
            <a:cxnSpLocks/>
          </p:cNvCxnSpPr>
          <p:nvPr/>
        </p:nvCxnSpPr>
        <p:spPr>
          <a:xfrm>
            <a:off x="4189198" y="3956662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Rovná spojnica 4">
            <a:extLst>
              <a:ext uri="{FF2B5EF4-FFF2-40B4-BE49-F238E27FC236}">
                <a16:creationId xmlns:a16="http://schemas.microsoft.com/office/drawing/2014/main" id="{E6610BFC-35D7-F060-1549-DD16C8195452}"/>
              </a:ext>
            </a:extLst>
          </p:cNvPr>
          <p:cNvCxnSpPr>
            <a:cxnSpLocks/>
          </p:cNvCxnSpPr>
          <p:nvPr/>
        </p:nvCxnSpPr>
        <p:spPr>
          <a:xfrm>
            <a:off x="7808698" y="4051912"/>
            <a:ext cx="0" cy="1068965"/>
          </a:xfrm>
          <a:prstGeom prst="line">
            <a:avLst/>
          </a:prstGeom>
          <a:noFill/>
          <a:ln w="41275">
            <a:gradFill flip="none" rotWithShape="1">
              <a:gsLst>
                <a:gs pos="0">
                  <a:srgbClr val="FFFBB1"/>
                </a:gs>
                <a:gs pos="100000">
                  <a:srgbClr val="DB9E0A">
                    <a:alpha val="99000"/>
                  </a:srgb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03665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0D7CE0-5DCE-20A3-16BE-2F6F4C78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Sub-brand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Logos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473EB7E-2B52-C149-5C23-7E39FB74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Obrázok 4" descr="Obrázok, na ktorom je text, snímka obrazovky, písmo, dizajn&#10;&#10;Automaticky generovaný popis">
            <a:extLst>
              <a:ext uri="{FF2B5EF4-FFF2-40B4-BE49-F238E27FC236}">
                <a16:creationId xmlns:a16="http://schemas.microsoft.com/office/drawing/2014/main" id="{11B02FA3-CD3A-5559-8E14-856A902A1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4" t="21887" r="17918" b="17185"/>
          <a:stretch>
            <a:fillRect/>
          </a:stretch>
        </p:blipFill>
        <p:spPr>
          <a:xfrm>
            <a:off x="4807670" y="1998482"/>
            <a:ext cx="6796726" cy="4178482"/>
          </a:xfrm>
          <a:prstGeom prst="rect">
            <a:avLst/>
          </a:prstGeom>
        </p:spPr>
      </p:pic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6C19FE74-2268-1D5E-79B6-FEB7F59F6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43616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Sub-brand logos are set in </a:t>
            </a:r>
            <a:r>
              <a:rPr lang="en-US" sz="1800" b="1" dirty="0">
                <a:latin typeface="Gotham Black"/>
              </a:rPr>
              <a:t>Gotham Medium</a:t>
            </a:r>
            <a:r>
              <a:rPr lang="en-US" sz="1800" dirty="0">
                <a:latin typeface="Gotham Black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The VOYO master logo is always used in its original form, followed by a descriptor that identifies the content category.</a:t>
            </a:r>
          </a:p>
          <a:p>
            <a:endParaRPr lang="sk-SK" sz="1800" dirty="0">
              <a:latin typeface="Gotham Black"/>
            </a:endParaRP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Descriptors may be </a:t>
            </a:r>
            <a:r>
              <a:rPr lang="en-US" sz="1800" dirty="0" err="1">
                <a:latin typeface="Gotham Black"/>
              </a:rPr>
              <a:t>localised</a:t>
            </a:r>
            <a:r>
              <a:rPr lang="en-US" sz="1800" dirty="0">
                <a:latin typeface="Gotham Black"/>
              </a:rPr>
              <a:t> to match market language.</a:t>
            </a: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  <a:p>
            <a:pPr marL="0" indent="0">
              <a:buNone/>
            </a:pPr>
            <a:endParaRPr lang="sk-SK" sz="1800" dirty="0">
              <a:latin typeface="Gotham Black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E9DC9930-0174-1C7A-2E32-9EF02D0B2060}"/>
              </a:ext>
            </a:extLst>
          </p:cNvPr>
          <p:cNvSpPr txBox="1"/>
          <p:nvPr/>
        </p:nvSpPr>
        <p:spPr>
          <a:xfrm>
            <a:off x="461818" y="6079351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Do not alter typography, spacing, or proportions.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00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9B2DCE-5630-8792-5C6A-1FC225AA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Primary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Colours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7861836-C0BC-A44E-759D-EAA22566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48CBCAD-5310-DF5E-17CD-E2041D3EFF48}"/>
              </a:ext>
            </a:extLst>
          </p:cNvPr>
          <p:cNvSpPr txBox="1"/>
          <p:nvPr/>
        </p:nvSpPr>
        <p:spPr>
          <a:xfrm>
            <a:off x="461818" y="1862251"/>
            <a:ext cx="11436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VOYO’s primary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palette consists of four core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that form the signature brand gradient.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 gradient should be used across backgrounds, key visuals, and digital environments.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Obdĺžnik 7">
            <a:extLst>
              <a:ext uri="{FF2B5EF4-FFF2-40B4-BE49-F238E27FC236}">
                <a16:creationId xmlns:a16="http://schemas.microsoft.com/office/drawing/2014/main" id="{64E44B4A-43E7-15A2-5846-BFF18EE9A6BA}"/>
              </a:ext>
            </a:extLst>
          </p:cNvPr>
          <p:cNvSpPr/>
          <p:nvPr/>
        </p:nvSpPr>
        <p:spPr>
          <a:xfrm>
            <a:off x="0" y="3133060"/>
            <a:ext cx="12192000" cy="2835349"/>
          </a:xfrm>
          <a:prstGeom prst="rect">
            <a:avLst/>
          </a:prstGeom>
          <a:gradFill>
            <a:gsLst>
              <a:gs pos="917">
                <a:schemeClr val="tx1">
                  <a:alpha val="0"/>
                </a:schemeClr>
              </a:gs>
              <a:gs pos="58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5CF788F4-7575-1996-A737-9FD03B4B7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836" y="3572172"/>
            <a:ext cx="7726326" cy="804826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BFF4B15B-5518-A9BC-0BCE-5EE3C56AF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4759475"/>
            <a:ext cx="7726326" cy="804825"/>
          </a:xfrm>
          <a:prstGeom prst="rect">
            <a:avLst/>
          </a:prstGeom>
        </p:spPr>
      </p:pic>
      <p:sp>
        <p:nvSpPr>
          <p:cNvPr id="12" name="BlokTextu 11">
            <a:extLst>
              <a:ext uri="{FF2B5EF4-FFF2-40B4-BE49-F238E27FC236}">
                <a16:creationId xmlns:a16="http://schemas.microsoft.com/office/drawing/2014/main" id="{30418A37-042E-800C-B658-4D83E134E070}"/>
              </a:ext>
            </a:extLst>
          </p:cNvPr>
          <p:cNvSpPr txBox="1"/>
          <p:nvPr/>
        </p:nvSpPr>
        <p:spPr>
          <a:xfrm>
            <a:off x="461818" y="6096970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Do not alter the gradient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or sequence.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311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ĺžnik 4">
            <a:extLst>
              <a:ext uri="{FF2B5EF4-FFF2-40B4-BE49-F238E27FC236}">
                <a16:creationId xmlns:a16="http://schemas.microsoft.com/office/drawing/2014/main" id="{766E48BC-7029-BB98-8EFD-22679A8A3654}"/>
              </a:ext>
            </a:extLst>
          </p:cNvPr>
          <p:cNvSpPr/>
          <p:nvPr/>
        </p:nvSpPr>
        <p:spPr>
          <a:xfrm>
            <a:off x="4782312" y="742950"/>
            <a:ext cx="6897192" cy="611505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30000">
                <a:srgbClr val="000000"/>
              </a:gs>
              <a:gs pos="10000">
                <a:schemeClr val="tx1">
                  <a:alpha val="0"/>
                </a:schemeClr>
              </a:gs>
              <a:gs pos="89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E320961-23D4-6540-D84B-BE371A91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Primary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Background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C5A35E-F051-ED3F-8774-E7E00DB7C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Gotham Black"/>
              </a:rPr>
              <a:t>The primary background uses the VOYO brand gradient derived from the four core </a:t>
            </a:r>
            <a:r>
              <a:rPr lang="en-US" sz="1800" dirty="0" err="1">
                <a:latin typeface="Gotham Black"/>
              </a:rPr>
              <a:t>colours</a:t>
            </a:r>
            <a:r>
              <a:rPr lang="en-US" sz="1800" dirty="0">
                <a:latin typeface="Gotham Black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Gotham Black"/>
              </a:rPr>
              <a:t>Use this background for brand presentations, key visuals, and digital environments.</a:t>
            </a:r>
            <a:endParaRPr lang="sk-SK" sz="1800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7BEF1A3-478F-621A-777C-5B945863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D8346FF6-4F15-1A87-17E8-66242E736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0796" y="2395612"/>
            <a:ext cx="6173004" cy="347231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1517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dĺžnik 7">
            <a:extLst>
              <a:ext uri="{FF2B5EF4-FFF2-40B4-BE49-F238E27FC236}">
                <a16:creationId xmlns:a16="http://schemas.microsoft.com/office/drawing/2014/main" id="{A4346C0C-8006-C8C8-71DC-C4AE08259F66}"/>
              </a:ext>
            </a:extLst>
          </p:cNvPr>
          <p:cNvSpPr/>
          <p:nvPr/>
        </p:nvSpPr>
        <p:spPr>
          <a:xfrm>
            <a:off x="0" y="3133060"/>
            <a:ext cx="12192000" cy="2835349"/>
          </a:xfrm>
          <a:prstGeom prst="rect">
            <a:avLst/>
          </a:prstGeom>
          <a:gradFill>
            <a:gsLst>
              <a:gs pos="917">
                <a:schemeClr val="tx1">
                  <a:alpha val="0"/>
                </a:schemeClr>
              </a:gs>
              <a:gs pos="5800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8734C7F-18BC-0602-DC87-B038598B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Secondary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Colour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Palette</a:t>
            </a: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7C6448C-3B1A-D4B2-7D6D-4425B5F0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9B0AD654-2951-4A8D-AC8E-6C6E51648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3572172"/>
            <a:ext cx="7726326" cy="804825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BDF5CF4C-1E83-BE8F-0A67-5C5EBAEE2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2836" y="4759475"/>
            <a:ext cx="7726326" cy="804825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6EA5D5E3-DC03-A8A2-F62B-3594A8AAB423}"/>
              </a:ext>
            </a:extLst>
          </p:cNvPr>
          <p:cNvSpPr txBox="1"/>
          <p:nvPr/>
        </p:nvSpPr>
        <p:spPr>
          <a:xfrm>
            <a:off x="461818" y="1862251"/>
            <a:ext cx="11436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The secondary palette expands the primary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with additional tones, providing greater flexibility while maintaining visual consistency.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Use secondary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colours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to support layouts, highlights, and content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categorisation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.</a:t>
            </a:r>
            <a:endParaRPr kumimoji="0" lang="sk-SK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517D035F-3757-5258-1B05-16A2B94FFF91}"/>
              </a:ext>
            </a:extLst>
          </p:cNvPr>
          <p:cNvSpPr txBox="1"/>
          <p:nvPr/>
        </p:nvSpPr>
        <p:spPr>
          <a:xfrm>
            <a:off x="461818" y="6096971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sk-SK"/>
            </a:defPPr>
            <a:lvl1pPr>
              <a:defRPr sz="1050">
                <a:solidFill>
                  <a:schemeClr val="bg1"/>
                </a:solidFill>
                <a:latin typeface="Gotham Ligh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Light"/>
                <a:ea typeface="+mn-ea"/>
                <a:cs typeface="+mn-cs"/>
              </a:rPr>
              <a:t>Primary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Light"/>
                <a:ea typeface="+mn-ea"/>
                <a:cs typeface="+mn-cs"/>
              </a:rPr>
              <a:t>colours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Light"/>
                <a:ea typeface="+mn-ea"/>
                <a:cs typeface="+mn-cs"/>
              </a:rPr>
              <a:t> should remain dominant in brand communication.</a:t>
            </a:r>
            <a:endParaRPr kumimoji="0" lang="sk-SK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939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FB0C4-11A4-DE55-4D30-28F87A29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ĺžnik 4">
            <a:extLst>
              <a:ext uri="{FF2B5EF4-FFF2-40B4-BE49-F238E27FC236}">
                <a16:creationId xmlns:a16="http://schemas.microsoft.com/office/drawing/2014/main" id="{DCE25E1F-EF5A-0AE6-1312-E64884CEC31A}"/>
              </a:ext>
            </a:extLst>
          </p:cNvPr>
          <p:cNvSpPr/>
          <p:nvPr/>
        </p:nvSpPr>
        <p:spPr>
          <a:xfrm>
            <a:off x="4782312" y="742950"/>
            <a:ext cx="6897192" cy="611505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30000">
                <a:srgbClr val="000000"/>
              </a:gs>
              <a:gs pos="10000">
                <a:schemeClr val="tx1">
                  <a:alpha val="0"/>
                </a:schemeClr>
              </a:gs>
              <a:gs pos="89000">
                <a:schemeClr val="tx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k-SK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D3B2C5D-5DB5-C535-CBD4-53A5493B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Secondary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Background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D0575E8-2CB0-15B1-8EF5-20F67C37B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Secondary backgrounds offer a more subtle alternative to the primary gradient, ensuring flexibility while preserving brand consistency.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B697A7D-413A-BC26-D26D-E761A2F6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E110E103-8350-6C4D-9809-D5923B1EA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433" y="2436282"/>
            <a:ext cx="6084949" cy="3422783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3550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9C9E99-48C3-B99A-9E1F-49994DF9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11606"/>
            <a:ext cx="9901382" cy="656164"/>
          </a:xfrm>
        </p:spPr>
        <p:txBody>
          <a:bodyPr>
            <a:normAutofit/>
          </a:bodyPr>
          <a:lstStyle/>
          <a:p>
            <a:r>
              <a:rPr lang="sk-SK" dirty="0" err="1">
                <a:latin typeface="Gotham Black"/>
              </a:rPr>
              <a:t>Call</a:t>
            </a:r>
            <a:r>
              <a:rPr lang="sk-SK" dirty="0">
                <a:latin typeface="Gotham Black"/>
              </a:rPr>
              <a:t>-to-</a:t>
            </a:r>
            <a:r>
              <a:rPr lang="sk-SK" dirty="0" err="1">
                <a:latin typeface="Gotham Black"/>
              </a:rPr>
              <a:t>Action</a:t>
            </a:r>
            <a:r>
              <a:rPr lang="sk-SK" dirty="0">
                <a:latin typeface="Gotham Black"/>
              </a:rPr>
              <a:t> (CTA)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2373AC1-E293-DB3B-253D-74F26D21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1CC4825A-2A9A-07A6-4278-4AB92BFCB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949" y="1834672"/>
            <a:ext cx="6895555" cy="718287"/>
          </a:xfrm>
          <a:prstGeom prst="rect">
            <a:avLst/>
          </a:prstGeom>
        </p:spPr>
      </p:pic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E03AFABB-DDB0-8125-B478-CF84A602A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3680414" cy="177804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CTA buttons use a gradient derived from the secondary </a:t>
            </a:r>
            <a:r>
              <a:rPr lang="en-US" sz="1800" dirty="0" err="1">
                <a:latin typeface="Gotham Black"/>
              </a:rPr>
              <a:t>colour</a:t>
            </a:r>
            <a:r>
              <a:rPr lang="en-US" sz="1800" dirty="0">
                <a:latin typeface="Gotham Black"/>
              </a:rPr>
              <a:t> palette.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Gotham Black"/>
              </a:rPr>
              <a:t>The gradient can be applied horizontally or vertically depending on layout requirements.</a:t>
            </a:r>
            <a:endParaRPr lang="sk-SK" sz="1800" dirty="0">
              <a:latin typeface="Gotham Black"/>
            </a:endParaRPr>
          </a:p>
          <a:p>
            <a:pPr marL="0" indent="0">
              <a:lnSpc>
                <a:spcPct val="100000"/>
              </a:lnSpc>
              <a:buNone/>
            </a:pPr>
            <a:endParaRPr lang="sk-SK" sz="1800" dirty="0">
              <a:latin typeface="Gotham Black"/>
            </a:endParaRP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99DB6848-1D7E-ED39-EDDF-E62E561C6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2850335"/>
            <a:ext cx="4177413" cy="2349794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963D0841-5215-87C1-3BB2-368F5915C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9" y="4322608"/>
            <a:ext cx="4177413" cy="2349794"/>
          </a:xfrm>
          <a:prstGeom prst="rect">
            <a:avLst/>
          </a:prstGeom>
        </p:spPr>
      </p:pic>
      <p:sp>
        <p:nvSpPr>
          <p:cNvPr id="9" name="BlokTextu 8">
            <a:extLst>
              <a:ext uri="{FF2B5EF4-FFF2-40B4-BE49-F238E27FC236}">
                <a16:creationId xmlns:a16="http://schemas.microsoft.com/office/drawing/2014/main" id="{4EBF136C-D214-2A5F-8433-B454E8BF0E45}"/>
              </a:ext>
            </a:extLst>
          </p:cNvPr>
          <p:cNvSpPr txBox="1"/>
          <p:nvPr/>
        </p:nvSpPr>
        <p:spPr>
          <a:xfrm>
            <a:off x="6435890" y="3326674"/>
            <a:ext cx="3591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Horizontal</a:t>
            </a: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gradient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73E4BD85-4AE7-AC7A-8DD0-35D62E4397C7}"/>
              </a:ext>
            </a:extLst>
          </p:cNvPr>
          <p:cNvSpPr txBox="1"/>
          <p:nvPr/>
        </p:nvSpPr>
        <p:spPr>
          <a:xfrm>
            <a:off x="6388869" y="4798947"/>
            <a:ext cx="3591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Vertical</a:t>
            </a:r>
            <a:r>
              <a:rPr kumimoji="0" lang="sk-SK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gradient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4635B15C-7EA2-E219-3952-4161AA0AFF30}"/>
              </a:ext>
            </a:extLst>
          </p:cNvPr>
          <p:cNvSpPr txBox="1"/>
          <p:nvPr/>
        </p:nvSpPr>
        <p:spPr>
          <a:xfrm>
            <a:off x="461818" y="6079351"/>
            <a:ext cx="60942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Ensure sufficient contrast and legibility across all backgrounds.</a:t>
            </a:r>
          </a:p>
        </p:txBody>
      </p:sp>
    </p:spTree>
    <p:extLst>
      <p:ext uri="{BB962C8B-B14F-4D97-AF65-F5344CB8AC3E}">
        <p14:creationId xmlns:p14="http://schemas.microsoft.com/office/powerpoint/2010/main" val="2933561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ACAD-1E6E-C42D-95D2-74A754AF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832B4A5F-F0ED-1F03-ECEB-F184BA8DA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6295"/>
            <a:ext cx="9144000" cy="502758"/>
          </a:xfrm>
        </p:spPr>
        <p:txBody>
          <a:bodyPr>
            <a:normAutofit/>
          </a:bodyPr>
          <a:lstStyle/>
          <a:p>
            <a:r>
              <a:rPr lang="sk-SK" sz="2800" dirty="0">
                <a:latin typeface="Gotham Black"/>
              </a:rPr>
              <a:t>Chapter </a:t>
            </a:r>
            <a:r>
              <a:rPr lang="en-US" sz="2800" dirty="0">
                <a:latin typeface="Gotham Black"/>
              </a:rPr>
              <a:t>5.3</a:t>
            </a:r>
            <a:endParaRPr lang="sk-SK" sz="2800" dirty="0">
              <a:latin typeface="Gotham Black"/>
            </a:endParaRPr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8113DC59-77D1-FB1B-2417-9E66C4D9A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753" y="2598946"/>
            <a:ext cx="11068493" cy="1520260"/>
          </a:xfrm>
        </p:spPr>
        <p:txBody>
          <a:bodyPr>
            <a:normAutofit fontScale="92500" lnSpcReduction="20000"/>
          </a:bodyPr>
          <a:lstStyle/>
          <a:p>
            <a:endParaRPr lang="en-US" sz="6100" b="1" dirty="0">
              <a:latin typeface="Gotham Black"/>
            </a:endParaRPr>
          </a:p>
          <a:p>
            <a:r>
              <a:rPr lang="en-US" sz="6600" b="1" dirty="0">
                <a:latin typeface="Gotham Black"/>
              </a:rPr>
              <a:t>Social</a:t>
            </a:r>
            <a:r>
              <a:rPr lang="en-US" sz="6600" dirty="0">
                <a:latin typeface="Gotham Black"/>
              </a:rPr>
              <a:t> Media</a:t>
            </a:r>
            <a:endParaRPr lang="sk-SK" sz="6600" dirty="0">
              <a:latin typeface="Gotham Black"/>
            </a:endParaRPr>
          </a:p>
        </p:txBody>
      </p:sp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A8C69DAD-EC00-7D7D-54D1-3B7615A8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482640-75BE-4676-8FBA-7A48CEEC95B0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63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CAE6A4-B8F0-A7DC-48EA-E285544D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8300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Social</a:t>
            </a:r>
            <a:r>
              <a:rPr lang="sk-SK" b="1" dirty="0">
                <a:latin typeface="Gotham Black"/>
              </a:rPr>
              <a:t> </a:t>
            </a:r>
            <a:r>
              <a:rPr lang="sk-SK" b="1" dirty="0" err="1">
                <a:latin typeface="Gotham Black"/>
              </a:rPr>
              <a:t>Media</a:t>
            </a:r>
            <a:r>
              <a:rPr lang="sk-SK" b="1" dirty="0">
                <a:latin typeface="Gotham Black"/>
              </a:rPr>
              <a:t> </a:t>
            </a:r>
            <a:r>
              <a:rPr lang="sk-SK" dirty="0">
                <a:latin typeface="Gotham Black"/>
              </a:rPr>
              <a:t>Role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75677A-0495-343F-059E-3A07A4FD4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Gotham Black"/>
              </a:rPr>
              <a:t>Social media is not a promo channel.</a:t>
            </a:r>
            <a:br>
              <a:rPr lang="en-US" dirty="0">
                <a:latin typeface="Gotham Black"/>
              </a:rPr>
            </a:br>
            <a:r>
              <a:rPr lang="en-US" dirty="0">
                <a:latin typeface="Gotham Black"/>
              </a:rPr>
              <a:t>It is where stories become moments and conversation.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sk-SK" b="1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sk-SK" sz="2000" b="1" dirty="0">
                <a:latin typeface="Gotham Black"/>
              </a:rPr>
              <a:t>S</a:t>
            </a:r>
            <a:r>
              <a:rPr lang="en-US" sz="2000" b="1" dirty="0">
                <a:latin typeface="Gotham Black"/>
              </a:rPr>
              <a:t>OCIAL MEDIA:</a:t>
            </a:r>
            <a:endParaRPr lang="en-US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extends the life of stories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creates FOMO and cultural moments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turns viewers into a community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Gotham Black"/>
              </a:rPr>
              <a:t>keeps VOYO present between premieres</a:t>
            </a:r>
            <a:endParaRPr lang="sk-SK" sz="2000" dirty="0">
              <a:latin typeface="Gotham Black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>
              <a:latin typeface="Gotham Black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3000" b="1" dirty="0">
                <a:solidFill>
                  <a:srgbClr val="DB9E0A"/>
                </a:solidFill>
                <a:latin typeface="Gotham Black"/>
              </a:rPr>
              <a:t>	Social = the cultural pulse of VOYO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0D1FE72-CA24-47FC-A71F-A8831CAA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pic>
        <p:nvPicPr>
          <p:cNvPr id="6" name="Picture 5" descr="Attention PNG transparent image download, size: 2400x2400px">
            <a:extLst>
              <a:ext uri="{FF2B5EF4-FFF2-40B4-BE49-F238E27FC236}">
                <a16:creationId xmlns:a16="http://schemas.microsoft.com/office/drawing/2014/main" id="{A4FB145D-23E0-F4C2-662D-F266D9C52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1" y="5444591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814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4A30C80-149A-6BD2-7662-96878A581ED4}"/>
              </a:ext>
            </a:extLst>
          </p:cNvPr>
          <p:cNvSpPr/>
          <p:nvPr/>
        </p:nvSpPr>
        <p:spPr>
          <a:xfrm rot="5400000">
            <a:off x="6687678" y="1553122"/>
            <a:ext cx="2510908" cy="4422199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03B98E-ABEE-3F5B-DD5B-8A96227DC2A0}"/>
              </a:ext>
            </a:extLst>
          </p:cNvPr>
          <p:cNvSpPr/>
          <p:nvPr/>
        </p:nvSpPr>
        <p:spPr>
          <a:xfrm rot="16200000">
            <a:off x="1943647" y="1553121"/>
            <a:ext cx="2510908" cy="442219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E3A5DF2-D2D1-1246-AA7F-C91ED346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7558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Content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First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6B5C501-AED6-43F5-1CDA-FECF293F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665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Gotham Black"/>
              </a:rPr>
              <a:t>On social, we don’t start with VOYO.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We </a:t>
            </a:r>
            <a:r>
              <a:rPr lang="en-US" sz="2000" b="1" dirty="0">
                <a:latin typeface="Gotham Black"/>
              </a:rPr>
              <a:t>start</a:t>
            </a:r>
            <a:r>
              <a:rPr lang="en-US" sz="2000" dirty="0">
                <a:latin typeface="Gotham Black"/>
              </a:rPr>
              <a:t> </a:t>
            </a:r>
            <a:r>
              <a:rPr lang="en-US" sz="2000" b="1" dirty="0">
                <a:latin typeface="Gotham Black"/>
              </a:rPr>
              <a:t>with the story.</a:t>
            </a:r>
            <a:endParaRPr lang="sk-SK" sz="2000" b="1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36B65F6-D149-8BE2-45D9-8ADD3890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F55E25BF-6613-9A0B-7F8B-2AEDA6DC122B}"/>
              </a:ext>
            </a:extLst>
          </p:cNvPr>
          <p:cNvSpPr txBox="1">
            <a:spLocks/>
          </p:cNvSpPr>
          <p:nvPr/>
        </p:nvSpPr>
        <p:spPr>
          <a:xfrm>
            <a:off x="2438982" y="2790825"/>
            <a:ext cx="2443307" cy="222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LEAD WITH:</a:t>
            </a:r>
            <a:endParaRPr kumimoji="0" lang="sk-SK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m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oments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motions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haracters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k-SK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turning</a:t>
            </a:r>
            <a:r>
              <a:rPr kumimoji="0" lang="sk-SK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sk-SK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points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DB743CBA-985F-5667-0F31-934A1A839CDD}"/>
              </a:ext>
            </a:extLst>
          </p:cNvPr>
          <p:cNvSpPr txBox="1">
            <a:spLocks/>
          </p:cNvSpPr>
          <p:nvPr/>
        </p:nvSpPr>
        <p:spPr>
          <a:xfrm>
            <a:off x="5732032" y="2790825"/>
            <a:ext cx="5471968" cy="2228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NOT WITH:</a:t>
            </a:r>
            <a:endParaRPr kumimoji="0" lang="sk-SK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feature lists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generic promo graphics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platform messaging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1A85B5B5-BF60-1243-A324-C0236FC6949D}"/>
              </a:ext>
            </a:extLst>
          </p:cNvPr>
          <p:cNvSpPr txBox="1"/>
          <p:nvPr/>
        </p:nvSpPr>
        <p:spPr>
          <a:xfrm>
            <a:off x="461818" y="5301733"/>
            <a:ext cx="9391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Story stops the scroll. Platform comes second.</a:t>
            </a:r>
            <a:endParaRPr kumimoji="0" lang="sk-SK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319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8C73C5-270C-F63D-4226-21816CB9D630}"/>
              </a:ext>
            </a:extLst>
          </p:cNvPr>
          <p:cNvSpPr/>
          <p:nvPr/>
        </p:nvSpPr>
        <p:spPr>
          <a:xfrm rot="5400000">
            <a:off x="6451454" y="2720315"/>
            <a:ext cx="1213511" cy="4753635"/>
          </a:xfrm>
          <a:prstGeom prst="rect">
            <a:avLst/>
          </a:prstGeom>
          <a:gradFill>
            <a:gsLst>
              <a:gs pos="0">
                <a:srgbClr val="6A0294">
                  <a:alpha val="0"/>
                </a:srgbClr>
              </a:gs>
              <a:gs pos="100000">
                <a:srgbClr val="6A0294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ECBB9B-A710-1CCB-347D-0E7181D46AEF}"/>
              </a:ext>
            </a:extLst>
          </p:cNvPr>
          <p:cNvSpPr/>
          <p:nvPr/>
        </p:nvSpPr>
        <p:spPr>
          <a:xfrm rot="5400000">
            <a:off x="5927946" y="1194744"/>
            <a:ext cx="1929094" cy="4422199"/>
          </a:xfrm>
          <a:prstGeom prst="rect">
            <a:avLst/>
          </a:prstGeom>
          <a:ln w="31750">
            <a:gradFill flip="none" rotWithShape="1"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D786F82-BAEA-9BA4-5F3A-8C19AB56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7558"/>
            <a:ext cx="9901382" cy="656164"/>
          </a:xfrm>
        </p:spPr>
        <p:txBody>
          <a:bodyPr>
            <a:normAutofit/>
          </a:bodyPr>
          <a:lstStyle/>
          <a:p>
            <a:r>
              <a:rPr lang="sk-SK" b="1" dirty="0" err="1">
                <a:latin typeface="Gotham Black"/>
              </a:rPr>
              <a:t>Local</a:t>
            </a:r>
            <a:r>
              <a:rPr lang="sk-SK" dirty="0">
                <a:latin typeface="Gotham Black"/>
              </a:rPr>
              <a:t> &amp; </a:t>
            </a:r>
            <a:r>
              <a:rPr lang="sk-SK" dirty="0" err="1">
                <a:latin typeface="Gotham Black"/>
              </a:rPr>
              <a:t>Culturally</a:t>
            </a:r>
            <a:r>
              <a:rPr lang="sk-SK" dirty="0">
                <a:latin typeface="Gotham Black"/>
              </a:rPr>
              <a:t> </a:t>
            </a:r>
            <a:r>
              <a:rPr lang="sk-SK" dirty="0" err="1">
                <a:latin typeface="Gotham Black"/>
              </a:rPr>
              <a:t>Fluent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39A03C9-EE65-00A9-34DD-BB420DF5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074" y="2005012"/>
            <a:ext cx="684847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sk-SK" dirty="0">
                <a:latin typeface="Gotham Black"/>
              </a:rPr>
              <a:t>V</a:t>
            </a:r>
            <a:r>
              <a:rPr lang="en-US" dirty="0">
                <a:latin typeface="Gotham Black"/>
              </a:rPr>
              <a:t>OYO must sound like it belongs here.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USE: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local </a:t>
            </a:r>
            <a:r>
              <a:rPr lang="en-US" dirty="0" err="1">
                <a:latin typeface="Gotham Black"/>
              </a:rPr>
              <a:t>humour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natural language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cultural references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real-time reactions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b="1" dirty="0">
                <a:latin typeface="Gotham Black"/>
              </a:rPr>
              <a:t>AVOID:</a:t>
            </a:r>
            <a:endParaRPr lang="sk-SK" b="1" dirty="0">
              <a:latin typeface="Gotham Black"/>
            </a:endParaRPr>
          </a:p>
          <a:p>
            <a:r>
              <a:rPr lang="en-US" dirty="0">
                <a:latin typeface="Gotham Black"/>
              </a:rPr>
              <a:t>generic global tone</a:t>
            </a:r>
            <a:endParaRPr lang="sk-SK" dirty="0">
              <a:latin typeface="Gotham Black"/>
            </a:endParaRPr>
          </a:p>
          <a:p>
            <a:r>
              <a:rPr lang="en-US" dirty="0">
                <a:latin typeface="Gotham Black"/>
              </a:rPr>
              <a:t>corporate language</a:t>
            </a:r>
          </a:p>
          <a:p>
            <a:pPr marL="0" indent="0">
              <a:buNone/>
            </a:pPr>
            <a:endParaRPr lang="sk-SK" dirty="0">
              <a:latin typeface="Gotham Black"/>
            </a:endParaRPr>
          </a:p>
          <a:p>
            <a:pPr marL="0" indent="0">
              <a:buNone/>
            </a:pPr>
            <a:r>
              <a:rPr lang="en-US" dirty="0">
                <a:latin typeface="Gotham Black"/>
              </a:rPr>
              <a:t>Social should feel local, not imported.</a:t>
            </a:r>
          </a:p>
          <a:p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4600161-D2EF-D311-FADA-91F39684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D9C9BC-5ADC-16FC-3CC8-F5FBBA358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93" y="2108054"/>
            <a:ext cx="3757757" cy="37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31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B26B3B-6D9E-83B4-4DFD-FA30D937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8" y="609924"/>
            <a:ext cx="9901382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Social Supports The Viewing Journey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8DC7656-F570-6CF7-D7EF-C35A23A7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25625"/>
            <a:ext cx="11277600" cy="656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Gotham Black"/>
              </a:rPr>
              <a:t>Social keeps VOYO present across everyday viewing moments.</a:t>
            </a:r>
            <a:endParaRPr lang="sk-SK" dirty="0">
              <a:latin typeface="Gotham Black"/>
            </a:endParaRPr>
          </a:p>
          <a:p>
            <a:pPr marL="0" indent="0">
              <a:buNone/>
            </a:pPr>
            <a:endParaRPr lang="sk-SK" b="1" dirty="0">
              <a:latin typeface="Gotham Black"/>
            </a:endParaRPr>
          </a:p>
          <a:p>
            <a:pPr marL="0" indent="0">
              <a:buNone/>
            </a:pPr>
            <a:endParaRPr lang="sk-SK" dirty="0">
              <a:latin typeface="Gotham Black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15E73623-3955-515D-6B8D-2AAD08D3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997131EC-2723-214D-E293-CF5C5BDF5677}"/>
              </a:ext>
            </a:extLst>
          </p:cNvPr>
          <p:cNvSpPr txBox="1"/>
          <p:nvPr/>
        </p:nvSpPr>
        <p:spPr>
          <a:xfrm>
            <a:off x="1776268" y="248178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ANTICIPATE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know what’s coming and why it matters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ABDB3447-2A17-4DFF-2966-73615023CBA5}"/>
              </a:ext>
            </a:extLst>
          </p:cNvPr>
          <p:cNvSpPr txBox="1"/>
          <p:nvPr/>
        </p:nvSpPr>
        <p:spPr>
          <a:xfrm>
            <a:off x="3219450" y="316560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DISCOVER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see what everyone is talking about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0" name="BlokTextu 9">
            <a:extLst>
              <a:ext uri="{FF2B5EF4-FFF2-40B4-BE49-F238E27FC236}">
                <a16:creationId xmlns:a16="http://schemas.microsoft.com/office/drawing/2014/main" id="{FAFAEB23-24A1-3052-31C6-5DD2A57050FA}"/>
              </a:ext>
            </a:extLst>
          </p:cNvPr>
          <p:cNvSpPr txBox="1"/>
          <p:nvPr/>
        </p:nvSpPr>
        <p:spPr>
          <a:xfrm>
            <a:off x="4657725" y="38119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WATCH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join the moment while it’s happening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77311064-807E-72F6-3424-181D458573DD}"/>
              </a:ext>
            </a:extLst>
          </p:cNvPr>
          <p:cNvSpPr txBox="1"/>
          <p:nvPr/>
        </p:nvSpPr>
        <p:spPr>
          <a:xfrm>
            <a:off x="6124503" y="44957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CONTINUE</a:t>
            </a:r>
            <a:endParaRPr kumimoji="0" lang="sk-SK" sz="1600" b="1" i="0" u="none" strike="noStrike" kern="1200" cap="none" spc="0" normalizeH="0" baseline="0" noProof="0" dirty="0">
              <a:ln>
                <a:noFill/>
              </a:ln>
              <a:solidFill>
                <a:srgbClr val="DB9E0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stay connected between episodes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332ECAAE-1C6B-F352-46BA-4596DC2CBDC3}"/>
              </a:ext>
            </a:extLst>
          </p:cNvPr>
          <p:cNvSpPr txBox="1"/>
          <p:nvPr/>
        </p:nvSpPr>
        <p:spPr>
          <a:xfrm>
            <a:off x="7462838" y="526875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B9E0A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KEEP WATCHING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Gotham Light"/>
                <a:cs typeface="+mn-cs"/>
              </a:rPr>
              <a:t>make VOYO part of everyday routine</a:t>
            </a:r>
          </a:p>
        </p:txBody>
      </p:sp>
      <p:cxnSp>
        <p:nvCxnSpPr>
          <p:cNvPr id="18" name="Rovná spojovacia šípka 17">
            <a:extLst>
              <a:ext uri="{FF2B5EF4-FFF2-40B4-BE49-F238E27FC236}">
                <a16:creationId xmlns:a16="http://schemas.microsoft.com/office/drawing/2014/main" id="{5C7A4D25-CDA5-E53E-701F-A5F07601F01C}"/>
              </a:ext>
            </a:extLst>
          </p:cNvPr>
          <p:cNvCxnSpPr>
            <a:cxnSpLocks/>
          </p:cNvCxnSpPr>
          <p:nvPr/>
        </p:nvCxnSpPr>
        <p:spPr>
          <a:xfrm>
            <a:off x="1776268" y="3183215"/>
            <a:ext cx="5686570" cy="2684711"/>
          </a:xfrm>
          <a:prstGeom prst="straightConnector1">
            <a:avLst/>
          </a:prstGeom>
          <a:ln w="41275">
            <a:gradFill>
              <a:gsLst>
                <a:gs pos="0">
                  <a:srgbClr val="FFFBB1"/>
                </a:gs>
                <a:gs pos="100000">
                  <a:srgbClr val="DB9E0A"/>
                </a:gs>
              </a:gsLst>
              <a:lin ang="5400000" scaled="1"/>
            </a:gra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3D8E8E1B-00ED-4BDD-D2EF-0285B28CB063}"/>
              </a:ext>
            </a:extLst>
          </p:cNvPr>
          <p:cNvSpPr/>
          <p:nvPr/>
        </p:nvSpPr>
        <p:spPr>
          <a:xfrm>
            <a:off x="1651750" y="3038419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FD9239E-4C4F-4AB6-A952-622B559731F5}"/>
              </a:ext>
            </a:extLst>
          </p:cNvPr>
          <p:cNvSpPr/>
          <p:nvPr/>
        </p:nvSpPr>
        <p:spPr>
          <a:xfrm>
            <a:off x="2967961" y="3666908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82A3DB-61E1-7CCF-733A-355B3237C235}"/>
              </a:ext>
            </a:extLst>
          </p:cNvPr>
          <p:cNvSpPr/>
          <p:nvPr/>
        </p:nvSpPr>
        <p:spPr>
          <a:xfrm>
            <a:off x="4495035" y="4378825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E1E921-1BFB-20CD-AF8D-DD679A2028B2}"/>
              </a:ext>
            </a:extLst>
          </p:cNvPr>
          <p:cNvSpPr/>
          <p:nvPr/>
        </p:nvSpPr>
        <p:spPr>
          <a:xfrm>
            <a:off x="5999985" y="5098278"/>
            <a:ext cx="249036" cy="249036"/>
          </a:xfrm>
          <a:prstGeom prst="ellipse">
            <a:avLst/>
          </a:prstGeom>
          <a:solidFill>
            <a:srgbClr val="DB9E0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1866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4914E-6E95-3D37-E852-F5D01BB5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62DA59-9911-AC58-B0DB-9569768B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817" y="607712"/>
            <a:ext cx="11277599" cy="656164"/>
          </a:xfrm>
        </p:spPr>
        <p:txBody>
          <a:bodyPr>
            <a:normAutofit/>
          </a:bodyPr>
          <a:lstStyle/>
          <a:p>
            <a:r>
              <a:rPr lang="en-US" dirty="0">
                <a:latin typeface="Gotham Black"/>
              </a:rPr>
              <a:t>Create F</a:t>
            </a:r>
            <a:r>
              <a:rPr lang="sk-SK" dirty="0">
                <a:latin typeface="Gotham Black"/>
              </a:rPr>
              <a:t>OMO</a:t>
            </a:r>
            <a:r>
              <a:rPr lang="en-US" dirty="0">
                <a:latin typeface="Gotham Black"/>
              </a:rPr>
              <a:t>. Protect The Experience.</a:t>
            </a:r>
            <a:endParaRPr lang="sk-SK" dirty="0">
              <a:latin typeface="Gotham Black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431FDD-9BC2-B7ED-1324-7E3B2265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832314"/>
            <a:ext cx="11277600" cy="127238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Gotham Black"/>
              </a:rPr>
              <a:t>In real time culture, moments spread instantly.</a:t>
            </a:r>
            <a:r>
              <a:rPr lang="sk-SK" sz="2000" dirty="0">
                <a:latin typeface="Gotham Black"/>
              </a:rPr>
              <a:t> </a:t>
            </a:r>
            <a:r>
              <a:rPr lang="en-US" sz="2000" dirty="0">
                <a:latin typeface="Gotham Black"/>
              </a:rPr>
              <a:t>If VOYO doesn’t lead the conversation, someone else will.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Gotham Black"/>
              </a:rPr>
              <a:t>Our role is to own the moment while protecting the story.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1FCD14C-63A3-6BFE-012A-9C13F806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7F2538-5172-44FE-BA0F-FAB2B9E4D3CD}" type="slidenum">
              <a:rPr kumimoji="0" lang="sk-SK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sk-SK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Zástupný objekt pre obsah 2">
            <a:extLst>
              <a:ext uri="{FF2B5EF4-FFF2-40B4-BE49-F238E27FC236}">
                <a16:creationId xmlns:a16="http://schemas.microsoft.com/office/drawing/2014/main" id="{DE145444-9C2C-3A6E-F159-9C0D93BF4409}"/>
              </a:ext>
            </a:extLst>
          </p:cNvPr>
          <p:cNvSpPr txBox="1">
            <a:spLocks/>
          </p:cNvSpPr>
          <p:nvPr/>
        </p:nvSpPr>
        <p:spPr>
          <a:xfrm>
            <a:off x="461818" y="3277394"/>
            <a:ext cx="3557443" cy="1513385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otham Book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otham Ligh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BEFORE THE REVEAL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Build tension, not outcomes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emotion &amp; reactions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suspense &amp; questions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4BC952DA-515B-1291-446D-617E2FF337E8}"/>
              </a:ext>
            </a:extLst>
          </p:cNvPr>
          <p:cNvSpPr txBox="1">
            <a:spLocks/>
          </p:cNvSpPr>
          <p:nvPr/>
        </p:nvSpPr>
        <p:spPr>
          <a:xfrm>
            <a:off x="4326660" y="3278984"/>
            <a:ext cx="3557442" cy="1511795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Autofit/>
          </a:bodyPr>
          <a:lstStyle>
            <a:defPPr>
              <a:defRPr lang="sk-SK"/>
            </a:defPPr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Gotham Book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Gotham Ligh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Gotham Ligh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AT THE OFFICIAL REVEAL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Own the moment immediately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confirm results clear</a:t>
            </a:r>
            <a:r>
              <a:rPr kumimoji="0" lang="sk-SK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ly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guide viewers on VOYO</a:t>
            </a:r>
          </a:p>
        </p:txBody>
      </p:sp>
      <p:sp>
        <p:nvSpPr>
          <p:cNvPr id="7" name="Zástupný objekt pre obsah 2">
            <a:extLst>
              <a:ext uri="{FF2B5EF4-FFF2-40B4-BE49-F238E27FC236}">
                <a16:creationId xmlns:a16="http://schemas.microsoft.com/office/drawing/2014/main" id="{5A5F57AA-93F7-5A13-876F-1F19256EFA45}"/>
              </a:ext>
            </a:extLst>
          </p:cNvPr>
          <p:cNvSpPr txBox="1">
            <a:spLocks/>
          </p:cNvSpPr>
          <p:nvPr/>
        </p:nvSpPr>
        <p:spPr>
          <a:xfrm>
            <a:off x="8191501" y="3277394"/>
            <a:ext cx="3547917" cy="1511796"/>
          </a:xfrm>
          <a:prstGeom prst="rect">
            <a:avLst/>
          </a:prstGeom>
          <a:ln w="12700">
            <a:solidFill>
              <a:srgbClr val="FFFBB1"/>
            </a:solidFill>
          </a:ln>
        </p:spPr>
        <p:txBody>
          <a:bodyPr vert="horz" lIns="91440" tIns="45720" rIns="91440" bIns="45720" rtlCol="0">
            <a:normAutofit/>
          </a:bodyPr>
          <a:lstStyle>
            <a:defPPr>
              <a:defRPr lang="sk-SK"/>
            </a:defPPr>
            <a:lvl1pPr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  <a:latin typeface="Gotham Book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  <a:latin typeface="Gotham Light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Gotham Light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Gotham Ligh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AFTER THE REVEAL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Extend the conversation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reactions &amp; debate</a:t>
            </a:r>
            <a:endParaRPr kumimoji="0" lang="sk-SK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best moments &amp; fan response</a:t>
            </a:r>
          </a:p>
        </p:txBody>
      </p:sp>
      <p:sp>
        <p:nvSpPr>
          <p:cNvPr id="9" name="BlokTextu 8">
            <a:extLst>
              <a:ext uri="{FF2B5EF4-FFF2-40B4-BE49-F238E27FC236}">
                <a16:creationId xmlns:a16="http://schemas.microsoft.com/office/drawing/2014/main" id="{161F5E9F-B4F1-F549-27E9-F2E28C6FD75B}"/>
              </a:ext>
            </a:extLst>
          </p:cNvPr>
          <p:cNvSpPr txBox="1"/>
          <p:nvPr/>
        </p:nvSpPr>
        <p:spPr>
          <a:xfrm>
            <a:off x="1500043" y="5075416"/>
            <a:ext cx="10549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Content rules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BB1"/>
              </a:solidFill>
              <a:effectLst/>
              <a:uLnTx/>
              <a:uFillTx/>
              <a:latin typeface="Gotham Black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Reality &amp; sport → results spread instantly</a:t>
            </a:r>
            <a:r>
              <a:rPr kumimoji="0" lang="sk-SK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→ lead the moment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BB1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Series &amp; drama → protect the story → avoid plot spoilers</a:t>
            </a: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1C5F67CC-6466-6883-24EB-189D051571F6}"/>
              </a:ext>
            </a:extLst>
          </p:cNvPr>
          <p:cNvSpPr txBox="1"/>
          <p:nvPr/>
        </p:nvSpPr>
        <p:spPr>
          <a:xfrm>
            <a:off x="461818" y="6077247"/>
            <a:ext cx="934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Create urgency, not spoilers.</a:t>
            </a:r>
            <a:r>
              <a:rPr kumimoji="0" lang="sk-SK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otham Black"/>
                <a:ea typeface="+mn-ea"/>
                <a:cs typeface="+mn-cs"/>
              </a:rPr>
              <a:t>Lead the moment, don’t chase it.</a:t>
            </a:r>
          </a:p>
        </p:txBody>
      </p:sp>
      <p:pic>
        <p:nvPicPr>
          <p:cNvPr id="10" name="Picture 9" descr="Attention PNG transparent image download, size: 2400x2400px">
            <a:extLst>
              <a:ext uri="{FF2B5EF4-FFF2-40B4-BE49-F238E27FC236}">
                <a16:creationId xmlns:a16="http://schemas.microsoft.com/office/drawing/2014/main" id="{5DD59CA5-611A-A64E-03DC-F715B5400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1" y="5334194"/>
            <a:ext cx="438424" cy="43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010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smtClean="0">
            <a:solidFill>
              <a:schemeClr val="bg1"/>
            </a:solidFill>
            <a:latin typeface="Gotham Book" panose="02000604040000020004" pitchFamily="50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bb06d7-dc84-41cf-a936-1e85ffed1c67}" enabled="1" method="Standard" siteId="{ac66e848-7cb4-490d-b461-4eb2e62f834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Microsoft Office PowerPoint</Application>
  <PresentationFormat>Widescreen</PresentationFormat>
  <Paragraphs>220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Gotham Black</vt:lpstr>
      <vt:lpstr>Gotham Bold</vt:lpstr>
      <vt:lpstr>Gotham Book</vt:lpstr>
      <vt:lpstr>Gotham Light</vt:lpstr>
      <vt:lpstr>Gotham Medium</vt:lpstr>
      <vt:lpstr>Montserrat</vt:lpstr>
      <vt:lpstr>Office Theme</vt:lpstr>
      <vt:lpstr>Motív Office</vt:lpstr>
      <vt:lpstr>Chapter 5</vt:lpstr>
      <vt:lpstr>Chapter 5.1</vt:lpstr>
      <vt:lpstr>Brand Personality and Voice</vt:lpstr>
      <vt:lpstr>Communication Principles</vt:lpstr>
      <vt:lpstr>Tone for Various Content Genres</vt:lpstr>
      <vt:lpstr>Chapter 5.2</vt:lpstr>
      <vt:lpstr>Logo</vt:lpstr>
      <vt:lpstr>V Icon</vt:lpstr>
      <vt:lpstr>Primary Typography</vt:lpstr>
      <vt:lpstr>Alternative Typography</vt:lpstr>
      <vt:lpstr>Sub-brand Logos</vt:lpstr>
      <vt:lpstr>Primary Colours</vt:lpstr>
      <vt:lpstr>Primary Background</vt:lpstr>
      <vt:lpstr>Secondary Colour Palette</vt:lpstr>
      <vt:lpstr>Secondary Background</vt:lpstr>
      <vt:lpstr>Call-to-Action (CTA)</vt:lpstr>
      <vt:lpstr>Chapter 5.3</vt:lpstr>
      <vt:lpstr>Social Media Role</vt:lpstr>
      <vt:lpstr>Content First</vt:lpstr>
      <vt:lpstr>Local &amp; Culturally Fluent</vt:lpstr>
      <vt:lpstr>Social Supports The Viewing Journey</vt:lpstr>
      <vt:lpstr>Create FOMO. Protect The Experience.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Strýček, Jakub</dc:creator>
  <cp:lastModifiedBy>Strýček, Jakub</cp:lastModifiedBy>
  <cp:revision>1</cp:revision>
  <dcterms:created xsi:type="dcterms:W3CDTF">2026-02-27T05:43:07Z</dcterms:created>
  <dcterms:modified xsi:type="dcterms:W3CDTF">2026-02-27T10:52:54Z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This item is classified as Internal. Sharing outside of the CME Group is permitted with justification.</vt:lpwstr>
  </property>
</Properties>
</file>