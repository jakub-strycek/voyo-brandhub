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147483064" r:id="rId3"/>
    <p:sldId id="401" r:id="rId4"/>
    <p:sldId id="402" r:id="rId5"/>
    <p:sldId id="403" r:id="rId6"/>
    <p:sldId id="404" r:id="rId7"/>
    <p:sldId id="406" r:id="rId8"/>
    <p:sldId id="407" r:id="rId9"/>
    <p:sldId id="408" r:id="rId10"/>
    <p:sldId id="411" r:id="rId11"/>
    <p:sldId id="41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84749E-AC4F-49CE-8212-69CE077C63E4}" v="9" dt="2026-02-27T10:51:30.0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rýček, Jakub" userId="0fd0477a-885b-4640-8df6-a47f260f7b47" providerId="ADAL" clId="{642162F9-3CBE-4328-B65F-6EA6B7ABAE33}"/>
    <pc:docChg chg="undo custSel addSld delSld modSld delMainMaster">
      <pc:chgData name="Strýček, Jakub" userId="0fd0477a-885b-4640-8df6-a47f260f7b47" providerId="ADAL" clId="{642162F9-3CBE-4328-B65F-6EA6B7ABAE33}" dt="2026-02-27T10:51:29.952" v="27"/>
      <pc:docMkLst>
        <pc:docMk/>
      </pc:docMkLst>
      <pc:sldChg chg="modSp add del mod">
        <pc:chgData name="Strýček, Jakub" userId="0fd0477a-885b-4640-8df6-a47f260f7b47" providerId="ADAL" clId="{642162F9-3CBE-4328-B65F-6EA6B7ABAE33}" dt="2026-02-27T10:51:29.952" v="27"/>
        <pc:sldMkLst>
          <pc:docMk/>
          <pc:sldMk cId="897805077" sldId="401"/>
        </pc:sldMkLst>
        <pc:spChg chg="mod">
          <ac:chgData name="Strýček, Jakub" userId="0fd0477a-885b-4640-8df6-a47f260f7b47" providerId="ADAL" clId="{642162F9-3CBE-4328-B65F-6EA6B7ABAE33}" dt="2026-02-27T07:41:59.425" v="16"/>
          <ac:spMkLst>
            <pc:docMk/>
            <pc:sldMk cId="897805077" sldId="401"/>
            <ac:spMk id="2" creationId="{9C848927-08FC-7333-E356-B193268EAC13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1:29.952" v="27"/>
        <pc:sldMkLst>
          <pc:docMk/>
          <pc:sldMk cId="1787091672" sldId="402"/>
        </pc:sldMkLst>
        <pc:spChg chg="mod">
          <ac:chgData name="Strýček, Jakub" userId="0fd0477a-885b-4640-8df6-a47f260f7b47" providerId="ADAL" clId="{642162F9-3CBE-4328-B65F-6EA6B7ABAE33}" dt="2026-02-27T10:51:29.809" v="26"/>
          <ac:spMkLst>
            <pc:docMk/>
            <pc:sldMk cId="1787091672" sldId="402"/>
            <ac:spMk id="5" creationId="{E704FD55-9817-4B62-0B70-695733FC4C1A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1:29.952" v="27"/>
        <pc:sldMkLst>
          <pc:docMk/>
          <pc:sldMk cId="1174573857" sldId="403"/>
        </pc:sldMkLst>
        <pc:spChg chg="mod">
          <ac:chgData name="Strýček, Jakub" userId="0fd0477a-885b-4640-8df6-a47f260f7b47" providerId="ADAL" clId="{642162F9-3CBE-4328-B65F-6EA6B7ABAE33}" dt="2026-02-27T05:40:27.562" v="8"/>
          <ac:spMkLst>
            <pc:docMk/>
            <pc:sldMk cId="1174573857" sldId="403"/>
            <ac:spMk id="2" creationId="{A566EC5B-47B4-A1AF-DD3E-DD610E7015E4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1:29.952" v="27"/>
        <pc:sldMkLst>
          <pc:docMk/>
          <pc:sldMk cId="2959816335" sldId="404"/>
        </pc:sldMkLst>
        <pc:spChg chg="mod">
          <ac:chgData name="Strýček, Jakub" userId="0fd0477a-885b-4640-8df6-a47f260f7b47" providerId="ADAL" clId="{642162F9-3CBE-4328-B65F-6EA6B7ABAE33}" dt="2026-02-27T10:51:29.809" v="26"/>
          <ac:spMkLst>
            <pc:docMk/>
            <pc:sldMk cId="2959816335" sldId="404"/>
            <ac:spMk id="2" creationId="{66673557-176C-DE3E-7D0F-02940BC34078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1:29.952" v="27"/>
        <pc:sldMkLst>
          <pc:docMk/>
          <pc:sldMk cId="993287349" sldId="406"/>
        </pc:sldMkLst>
        <pc:spChg chg="mod">
          <ac:chgData name="Strýček, Jakub" userId="0fd0477a-885b-4640-8df6-a47f260f7b47" providerId="ADAL" clId="{642162F9-3CBE-4328-B65F-6EA6B7ABAE33}" dt="2026-02-27T05:40:27.562" v="8"/>
          <ac:spMkLst>
            <pc:docMk/>
            <pc:sldMk cId="993287349" sldId="406"/>
            <ac:spMk id="2" creationId="{109E9545-B594-4B76-0DB9-B86E8D34D749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1:29.952" v="27"/>
        <pc:sldMkLst>
          <pc:docMk/>
          <pc:sldMk cId="1866846065" sldId="407"/>
        </pc:sldMkLst>
        <pc:spChg chg="mod">
          <ac:chgData name="Strýček, Jakub" userId="0fd0477a-885b-4640-8df6-a47f260f7b47" providerId="ADAL" clId="{642162F9-3CBE-4328-B65F-6EA6B7ABAE33}" dt="2026-02-27T10:51:29.809" v="26"/>
          <ac:spMkLst>
            <pc:docMk/>
            <pc:sldMk cId="1866846065" sldId="407"/>
            <ac:spMk id="2" creationId="{FB1CD9D4-2720-878A-4875-25A0442E6124}"/>
          </ac:spMkLst>
        </pc:spChg>
      </pc:sldChg>
      <pc:sldChg chg="add del">
        <pc:chgData name="Strýček, Jakub" userId="0fd0477a-885b-4640-8df6-a47f260f7b47" providerId="ADAL" clId="{642162F9-3CBE-4328-B65F-6EA6B7ABAE33}" dt="2026-02-27T10:51:29.952" v="27"/>
        <pc:sldMkLst>
          <pc:docMk/>
          <pc:sldMk cId="1574927373" sldId="408"/>
        </pc:sldMkLst>
      </pc:sldChg>
      <pc:sldChg chg="modSp add del mod">
        <pc:chgData name="Strýček, Jakub" userId="0fd0477a-885b-4640-8df6-a47f260f7b47" providerId="ADAL" clId="{642162F9-3CBE-4328-B65F-6EA6B7ABAE33}" dt="2026-02-27T10:51:29.952" v="27"/>
        <pc:sldMkLst>
          <pc:docMk/>
          <pc:sldMk cId="2945768394" sldId="411"/>
        </pc:sldMkLst>
        <pc:spChg chg="mod">
          <ac:chgData name="Strýček, Jakub" userId="0fd0477a-885b-4640-8df6-a47f260f7b47" providerId="ADAL" clId="{642162F9-3CBE-4328-B65F-6EA6B7ABAE33}" dt="2026-02-27T10:51:29.809" v="26"/>
          <ac:spMkLst>
            <pc:docMk/>
            <pc:sldMk cId="2945768394" sldId="411"/>
            <ac:spMk id="2" creationId="{1C5323D3-367A-E871-E392-AD344534863F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1:29.952" v="27"/>
        <pc:sldMkLst>
          <pc:docMk/>
          <pc:sldMk cId="565341242" sldId="412"/>
        </pc:sldMkLst>
        <pc:spChg chg="mod">
          <ac:chgData name="Strýček, Jakub" userId="0fd0477a-885b-4640-8df6-a47f260f7b47" providerId="ADAL" clId="{642162F9-3CBE-4328-B65F-6EA6B7ABAE33}" dt="2026-02-27T10:51:29.809" v="26"/>
          <ac:spMkLst>
            <pc:docMk/>
            <pc:sldMk cId="565341242" sldId="412"/>
            <ac:spMk id="2" creationId="{EFFE994A-4970-E067-16CD-C5DE526F5869}"/>
          </ac:spMkLst>
        </pc:spChg>
      </pc:sldChg>
      <pc:sldChg chg="add del">
        <pc:chgData name="Strýček, Jakub" userId="0fd0477a-885b-4640-8df6-a47f260f7b47" providerId="ADAL" clId="{642162F9-3CBE-4328-B65F-6EA6B7ABAE33}" dt="2026-02-27T10:51:29.952" v="27"/>
        <pc:sldMkLst>
          <pc:docMk/>
          <pc:sldMk cId="764061771" sldId="2147483064"/>
        </pc:sldMkLst>
      </pc:sldChg>
      <pc:sldMasterChg chg="del delSldLayout">
        <pc:chgData name="Strýček, Jakub" userId="0fd0477a-885b-4640-8df6-a47f260f7b47" providerId="ADAL" clId="{642162F9-3CBE-4328-B65F-6EA6B7ABAE33}" dt="2026-02-27T10:51:11.209" v="18" actId="47"/>
        <pc:sldMasterMkLst>
          <pc:docMk/>
          <pc:sldMasterMk cId="1470034971" sldId="2147483660"/>
        </pc:sldMasterMkLst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2391673882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3699722032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3285351139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4166641993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1592814780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182184341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2210672921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3798745357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222504625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1106321517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4284974615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10:51:11.209" v="18" actId="47"/>
          <pc:sldLayoutMkLst>
            <pc:docMk/>
            <pc:sldMasterMk cId="1470034971" sldId="2147483660"/>
            <pc:sldLayoutMk cId="1952475359" sldId="2147483672"/>
          </pc:sldLayoutMkLst>
        </pc:sldLayoutChg>
      </pc:sldMasterChg>
      <pc:sldMasterChg chg="del delSldLayout">
        <pc:chgData name="Strýček, Jakub" userId="0fd0477a-885b-4640-8df6-a47f260f7b47" providerId="ADAL" clId="{642162F9-3CBE-4328-B65F-6EA6B7ABAE33}" dt="2026-02-27T07:41:38.798" v="10" actId="47"/>
        <pc:sldMasterMkLst>
          <pc:docMk/>
          <pc:sldMasterMk cId="3931427588" sldId="2147483660"/>
        </pc:sldMasterMkLst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796855394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2174947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1991290414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3744400899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1658100661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1288451715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991124380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3571325543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3908969820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2535971406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1197984774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07:41:38.798" v="10" actId="47"/>
          <pc:sldLayoutMkLst>
            <pc:docMk/>
            <pc:sldMasterMk cId="3931427588" sldId="2147483660"/>
            <pc:sldLayoutMk cId="1981717556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29F0-D2C0-568B-8065-002A4C130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5B7E6-1683-050C-2A93-4BB9FA4BB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9BAAD-0601-C7DC-A752-FB7D8D59A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BF542-3FB9-B2B0-9F52-6CEFD05B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806D0-FBEF-012F-7AF9-046416F5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98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87C0-F0CF-FBDC-B2A7-92252B64B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E607A-9851-BAD1-221D-A1D624D4F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779F1-6293-AADD-2F55-5E04EC0E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02B83-6163-135B-2CCB-A52FF184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4B7C0-5A95-58B5-1CBD-60DD847E5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227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8223-8424-25F0-9F51-83C5D0C86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94F02-2E54-0D79-29A5-FF2228B2D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40D42-549A-452B-9BC2-A7BB0A64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9D498-2AAE-2D59-C019-15093271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C7DF6-C4B3-44BE-678D-3EDAAFCB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67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C39B-6EA7-75E2-3574-1638DD4F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AB397-B282-1AF9-19AF-83FAD358E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B609D-1C57-E5BE-B796-6C8E43206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7C9AC-4A02-E205-F342-58C59D5C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A069F-D58A-61C4-3A92-3DA59A3E4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1FE81-6F38-DF5D-8D5F-E07474BB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5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52B4-5A97-5E10-B682-4E7FCBB4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CC40E-EBF9-8006-C3C9-4BE6B48C8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A5E6B-E04D-D3B2-7DE8-923B07857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32E352-5F20-527C-A978-9BC3D7452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A813B-E296-6937-10D3-3C95E2DA9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D302A-11DA-FDE3-EF7D-A123F16C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DF1C3-6CD5-0B5A-0FF8-1A3004B14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1C90E8-73F6-7A24-2B51-1AE4B4F1A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09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E08A0-5F37-19D8-D137-7E433C57D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5D266-9D14-78E5-F4DA-7C28EF1F3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E8BB4-B0F9-9B88-5B43-DFAD7931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9811C-F805-F85E-79D0-225B6C5A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90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EA31DC-FA7F-1281-FA7D-04D84F1D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6B73C-25F2-A817-E2DB-CE587F5E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51BA-0744-1CEF-3A29-A05AFEDF1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08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A066-A050-98E4-7F39-4176F182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5CD8-19DE-A84B-7632-540FCEC95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1F41F-C565-E20C-8807-5A0EEFB9F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8F9B6-D7E9-39B1-4F54-89485D9A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28F7A-872F-9842-C301-2E51CE60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D6625-388C-8E6C-707B-6BA97446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30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6B3C-DC5B-9ED9-6EE0-3311CF3C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7D29EA-7F8E-A22F-66E0-D7EE1C076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BED4B-BA6A-9EE5-B51B-D610A7CA8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8C0F3-AEA2-20EE-8350-AFB1B006A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EEBC8-0C3D-D034-D75E-96B8F044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25726-AB06-26BB-A78B-0CCB168F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63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25801-6178-C46D-CF3A-0341BE3D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B6DC6-EC96-B92C-082D-9CF69FAAC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BB9E6-7F79-2A58-8AA8-4CA74695E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6FD31-FBD8-B99D-CE57-DC3BDFA80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247A2-C491-7B65-1061-60FD7B134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7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95F91-E34E-D330-7A46-1E8791DFF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26254-E93C-9597-B3CD-EA638154A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7B6A3-0C75-A0C6-1C6A-B43CAE5B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7A815-DCDC-1654-FB96-FFFC751BE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74FF5-9CD4-6BB3-1652-61353A679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5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E31F4-01A2-E6F1-B374-7CC95B53C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32EDE0A-8CA4-BE57-5C53-40E9661DD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C94EB4A-EEA2-490F-CAE4-993DE35A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FC6-2C3D-430D-B009-7B7F642ABE14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ADE9B73-AB57-658C-7DA5-217ECDC3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FD5A285-F0CF-4C03-F2C2-B32E6004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482640-75BE-4676-8FBA-7A48CEEC95B0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31423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290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68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990074"/>
            <a:ext cx="9901382" cy="656164"/>
          </a:xfrm>
        </p:spPr>
        <p:txBody>
          <a:bodyPr/>
          <a:lstStyle/>
          <a:p>
            <a:r>
              <a:rPr lang="sk-SK" dirty="0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201401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6950"/>
            <a:ext cx="9818255" cy="6492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1825625"/>
            <a:ext cx="11120582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7221A705-3299-48EB-854F-C3B4273BA57B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E4D3BAD3-06E2-8976-1503-A80952267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10" y="5616379"/>
            <a:ext cx="11120582" cy="5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85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92F3D5-CD3E-29D4-CC4B-9EC71ABD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E13A22E-C17D-D2E7-C115-423CEC0B8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EECA32A-4681-9BA5-A0D8-54F09F11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6690-AF75-4187-BFC3-D5F2332C501B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B627AD7-A404-67BA-ABD1-021ED93D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43788D0-A08F-658B-474D-433D7602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46752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F6C460-0F35-4E85-6A09-AE39960C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7FAB8BD-D9D4-6732-570A-9B37C5C9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70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A7B67C0-F900-C5B2-C56C-35CF66249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F16AB83-1D47-9E2E-1472-C633E9A2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EAE3A-F887-47E6-BD99-55D80AEBF460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634056E-F687-6D18-7D49-0C715498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E9E4B79-2095-E9C7-049E-6E2B5B52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405532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A7DDE2E-A692-3DAD-62E1-9B3AF46C9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10" y="1681163"/>
            <a:ext cx="54618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34030DF-31C2-E488-649D-035B23F1B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710" y="2505075"/>
            <a:ext cx="5461866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E017A73-BA90-1271-D4BE-EA520C431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4840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DF63CFB1-52B3-2337-5C70-EFAB4C37A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484089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198C0987-EF61-2B1A-3FB6-8517F4E8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92BEE-E86B-49DF-B1B3-CCEC9E68AD35}" type="datetime1">
              <a:rPr lang="sk-SK" smtClean="0"/>
              <a:t>27. 2. 2026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9C82B51-FA16-0B39-04A8-7FDCC03A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B9112C33-D93B-E83C-FDAC-75B7736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441622A9-7D0F-4365-C6FA-80D5F022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0600"/>
            <a:ext cx="9818255" cy="7000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</p:spTree>
    <p:extLst>
      <p:ext uri="{BB962C8B-B14F-4D97-AF65-F5344CB8AC3E}">
        <p14:creationId xmlns:p14="http://schemas.microsoft.com/office/powerpoint/2010/main" val="4079493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043D30-071D-33AB-9669-23DC9D7D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626F86A-ED8E-E2CB-0045-882B2081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7997-9BB1-469D-AB8B-75A91F8709FB}" type="datetime1">
              <a:rPr lang="sk-SK" smtClean="0"/>
              <a:t>27. 2. 2026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AA76809C-B35F-91E8-F0FC-58E4DA05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20999B0-23F7-AD49-85E6-5F16A8F0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81962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294DAC2C-3747-CF3D-3CAD-2D3648B2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7880-69E6-4017-911E-C813255CF17D}" type="datetime1">
              <a:rPr lang="sk-SK" smtClean="0"/>
              <a:t>27. 2. 2026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2264B98-8195-D8D6-63E7-7160E646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A3CB4A4-DECD-DD2C-2867-C21C476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4507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ED231A-84A5-F5D9-5D2E-50078FC0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C5581D-D921-5F0F-AE2D-99906DBF2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1EC71DA-B330-2925-634E-8AF351D6A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9CAA74C9-159A-4142-CD81-9C0EBC9A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D860-1691-4A1E-951E-860E288D7ED9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EE73CA0-8128-6D89-5779-DE33B887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69D1AA6B-8076-B5A9-6F2D-053A8646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866381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D6BD6-170C-44DD-BDC0-D960921B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8" y="457200"/>
            <a:ext cx="433618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DABB3901-CBE5-CD07-4906-E15786878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731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DDBA57B-148A-F609-6500-9FB9CDADF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079480"/>
            <a:ext cx="42862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B07352E-769A-F29D-4DE0-19240FFE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6A6A-330E-44F1-9989-89ED565DD888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D766888-199E-BEED-A3B9-4EE38408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B87AE7F8-4D13-FAEB-EAF6-80CD1BE4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727465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3DF940-CA92-904E-80FF-E6F99971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246ADBA-C098-2C20-660C-3760EF1E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68A9-2373-480D-BEC3-8767F6491096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7ADCD98-DFDB-5022-61A3-7705C605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3E782B7-3401-F2F1-32A7-8F6FC2A6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1" name="Zástupný text 3">
            <a:extLst>
              <a:ext uri="{FF2B5EF4-FFF2-40B4-BE49-F238E27FC236}">
                <a16:creationId xmlns:a16="http://schemas.microsoft.com/office/drawing/2014/main" id="{0C564EC2-EE3E-27C0-6E49-AD055C579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175382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2" name="Zástupný text 3">
            <a:extLst>
              <a:ext uri="{FF2B5EF4-FFF2-40B4-BE49-F238E27FC236}">
                <a16:creationId xmlns:a16="http://schemas.microsoft.com/office/drawing/2014/main" id="{6F97C8EF-0CB2-322D-9076-99ABF456029F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35709" y="3004849"/>
            <a:ext cx="5024582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13" name="Zástupný text 3">
            <a:extLst>
              <a:ext uri="{FF2B5EF4-FFF2-40B4-BE49-F238E27FC236}">
                <a16:creationId xmlns:a16="http://schemas.microsoft.com/office/drawing/2014/main" id="{D84772E5-CFF9-718C-802E-19550E9B968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632434" y="2179014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4" name="Zástupný text 3">
            <a:extLst>
              <a:ext uri="{FF2B5EF4-FFF2-40B4-BE49-F238E27FC236}">
                <a16:creationId xmlns:a16="http://schemas.microsoft.com/office/drawing/2014/main" id="{FE1BA62C-FF9F-4199-686B-F448EBF36D9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631711" y="3004849"/>
            <a:ext cx="5023859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</p:spTree>
    <p:extLst>
      <p:ext uri="{BB962C8B-B14F-4D97-AF65-F5344CB8AC3E}">
        <p14:creationId xmlns:p14="http://schemas.microsoft.com/office/powerpoint/2010/main" val="306373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F59C0-F652-3278-1EC7-64E56EE00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3FE63-3C84-DDE9-6C9B-D145D33DD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E1FAC-CFCB-2C50-C527-00EAE806E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7F1C7E-7C47-4734-9A66-C3E334A4DA8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2C72E-3BC6-2881-7369-566281C1E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02C5A-D577-8403-83A5-14528C5A8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879D5-2926-46B4-903B-1C610C386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841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ok 9" descr="Obrázok, na ktorom je nebo, modrá, snímka obrazovky, rozmazanie&#10;&#10;Obsah vygenerovaný pomocou AI môže byť nesprávny.">
            <a:extLst>
              <a:ext uri="{FF2B5EF4-FFF2-40B4-BE49-F238E27FC236}">
                <a16:creationId xmlns:a16="http://schemas.microsoft.com/office/drawing/2014/main" id="{C71F1129-C362-F7B5-2DE7-D5B8B8D330A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36343588-5C6D-5217-EDC9-609AD8D2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1041400"/>
            <a:ext cx="9818255" cy="649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A1C42F2-A5DE-357A-C4CF-5A290B76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09" y="1825625"/>
            <a:ext cx="108180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E5A5F4F-D90E-E642-21B8-C18A81F22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2C8D9-E561-4CC8-AC32-35F66DAD277A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61D836A-C826-6445-380C-EC3A44206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708C169-9F46-5E9A-1745-62AB43CD8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7F2538-5172-44FE-BA0F-FAB2B9E4D3CD}" type="slidenum">
              <a:rPr lang="sk-SK" smtClean="0"/>
              <a:pPr/>
              <a:t>‹#›</a:t>
            </a:fld>
            <a:endParaRPr lang="sk-SK">
              <a:solidFill>
                <a:schemeClr val="bg1"/>
              </a:solidFill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6D9CB86B-5A82-B697-C35D-20BA3B20C0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83275" y="6642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k-SK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  <p:pic>
        <p:nvPicPr>
          <p:cNvPr id="7" name="Obrázok 6" descr="Obrázok, na ktorom je písmo, grafika, logo, kruh">
            <a:extLst>
              <a:ext uri="{FF2B5EF4-FFF2-40B4-BE49-F238E27FC236}">
                <a16:creationId xmlns:a16="http://schemas.microsoft.com/office/drawing/2014/main" id="{97A7DE47-3C26-9503-4E0D-3CA5230F4F1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1" y="324810"/>
            <a:ext cx="1255720" cy="44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Gotham Book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otham Book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otham Ligh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otham Ligh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D23A-F728-3163-80FC-73818F3C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6F74CCB2-5D68-AD4B-BD4B-2DDF099FE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3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6D41F07F-6001-675A-3282-74F5B612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en-US" sz="6100" b="1" dirty="0">
                <a:latin typeface="Gotham Black"/>
              </a:rPr>
              <a:t>ONE CONTENT </a:t>
            </a:r>
            <a:r>
              <a:rPr lang="en-US" sz="6100" dirty="0">
                <a:latin typeface="Gotham Black"/>
              </a:rPr>
              <a:t>UNIVERSE</a:t>
            </a:r>
            <a:endParaRPr lang="sk-SK" sz="61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77212000-AFF4-4799-F2BE-C0112969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06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6C37-042B-8714-4D8A-BB0A7F14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90B8B3-50EC-53CA-D1ED-CFE4B6AE1502}"/>
              </a:ext>
            </a:extLst>
          </p:cNvPr>
          <p:cNvSpPr/>
          <p:nvPr/>
        </p:nvSpPr>
        <p:spPr>
          <a:xfrm>
            <a:off x="702733" y="5133974"/>
            <a:ext cx="11015134" cy="1141651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C848927-08FC-7333-E356-B193268E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46" y="771095"/>
            <a:ext cx="9901382" cy="49747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Gotham Black"/>
              </a:rPr>
              <a:t>ONE Universe</a:t>
            </a:r>
            <a:r>
              <a:rPr lang="en-US" dirty="0">
                <a:latin typeface="Gotham Black"/>
              </a:rPr>
              <a:t>, two gateways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7C9ED35C-5914-5145-C67B-BFDCCA5A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5C95176D-216B-CC12-98EE-94FF1E270F4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219700" y="1995488"/>
            <a:ext cx="6972300" cy="275590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One shared content universe.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TV channels and </a:t>
            </a: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 tell the same stories.</a:t>
            </a: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What changes is not the content – but how and when people experience it.</a:t>
            </a:r>
            <a:endParaRPr lang="en-US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Gotham Black"/>
              </a:rPr>
              <a:t>TV creates shared moments and anticipation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 extends stories with continuity and flexibility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50C0D14E-ED70-BB13-E98F-E0C3479DBD3B}"/>
              </a:ext>
            </a:extLst>
          </p:cNvPr>
          <p:cNvSpPr txBox="1"/>
          <p:nvPr/>
        </p:nvSpPr>
        <p:spPr>
          <a:xfrm>
            <a:off x="483646" y="451059"/>
            <a:ext cx="8548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CORE PRINCIPLE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1EE7242C-EC56-54CE-78D7-BA4AB1C3A3BF}"/>
              </a:ext>
            </a:extLst>
          </p:cNvPr>
          <p:cNvSpPr txBox="1"/>
          <p:nvPr/>
        </p:nvSpPr>
        <p:spPr>
          <a:xfrm>
            <a:off x="2520517" y="5133975"/>
            <a:ext cx="7150966" cy="1021556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KEY RULE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We never compete TV against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.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They are complementary gateways within one ecosystem.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590427-E9F8-FFCA-6AD4-03540AADA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861" y="1969654"/>
            <a:ext cx="1860938" cy="1984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95E329-3FF4-98AF-2BE7-F5626945E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5725">
            <a:off x="516895" y="3274651"/>
            <a:ext cx="1357997" cy="1448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1C4173-A901-F462-FBE2-28B19DED9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2467">
            <a:off x="1167039" y="1871927"/>
            <a:ext cx="708384" cy="75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05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101E18-3574-8C54-1790-0633261E3650}"/>
              </a:ext>
            </a:extLst>
          </p:cNvPr>
          <p:cNvSpPr/>
          <p:nvPr/>
        </p:nvSpPr>
        <p:spPr>
          <a:xfrm>
            <a:off x="5924323" y="1785275"/>
            <a:ext cx="5058002" cy="3691600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A0FC2-923A-7ADC-7DA4-D2D1882E914F}"/>
              </a:ext>
            </a:extLst>
          </p:cNvPr>
          <p:cNvSpPr/>
          <p:nvPr/>
        </p:nvSpPr>
        <p:spPr>
          <a:xfrm>
            <a:off x="561748" y="1785275"/>
            <a:ext cx="5058002" cy="3691600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704FD55-9817-4B62-0B70-695733FC4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9" y="615747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Same content </a:t>
            </a:r>
            <a:r>
              <a:rPr lang="en-US" dirty="0">
                <a:latin typeface="Gotham Black"/>
              </a:rPr>
              <a:t>world. Different roles.</a:t>
            </a:r>
            <a:endParaRPr lang="sk-SK" dirty="0">
              <a:latin typeface="Gotham Black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222BC47A-43EE-4F81-1B1B-EDCD45F7D375}"/>
              </a:ext>
            </a:extLst>
          </p:cNvPr>
          <p:cNvSpPr txBox="1"/>
          <p:nvPr/>
        </p:nvSpPr>
        <p:spPr>
          <a:xfrm>
            <a:off x="461819" y="1902138"/>
            <a:ext cx="4948382" cy="2659593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TV CHANNELS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Built for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shared moments and reach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Fixed timing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 collective viewing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Strong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in launches, anticipation, and ritual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Communicates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in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classic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broadcast language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92FEB024-37E9-6952-F2B3-296E535FAE04}"/>
              </a:ext>
            </a:extLst>
          </p:cNvPr>
          <p:cNvSpPr txBox="1"/>
          <p:nvPr/>
        </p:nvSpPr>
        <p:spPr>
          <a:xfrm>
            <a:off x="6086764" y="1962182"/>
            <a:ext cx="4809836" cy="2655337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>
              <a:buNone/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Built for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continuity and flexibility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Personal timing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 everyday viewing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Strong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in access, depth, and ease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Speaks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in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modern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 streaming-first language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ECC4B67E-620E-012A-8CD4-EE33E653FF24}"/>
              </a:ext>
            </a:extLst>
          </p:cNvPr>
          <p:cNvSpPr txBox="1"/>
          <p:nvPr/>
        </p:nvSpPr>
        <p:spPr>
          <a:xfrm>
            <a:off x="1395268" y="5710019"/>
            <a:ext cx="9582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Guiding rule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If TV and VOYO start to feel the same,</a:t>
            </a: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we lose the strength of both.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CA87B414-A84E-7C9B-935C-64F1D59E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3" name="Picture 2" descr="Attention PNG transparent image download, size: 2400x2400px">
            <a:extLst>
              <a:ext uri="{FF2B5EF4-FFF2-40B4-BE49-F238E27FC236}">
                <a16:creationId xmlns:a16="http://schemas.microsoft.com/office/drawing/2014/main" id="{F47578BF-BF48-7A11-87C6-B5ECD6C2E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96" y="5837710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091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66EC5B-47B4-A1AF-DD3E-DD610E701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85" y="611115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b="1" dirty="0">
                <a:latin typeface="Gotham Black"/>
              </a:rPr>
              <a:t>Leadership</a:t>
            </a:r>
            <a:r>
              <a:rPr lang="sk-SK" sz="4000" dirty="0">
                <a:latin typeface="Gotham Black"/>
              </a:rPr>
              <a:t> &amp; Brand hierarchy (practice)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F523FEA-F8CD-31AF-987F-102A7DFF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85" y="1647825"/>
            <a:ext cx="11286836" cy="1331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Gotham Black"/>
              </a:rPr>
              <a:t>Content leads. Gateways follow.</a:t>
            </a:r>
            <a:endParaRPr lang="sk-SK" sz="2400" b="1" dirty="0">
              <a:latin typeface="Gotham Black"/>
            </a:endParaRPr>
          </a:p>
          <a:p>
            <a:pPr marL="0" indent="0">
              <a:buNone/>
            </a:pPr>
            <a:r>
              <a:rPr lang="en-US" sz="2000" dirty="0">
                <a:latin typeface="Gotham Black"/>
              </a:rPr>
              <a:t>Always start with the story.</a:t>
            </a:r>
            <a:r>
              <a:rPr lang="sk-SK" sz="2000" dirty="0">
                <a:latin typeface="Gotham Black"/>
              </a:rPr>
              <a:t> </a:t>
            </a:r>
            <a:r>
              <a:rPr lang="en-US" sz="2000" dirty="0">
                <a:latin typeface="Gotham Black"/>
              </a:rPr>
              <a:t>Series, reality or sport is the hero – not the platform.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1E79D61F-481F-C1BD-BFE8-999B0D3A260F}"/>
              </a:ext>
            </a:extLst>
          </p:cNvPr>
          <p:cNvSpPr txBox="1"/>
          <p:nvPr/>
        </p:nvSpPr>
        <p:spPr>
          <a:xfrm>
            <a:off x="470285" y="2852895"/>
            <a:ext cx="547196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TV LEADS WHEN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Launching new stories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Building anticipation and shared rituals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Driving mass reach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appears only as a continuation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Use: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“Available now on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”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“Watch it first on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”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DE2B25A2-ABE3-6559-3481-823C59AC8722}"/>
              </a:ext>
            </a:extLst>
          </p:cNvPr>
          <p:cNvSpPr txBox="1"/>
          <p:nvPr/>
        </p:nvSpPr>
        <p:spPr>
          <a:xfrm>
            <a:off x="5801687" y="2852895"/>
            <a:ext cx="60960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LEADS WHEN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Delivering the streaming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Offering early access, full seasons or exclusives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Enabling continuation beyond broadcast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is the only visible brand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Use: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“All episodes on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“Keep watching, on your terms.”</a:t>
            </a: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BC8B8938-DA4B-2F1F-60B5-7EFB4754CF97}"/>
              </a:ext>
            </a:extLst>
          </p:cNvPr>
          <p:cNvSpPr txBox="1"/>
          <p:nvPr/>
        </p:nvSpPr>
        <p:spPr>
          <a:xfrm>
            <a:off x="1533524" y="5595257"/>
            <a:ext cx="93154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SIMPLE CHECK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If it’s not immediately clear what is being promoted – the story or the platform – the hierarchy is wrong.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6DCF8CE-619E-1AF8-25F1-ADDAA0E0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6" name="Picture 5" descr="Attention PNG transparent image download, size: 2400x2400px">
            <a:extLst>
              <a:ext uri="{FF2B5EF4-FFF2-40B4-BE49-F238E27FC236}">
                <a16:creationId xmlns:a16="http://schemas.microsoft.com/office/drawing/2014/main" id="{F72DD49E-91D3-588C-172E-A9C063E5A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96" y="5761510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57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35F582-7142-E501-5FCE-8D9CA78B7473}"/>
              </a:ext>
            </a:extLst>
          </p:cNvPr>
          <p:cNvSpPr/>
          <p:nvPr/>
        </p:nvSpPr>
        <p:spPr>
          <a:xfrm rot="5400000">
            <a:off x="7562230" y="1209917"/>
            <a:ext cx="1587661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96EA76-1C09-F888-194A-0D91F6082DB0}"/>
              </a:ext>
            </a:extLst>
          </p:cNvPr>
          <p:cNvSpPr/>
          <p:nvPr/>
        </p:nvSpPr>
        <p:spPr>
          <a:xfrm rot="5400000">
            <a:off x="2194270" y="1209916"/>
            <a:ext cx="15876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6673557-176C-DE3E-7D0F-02940BC3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0505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>
                <a:latin typeface="Gotham Black"/>
              </a:rPr>
              <a:t>Relationship</a:t>
            </a:r>
            <a:r>
              <a:rPr lang="sk-SK" dirty="0">
                <a:latin typeface="Gotham Black"/>
              </a:rPr>
              <a:t> to News Brands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7B52DC3-3A73-A620-80D9-1F9F80E9F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559052"/>
            <a:ext cx="11277600" cy="9704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Gotham Black"/>
              </a:rPr>
              <a:t>Core principle</a:t>
            </a:r>
          </a:p>
          <a:p>
            <a:pPr marL="0" indent="0">
              <a:buNone/>
            </a:pPr>
            <a:r>
              <a:rPr lang="en-US" dirty="0">
                <a:latin typeface="Gotham Black"/>
              </a:rPr>
              <a:t>News brands lead trust. VOYO leads access.</a:t>
            </a:r>
          </a:p>
          <a:p>
            <a:pPr marL="0" indent="0">
              <a:buNone/>
            </a:pPr>
            <a:endParaRPr lang="sk-SK" dirty="0">
              <a:latin typeface="Montserrat" panose="00000500000000000000" pitchFamily="2" charset="0"/>
            </a:endParaRPr>
          </a:p>
          <a:p>
            <a:endParaRPr lang="sk-SK" dirty="0">
              <a:latin typeface="Montserrat" panose="00000500000000000000" pitchFamily="2" charset="0"/>
            </a:endParaRP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0B6EC194-C8E0-19B0-1588-5E9DB885A21B}"/>
              </a:ext>
            </a:extLst>
          </p:cNvPr>
          <p:cNvSpPr txBox="1"/>
          <p:nvPr/>
        </p:nvSpPr>
        <p:spPr>
          <a:xfrm>
            <a:off x="1423842" y="5793271"/>
            <a:ext cx="91108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Simple check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If it sounds like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is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speaking the news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 the execution is wrong.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AE5C80CA-5C05-1F6A-F168-B0639F6F9025}"/>
              </a:ext>
            </a:extLst>
          </p:cNvPr>
          <p:cNvSpPr txBox="1"/>
          <p:nvPr/>
        </p:nvSpPr>
        <p:spPr>
          <a:xfrm>
            <a:off x="611281" y="444845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HOW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SUPPORTS NEWS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Full episodes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Longer interviews &amp; explainers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Archives, watched anytime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C5448199-D772-53B4-8AE6-CF118247508D}"/>
              </a:ext>
            </a:extLst>
          </p:cNvPr>
          <p:cNvSpPr txBox="1"/>
          <p:nvPr/>
        </p:nvSpPr>
        <p:spPr>
          <a:xfrm>
            <a:off x="6194443" y="3048699"/>
            <a:ext cx="4005118" cy="1021556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 platform for access and viewing – not a news brand.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DFDD7F6-1D56-F773-2B95-CF57D5A2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27F916E3-92BE-D206-B0C9-5E139223A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96" y="5869859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BlokTextu 14">
            <a:extLst>
              <a:ext uri="{FF2B5EF4-FFF2-40B4-BE49-F238E27FC236}">
                <a16:creationId xmlns:a16="http://schemas.microsoft.com/office/drawing/2014/main" id="{95CE06A5-B958-308B-908E-80E2E7531664}"/>
              </a:ext>
            </a:extLst>
          </p:cNvPr>
          <p:cNvSpPr txBox="1"/>
          <p:nvPr/>
        </p:nvSpPr>
        <p:spPr>
          <a:xfrm>
            <a:off x="683491" y="2959711"/>
            <a:ext cx="4005118" cy="1021556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News brands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Independent editorial voices. Full responsibility for content and trust.</a:t>
            </a:r>
          </a:p>
        </p:txBody>
      </p:sp>
    </p:spTree>
    <p:extLst>
      <p:ext uri="{BB962C8B-B14F-4D97-AF65-F5344CB8AC3E}">
        <p14:creationId xmlns:p14="http://schemas.microsoft.com/office/powerpoint/2010/main" val="295981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C90C8-F7FE-2A76-7712-B944FA41F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9E9545-B594-4B76-0DB9-B86E8D34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2439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b="1" dirty="0">
                <a:latin typeface="Gotham Black"/>
              </a:rPr>
              <a:t>Content &amp; Windowing Principles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122590-1FF8-8DB6-4480-77FD5D2DE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889"/>
            <a:ext cx="11277600" cy="527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Gotham Black"/>
              </a:rPr>
              <a:t>Content leads. Windowing defines the experience.</a:t>
            </a:r>
            <a:endParaRPr lang="en-US" dirty="0">
              <a:latin typeface="Gotham Black"/>
            </a:endParaRPr>
          </a:p>
          <a:p>
            <a:endParaRPr lang="sk-SK" dirty="0">
              <a:latin typeface="Gotham Black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BA52C2DC-EE51-587E-EF91-A34E1D6354DB}"/>
              </a:ext>
            </a:extLst>
          </p:cNvPr>
          <p:cNvSpPr txBox="1"/>
          <p:nvPr/>
        </p:nvSpPr>
        <p:spPr>
          <a:xfrm>
            <a:off x="461818" y="2481282"/>
            <a:ext cx="563418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LIVE &amp; EVENT CONTENT 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(ESPECIALLY SPORT, BIG REALITY MOMENTS)</a:t>
            </a:r>
            <a:endParaRPr kumimoji="0" lang="cs-CZ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and TV can both be live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TV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amplifies national moments and mass reach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enables: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more live content than linear can carry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choice of matches, angles, streams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immediate access for highly engaged fans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Rule: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If it’s about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breadth and shared national attention → TV leads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If it’s about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depth, volume, or choice →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leads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9FA3DB30-74BF-8943-43D7-4A68E90ACD8B}"/>
              </a:ext>
            </a:extLst>
          </p:cNvPr>
          <p:cNvSpPr txBox="1"/>
          <p:nvPr/>
        </p:nvSpPr>
        <p:spPr>
          <a:xfrm>
            <a:off x="6324600" y="2451606"/>
            <a:ext cx="564341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SCHEDULED SHOWS &amp; REALITY FORMATS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Viewing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behaviour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depends on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audience, not schedule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Younger and digitally native audiences often: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watch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on VOYO first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 even for “Thursday night shows”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expect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instant access to avoid spoilers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TV still creates awareness and rhythm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captures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the core fan viewing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Rule: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If spoilers matter and fandom is digital →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must lead access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98EB374-240B-A88F-469B-445EFBAD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" name="Rovná spojnica 4">
            <a:extLst>
              <a:ext uri="{FF2B5EF4-FFF2-40B4-BE49-F238E27FC236}">
                <a16:creationId xmlns:a16="http://schemas.microsoft.com/office/drawing/2014/main" id="{89ECEF61-AB2D-5F10-B615-C1587DE3DF55}"/>
              </a:ext>
            </a:extLst>
          </p:cNvPr>
          <p:cNvCxnSpPr>
            <a:cxnSpLocks/>
          </p:cNvCxnSpPr>
          <p:nvPr/>
        </p:nvCxnSpPr>
        <p:spPr>
          <a:xfrm>
            <a:off x="5698477" y="3317506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993287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1CD9D4-2720-878A-4875-25A0442E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6497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Content &amp; Windowing Principles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CB13A2E-DDFC-42D8-A56C-681ECA463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863" y="2727854"/>
            <a:ext cx="7154762" cy="32591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Gotham Black"/>
              </a:rPr>
              <a:t>Simple decision check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Gotham Black"/>
              </a:rPr>
              <a:t>Ask first:</a:t>
            </a:r>
            <a:r>
              <a:rPr lang="sk-SK" sz="2400" dirty="0">
                <a:latin typeface="Gotham Black"/>
              </a:rPr>
              <a:t> </a:t>
            </a:r>
            <a:r>
              <a:rPr lang="en-US" sz="2400" b="1" dirty="0">
                <a:latin typeface="Gotham Black"/>
              </a:rPr>
              <a:t>“Why would someone watch this right now?”</a:t>
            </a:r>
            <a:endParaRPr lang="en-US" sz="2400" dirty="0">
              <a:latin typeface="Gotham Black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Gotham Black"/>
              </a:rPr>
              <a:t>Because it’s </a:t>
            </a:r>
            <a:r>
              <a:rPr lang="en-US" sz="2000" b="1" dirty="0">
                <a:latin typeface="Gotham Black"/>
              </a:rPr>
              <a:t>happening now / big shared moment</a:t>
            </a:r>
            <a:r>
              <a:rPr lang="en-US" sz="2000" dirty="0">
                <a:latin typeface="Gotham Black"/>
              </a:rPr>
              <a:t> → lean TV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Gotham Black"/>
              </a:rPr>
              <a:t>Because they </a:t>
            </a:r>
            <a:r>
              <a:rPr lang="en-US" sz="2000" b="1" dirty="0">
                <a:latin typeface="Gotham Black"/>
              </a:rPr>
              <a:t>don’t want to miss out / be spoiled / choose freely</a:t>
            </a:r>
            <a:r>
              <a:rPr lang="en-US" sz="2000" dirty="0">
                <a:latin typeface="Gotham Black"/>
              </a:rPr>
              <a:t> → lean VOYO</a:t>
            </a:r>
          </a:p>
          <a:p>
            <a:pPr>
              <a:lnSpc>
                <a:spcPct val="100000"/>
              </a:lnSpc>
            </a:pPr>
            <a:endParaRPr lang="sk-SK" sz="24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CABFA05-8B5B-0B4D-CD39-494C3206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D434E6-C97B-C194-B17E-D0F2EBFAB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93" y="2910415"/>
            <a:ext cx="2108041" cy="2108041"/>
          </a:xfrm>
          <a:prstGeom prst="rect">
            <a:avLst/>
          </a:prstGeom>
        </p:spPr>
      </p:pic>
      <p:cxnSp>
        <p:nvCxnSpPr>
          <p:cNvPr id="7" name="Rovná spojnica 4">
            <a:extLst>
              <a:ext uri="{FF2B5EF4-FFF2-40B4-BE49-F238E27FC236}">
                <a16:creationId xmlns:a16="http://schemas.microsoft.com/office/drawing/2014/main" id="{6651A00B-8C0E-7723-3A7F-DC1F5F460A8B}"/>
              </a:ext>
            </a:extLst>
          </p:cNvPr>
          <p:cNvCxnSpPr>
            <a:cxnSpLocks/>
          </p:cNvCxnSpPr>
          <p:nvPr/>
        </p:nvCxnSpPr>
        <p:spPr>
          <a:xfrm>
            <a:off x="3452598" y="3424807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866846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594FD6-20EA-7078-9406-8D24DAAF9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554290"/>
            <a:ext cx="11277599" cy="715882"/>
          </a:xfrm>
        </p:spPr>
        <p:txBody>
          <a:bodyPr>
            <a:noAutofit/>
          </a:bodyPr>
          <a:lstStyle/>
          <a:p>
            <a:r>
              <a:rPr lang="sk-SK" sz="3200" b="1" dirty="0" err="1">
                <a:latin typeface="Gotham Black"/>
              </a:rPr>
              <a:t>Communication</a:t>
            </a:r>
            <a:r>
              <a:rPr lang="sk-SK" sz="3200" b="1" dirty="0">
                <a:latin typeface="Gotham Black"/>
              </a:rPr>
              <a:t> </a:t>
            </a:r>
            <a:r>
              <a:rPr lang="sk-SK" sz="3200" b="1" dirty="0" err="1">
                <a:latin typeface="Gotham Black"/>
              </a:rPr>
              <a:t>Architecture</a:t>
            </a:r>
            <a:r>
              <a:rPr lang="sk-SK" sz="3200" b="1" dirty="0">
                <a:latin typeface="Gotham Black"/>
              </a:rPr>
              <a:t>: </a:t>
            </a:r>
            <a:br>
              <a:rPr lang="sk-SK" sz="3200" b="1" dirty="0">
                <a:latin typeface="Gotham Black"/>
              </a:rPr>
            </a:br>
            <a:r>
              <a:rPr lang="sk-SK" sz="3200" dirty="0" err="1">
                <a:latin typeface="Gotham Black"/>
              </a:rPr>
              <a:t>Brand</a:t>
            </a:r>
            <a:r>
              <a:rPr lang="sk-SK" sz="3200" dirty="0">
                <a:latin typeface="Gotham Black"/>
              </a:rPr>
              <a:t> </a:t>
            </a:r>
            <a:r>
              <a:rPr lang="sk-SK" sz="3200" dirty="0" err="1">
                <a:latin typeface="Gotham Black"/>
              </a:rPr>
              <a:t>vs</a:t>
            </a:r>
            <a:r>
              <a:rPr lang="sk-SK" sz="3200" dirty="0">
                <a:latin typeface="Gotham Black"/>
              </a:rPr>
              <a:t> </a:t>
            </a:r>
            <a:r>
              <a:rPr lang="sk-SK" sz="3200" dirty="0" err="1">
                <a:latin typeface="Gotham Black"/>
              </a:rPr>
              <a:t>Platform</a:t>
            </a:r>
            <a:r>
              <a:rPr lang="sk-SK" sz="3200" dirty="0">
                <a:latin typeface="Gotham Black"/>
              </a:rPr>
              <a:t> </a:t>
            </a:r>
            <a:r>
              <a:rPr lang="sk-SK" sz="3200" dirty="0" err="1">
                <a:latin typeface="Gotham Black"/>
              </a:rPr>
              <a:t>vs</a:t>
            </a:r>
            <a:r>
              <a:rPr lang="sk-SK" sz="3200" dirty="0">
                <a:latin typeface="Gotham Black"/>
              </a:rPr>
              <a:t> </a:t>
            </a:r>
            <a:r>
              <a:rPr lang="sk-SK" sz="3200" dirty="0" err="1">
                <a:latin typeface="Gotham Black"/>
              </a:rPr>
              <a:t>Content</a:t>
            </a:r>
            <a:endParaRPr lang="sk-SK" sz="3200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7384249-872B-329A-CEC2-4EAB72F1B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760800"/>
            <a:ext cx="11277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Every touchpoint contains all three layers — but one layer always leads.</a:t>
            </a:r>
            <a:endParaRPr lang="sk-SK" sz="1800" dirty="0">
              <a:latin typeface="Gotham Black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EE31E627-7E39-4B2A-DBD4-AD2682ECF4BE}"/>
              </a:ext>
            </a:extLst>
          </p:cNvPr>
          <p:cNvSpPr/>
          <p:nvPr/>
        </p:nvSpPr>
        <p:spPr>
          <a:xfrm>
            <a:off x="452582" y="3505522"/>
            <a:ext cx="11268365" cy="131412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68A847C-6ACA-6A73-D2BB-EF6B356C6551}"/>
              </a:ext>
            </a:extLst>
          </p:cNvPr>
          <p:cNvSpPr/>
          <p:nvPr/>
        </p:nvSpPr>
        <p:spPr>
          <a:xfrm>
            <a:off x="628650" y="3642682"/>
            <a:ext cx="10564092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PLATFORM</a:t>
            </a:r>
            <a:r>
              <a:rPr kumimoji="0" lang="sk-SK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 </a:t>
            </a: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(when VOYO leads)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9E6534DA-C11A-0F97-7CC3-99DF3D142CBD}"/>
              </a:ext>
            </a:extLst>
          </p:cNvPr>
          <p:cNvSpPr/>
          <p:nvPr/>
        </p:nvSpPr>
        <p:spPr>
          <a:xfrm>
            <a:off x="628650" y="3918435"/>
            <a:ext cx="2527836" cy="777240"/>
          </a:xfrm>
          <a:prstGeom prst="roundRect">
            <a:avLst/>
          </a:prstGeom>
          <a:noFill/>
          <a:ln w="25400">
            <a:noFill/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Watch first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Early access, being ahead of the conversation, spoiler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dvantage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D4C47E6-E33F-45CA-1D38-8108A0F75592}"/>
              </a:ext>
            </a:extLst>
          </p:cNvPr>
          <p:cNvSpPr/>
          <p:nvPr/>
        </p:nvSpPr>
        <p:spPr>
          <a:xfrm>
            <a:off x="3348491" y="3924381"/>
            <a:ext cx="2527836" cy="777240"/>
          </a:xfrm>
          <a:prstGeom prst="roundRect">
            <a:avLst/>
          </a:prstGeom>
          <a:noFill/>
          <a:ln w="28575">
            <a:noFill/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Watch more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Full seasons, depth, continuity beyond a single moment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C3A7188-8BEF-5331-11AA-1DCC7A903C16}"/>
              </a:ext>
            </a:extLst>
          </p:cNvPr>
          <p:cNvSpPr/>
          <p:nvPr/>
        </p:nvSpPr>
        <p:spPr>
          <a:xfrm>
            <a:off x="6096599" y="3918435"/>
            <a:ext cx="2527836" cy="777240"/>
          </a:xfrm>
          <a:prstGeom prst="roundRect">
            <a:avLst/>
          </a:prstGeom>
          <a:noFill/>
          <a:ln w="25400">
            <a:noFill/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Watch anytime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Fits real life and real rhythms — live or on demand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0C01D11D-43A7-3D4B-3B99-177A33CA550B}"/>
              </a:ext>
            </a:extLst>
          </p:cNvPr>
          <p:cNvSpPr/>
          <p:nvPr/>
        </p:nvSpPr>
        <p:spPr>
          <a:xfrm>
            <a:off x="8883116" y="3918435"/>
            <a:ext cx="2527836" cy="777240"/>
          </a:xfrm>
          <a:prstGeom prst="roundRect">
            <a:avLst/>
          </a:prstGeom>
          <a:noFill/>
          <a:ln w="25400">
            <a:noFill/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Fair value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Clear pricing, no tricks, worth paying for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8603E449-1B44-8BA6-A567-455AA26730AB}"/>
              </a:ext>
            </a:extLst>
          </p:cNvPr>
          <p:cNvSpPr/>
          <p:nvPr/>
        </p:nvSpPr>
        <p:spPr>
          <a:xfrm>
            <a:off x="452582" y="4968563"/>
            <a:ext cx="11286834" cy="131412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A00A64A-0B7A-1AEC-E2C1-36303DFE0D4C}"/>
              </a:ext>
            </a:extLst>
          </p:cNvPr>
          <p:cNvSpPr/>
          <p:nvPr/>
        </p:nvSpPr>
        <p:spPr>
          <a:xfrm>
            <a:off x="628650" y="5151130"/>
            <a:ext cx="10708065" cy="71679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CONTENT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(shows / IP) </a:t>
            </a: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–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 the</a:t>
            </a: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 hero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Segoe UI" pitchFamily="34" charset="-120"/>
            </a:endParaRPr>
          </a:p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Content is always the main message.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Platform benefits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never replace the story</a:t>
            </a:r>
            <a:r>
              <a:rPr kumimoji="0" lang="sk-SK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they frame how it is accessed</a:t>
            </a:r>
          </a:p>
        </p:txBody>
      </p:sp>
      <p:sp>
        <p:nvSpPr>
          <p:cNvPr id="5" name="Text 41">
            <a:extLst>
              <a:ext uri="{FF2B5EF4-FFF2-40B4-BE49-F238E27FC236}">
                <a16:creationId xmlns:a16="http://schemas.microsoft.com/office/drawing/2014/main" id="{858A6E21-5FEB-AE85-DFA5-EE55CE844205}"/>
              </a:ext>
            </a:extLst>
          </p:cNvPr>
          <p:cNvSpPr/>
          <p:nvPr/>
        </p:nvSpPr>
        <p:spPr>
          <a:xfrm>
            <a:off x="7753350" y="2373537"/>
            <a:ext cx="3326823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KEY RULE</a:t>
            </a:r>
          </a:p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Same show, same world</a:t>
            </a: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but different benefits &amp; CTAs for TV vs VOYO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961C899F-64BD-C0BC-BFAD-F225054DA705}"/>
              </a:ext>
            </a:extLst>
          </p:cNvPr>
          <p:cNvSpPr txBox="1"/>
          <p:nvPr/>
        </p:nvSpPr>
        <p:spPr>
          <a:xfrm>
            <a:off x="628650" y="2193839"/>
            <a:ext cx="6094476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BRAND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The</a:t>
            </a:r>
            <a:r>
              <a:rPr kumimoji="0" lang="sk-SK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</a:t>
            </a:r>
            <a:r>
              <a:rPr kumimoji="0" lang="sk-SK" sz="14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constant</a:t>
            </a:r>
            <a:r>
              <a:rPr kumimoji="0" lang="sk-SK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</a:t>
            </a:r>
            <a:r>
              <a:rPr kumimoji="0" lang="sk-SK" sz="14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frame</a:t>
            </a:r>
            <a:endParaRPr kumimoji="0" lang="sk-SK" sz="1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Promise • Personality • Emotions • Local relevance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Brand sets the tone, not the topic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Zástupný objekt pre číslo snímky 7">
            <a:extLst>
              <a:ext uri="{FF2B5EF4-FFF2-40B4-BE49-F238E27FC236}">
                <a16:creationId xmlns:a16="http://schemas.microsoft.com/office/drawing/2014/main" id="{B9F02EEC-9AF9-8594-141B-AE90CE16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BE8A457F-3583-952E-C52D-90A3C44D532B}"/>
              </a:ext>
            </a:extLst>
          </p:cNvPr>
          <p:cNvSpPr/>
          <p:nvPr/>
        </p:nvSpPr>
        <p:spPr>
          <a:xfrm>
            <a:off x="433533" y="2100111"/>
            <a:ext cx="11286834" cy="131412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492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5323D3-367A-E871-E392-AD3445348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82" y="619894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What</a:t>
            </a:r>
            <a:r>
              <a:rPr lang="sk-SK" b="1" dirty="0">
                <a:latin typeface="Gotham Black"/>
              </a:rPr>
              <a:t> </a:t>
            </a:r>
            <a:r>
              <a:rPr lang="sk-SK" b="1" dirty="0" err="1">
                <a:latin typeface="Gotham Black"/>
              </a:rPr>
              <a:t>leads</a:t>
            </a:r>
            <a:r>
              <a:rPr lang="sk-SK" dirty="0">
                <a:latin typeface="Gotham Black"/>
              </a:rPr>
              <a:t>, and </a:t>
            </a:r>
            <a:r>
              <a:rPr lang="sk-SK" dirty="0" err="1">
                <a:latin typeface="Gotham Black"/>
              </a:rPr>
              <a:t>why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F585E30-A682-2AF6-1B42-8F78AECEE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582" y="1624031"/>
            <a:ext cx="11277600" cy="421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Every touchpoint contains brand, platform and content.</a:t>
            </a:r>
            <a:r>
              <a:rPr lang="sk-SK" sz="1800" dirty="0">
                <a:latin typeface="Gotham Black"/>
              </a:rPr>
              <a:t> </a:t>
            </a:r>
            <a:r>
              <a:rPr lang="en-US" sz="1800" dirty="0">
                <a:latin typeface="Gotham Black"/>
              </a:rPr>
              <a:t>But one must lead.</a:t>
            </a:r>
            <a:endParaRPr lang="sk-SK" sz="1800" dirty="0">
              <a:latin typeface="Gotham Black"/>
            </a:endParaRPr>
          </a:p>
        </p:txBody>
      </p:sp>
      <p:sp>
        <p:nvSpPr>
          <p:cNvPr id="4" name="Shape 21">
            <a:extLst>
              <a:ext uri="{FF2B5EF4-FFF2-40B4-BE49-F238E27FC236}">
                <a16:creationId xmlns:a16="http://schemas.microsoft.com/office/drawing/2014/main" id="{62F11288-0028-7A62-F0B7-90A9CAAAD37C}"/>
              </a:ext>
            </a:extLst>
          </p:cNvPr>
          <p:cNvSpPr/>
          <p:nvPr/>
        </p:nvSpPr>
        <p:spPr>
          <a:xfrm>
            <a:off x="433533" y="2147264"/>
            <a:ext cx="11286834" cy="918781"/>
          </a:xfrm>
          <a:prstGeom prst="round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Non-negociables</a:t>
            </a:r>
            <a:endParaRPr kumimoji="0" lang="sk-SK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graphicFrame>
        <p:nvGraphicFramePr>
          <p:cNvPr id="7" name="Tabuľka 6">
            <a:extLst>
              <a:ext uri="{FF2B5EF4-FFF2-40B4-BE49-F238E27FC236}">
                <a16:creationId xmlns:a16="http://schemas.microsoft.com/office/drawing/2014/main" id="{FA8D43CF-52B4-E1C8-AAAF-5087C13D6EF6}"/>
              </a:ext>
            </a:extLst>
          </p:cNvPr>
          <p:cNvGraphicFramePr>
            <a:graphicFrameLocks noGrp="1"/>
          </p:cNvGraphicFramePr>
          <p:nvPr/>
        </p:nvGraphicFramePr>
        <p:xfrm>
          <a:off x="443348" y="2653320"/>
          <a:ext cx="1128683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2278">
                  <a:extLst>
                    <a:ext uri="{9D8B030D-6E8A-4147-A177-3AD203B41FA5}">
                      <a16:colId xmlns:a16="http://schemas.microsoft.com/office/drawing/2014/main" val="3498321507"/>
                    </a:ext>
                  </a:extLst>
                </a:gridCol>
                <a:gridCol w="3762278">
                  <a:extLst>
                    <a:ext uri="{9D8B030D-6E8A-4147-A177-3AD203B41FA5}">
                      <a16:colId xmlns:a16="http://schemas.microsoft.com/office/drawing/2014/main" val="1425191936"/>
                    </a:ext>
                  </a:extLst>
                </a:gridCol>
                <a:gridCol w="3762278">
                  <a:extLst>
                    <a:ext uri="{9D8B030D-6E8A-4147-A177-3AD203B41FA5}">
                      <a16:colId xmlns:a16="http://schemas.microsoft.com/office/drawing/2014/main" val="395784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1.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Content is the hero.</a:t>
                      </a:r>
                      <a:r>
                        <a:rPr lang="sk-SK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 		</a:t>
                      </a:r>
                      <a:endParaRPr lang="sk-SK" sz="1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2.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TV builds reach and shared moments.</a:t>
                      </a:r>
                      <a:r>
                        <a:rPr lang="sk-SK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endParaRPr lang="sk-SK" sz="1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3.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VOYO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 extends access, continuity and flex</a:t>
                      </a:r>
                      <a:endParaRPr lang="sk-SK" sz="1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12731"/>
                  </a:ext>
                </a:extLst>
              </a:tr>
            </a:tbl>
          </a:graphicData>
        </a:graphic>
      </p:graphicFrame>
      <p:sp>
        <p:nvSpPr>
          <p:cNvPr id="8" name="Shape 21">
            <a:extLst>
              <a:ext uri="{FF2B5EF4-FFF2-40B4-BE49-F238E27FC236}">
                <a16:creationId xmlns:a16="http://schemas.microsoft.com/office/drawing/2014/main" id="{163FE6BA-FE06-83B0-43D0-FB1701325D7F}"/>
              </a:ext>
            </a:extLst>
          </p:cNvPr>
          <p:cNvSpPr/>
          <p:nvPr/>
        </p:nvSpPr>
        <p:spPr>
          <a:xfrm>
            <a:off x="443348" y="3229584"/>
            <a:ext cx="2679231" cy="316148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16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OBJECTIVE</a:t>
            </a:r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3E4F9EFF-1693-D40E-6406-F0E957575256}"/>
              </a:ext>
            </a:extLst>
          </p:cNvPr>
          <p:cNvSpPr/>
          <p:nvPr/>
        </p:nvSpPr>
        <p:spPr>
          <a:xfrm>
            <a:off x="3318463" y="3229584"/>
            <a:ext cx="2679231" cy="316148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16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LEAD LAYER</a:t>
            </a:r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A083956F-A2A6-1303-CD32-B17C868F9F54}"/>
              </a:ext>
            </a:extLst>
          </p:cNvPr>
          <p:cNvSpPr/>
          <p:nvPr/>
        </p:nvSpPr>
        <p:spPr>
          <a:xfrm>
            <a:off x="6185072" y="3229584"/>
            <a:ext cx="2679231" cy="316148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16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SUPPORTING LAYER</a:t>
            </a:r>
          </a:p>
        </p:txBody>
      </p:sp>
      <p:sp>
        <p:nvSpPr>
          <p:cNvPr id="11" name="Shape 21">
            <a:extLst>
              <a:ext uri="{FF2B5EF4-FFF2-40B4-BE49-F238E27FC236}">
                <a16:creationId xmlns:a16="http://schemas.microsoft.com/office/drawing/2014/main" id="{DED2B991-C365-1873-8A45-12FF5CEE6C0B}"/>
              </a:ext>
            </a:extLst>
          </p:cNvPr>
          <p:cNvSpPr/>
          <p:nvPr/>
        </p:nvSpPr>
        <p:spPr>
          <a:xfrm>
            <a:off x="9060187" y="3229584"/>
            <a:ext cx="2679231" cy="316148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16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EXAMPLE OUTPUT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09489A68-4B20-47C4-BCF8-272C6E7DF6EC}"/>
              </a:ext>
            </a:extLst>
          </p:cNvPr>
          <p:cNvSpPr txBox="1"/>
          <p:nvPr/>
        </p:nvSpPr>
        <p:spPr>
          <a:xfrm>
            <a:off x="605546" y="4296863"/>
            <a:ext cx="234193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Build long-term trust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Drive subscriptions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Launch a show or event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7EABA7B3-8F0D-8F05-429A-6897D1C87742}"/>
              </a:ext>
            </a:extLst>
          </p:cNvPr>
          <p:cNvSpPr txBox="1"/>
          <p:nvPr/>
        </p:nvSpPr>
        <p:spPr>
          <a:xfrm>
            <a:off x="3555204" y="4296863"/>
            <a:ext cx="234193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defRPr sz="14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Brand leads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Platform leads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Content leads</a:t>
            </a:r>
          </a:p>
        </p:txBody>
      </p:sp>
      <p:sp>
        <p:nvSpPr>
          <p:cNvPr id="16" name="BlokTextu 15">
            <a:extLst>
              <a:ext uri="{FF2B5EF4-FFF2-40B4-BE49-F238E27FC236}">
                <a16:creationId xmlns:a16="http://schemas.microsoft.com/office/drawing/2014/main" id="{BE4662FA-F754-E679-C9A1-832FB22C86F2}"/>
              </a:ext>
            </a:extLst>
          </p:cNvPr>
          <p:cNvSpPr txBox="1"/>
          <p:nvPr/>
        </p:nvSpPr>
        <p:spPr>
          <a:xfrm>
            <a:off x="6367430" y="4296863"/>
            <a:ext cx="249687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platform value + stories as proof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hero title + VOYO voice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access + brand signature</a:t>
            </a: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F6D8BAEC-8A9A-6557-D98B-A3F94E25FC31}"/>
              </a:ext>
            </a:extLst>
          </p:cNvPr>
          <p:cNvSpPr txBox="1"/>
          <p:nvPr/>
        </p:nvSpPr>
        <p:spPr>
          <a:xfrm>
            <a:off x="9226279" y="4250138"/>
            <a:ext cx="2588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umbrella campaign, always-on tone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performance video, landing page, CRM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trailer, PR story, “Available now on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”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5775E86B-3955-D0F3-035C-83EDB2DC5A49}"/>
              </a:ext>
            </a:extLst>
          </p:cNvPr>
          <p:cNvSpPr/>
          <p:nvPr/>
        </p:nvSpPr>
        <p:spPr>
          <a:xfrm>
            <a:off x="443348" y="6403331"/>
            <a:ext cx="6701589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Practical check: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Segoe UI" pitchFamily="34" charset="-122"/>
                <a:cs typeface="Segoe UI" pitchFamily="34" charset="-120"/>
              </a:rPr>
              <a:t>If we only say “On VOYO”, we may be missing the deeper reason to choose it.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152EA05-520E-430E-9B21-3E01229C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768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245B05F-CB71-8079-55CA-F1ADBA94B9C2}"/>
              </a:ext>
            </a:extLst>
          </p:cNvPr>
          <p:cNvSpPr/>
          <p:nvPr/>
        </p:nvSpPr>
        <p:spPr>
          <a:xfrm>
            <a:off x="8134061" y="3317816"/>
            <a:ext cx="3605357" cy="22257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EF81D7-22D1-2AAD-F7CC-20D19C3C9C39}"/>
              </a:ext>
            </a:extLst>
          </p:cNvPr>
          <p:cNvSpPr/>
          <p:nvPr/>
        </p:nvSpPr>
        <p:spPr>
          <a:xfrm>
            <a:off x="4293321" y="3317816"/>
            <a:ext cx="3605357" cy="22257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4BECD3-4597-3E5A-41D2-2D35D8D00898}"/>
              </a:ext>
            </a:extLst>
          </p:cNvPr>
          <p:cNvSpPr/>
          <p:nvPr/>
        </p:nvSpPr>
        <p:spPr>
          <a:xfrm>
            <a:off x="461818" y="3317817"/>
            <a:ext cx="3605357" cy="22257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FFE994A-4970-E067-16CD-C5DE526F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7614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Preview access</a:t>
            </a:r>
            <a:r>
              <a:rPr lang="en-US" dirty="0">
                <a:latin typeface="Gotham Black"/>
              </a:rPr>
              <a:t>, spoilers &amp; viewer experience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9FC588-F6B7-FFB4-5367-A753E5393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2174330"/>
            <a:ext cx="11277600" cy="878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Gotham Black"/>
              </a:rPr>
              <a:t>When </a:t>
            </a:r>
            <a:r>
              <a:rPr lang="en-US" sz="2000" dirty="0" err="1">
                <a:latin typeface="Gotham Black"/>
              </a:rPr>
              <a:t>VOYO</a:t>
            </a:r>
            <a:r>
              <a:rPr lang="en-US" sz="2000" dirty="0">
                <a:latin typeface="Gotham Black"/>
              </a:rPr>
              <a:t> offers earlier access than TV, we must grow </a:t>
            </a:r>
            <a:r>
              <a:rPr lang="en-US" sz="2000" dirty="0" err="1">
                <a:latin typeface="Gotham Black"/>
              </a:rPr>
              <a:t>VOYO</a:t>
            </a:r>
            <a:r>
              <a:rPr lang="en-US" sz="2000" dirty="0">
                <a:latin typeface="Gotham Black"/>
              </a:rPr>
              <a:t> without breaking the TV </a:t>
            </a:r>
            <a:r>
              <a:rPr lang="en-US" sz="2000" dirty="0" err="1">
                <a:latin typeface="Gotham Black"/>
              </a:rPr>
              <a:t>experienc</a:t>
            </a:r>
            <a:r>
              <a:rPr lang="sk-SK" sz="2000" dirty="0">
                <a:latin typeface="Gotham Black"/>
              </a:rPr>
              <a:t>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FDE4CE-F5ED-F7EE-1477-B4533324B753}"/>
              </a:ext>
            </a:extLst>
          </p:cNvPr>
          <p:cNvSpPr/>
          <p:nvPr/>
        </p:nvSpPr>
        <p:spPr>
          <a:xfrm>
            <a:off x="1149180" y="379602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76197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5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Raleway" pitchFamily="34" charset="-122"/>
                <a:cs typeface="Raleway" pitchFamily="34" charset="-120"/>
              </a:rPr>
              <a:t>PROTECT VIEWERS</a:t>
            </a:r>
            <a:endParaRPr kumimoji="0" lang="en-US" sz="1625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AB15A1-7347-6334-0661-95D40C9541C8}"/>
              </a:ext>
            </a:extLst>
          </p:cNvPr>
          <p:cNvSpPr/>
          <p:nvPr/>
        </p:nvSpPr>
        <p:spPr>
          <a:xfrm>
            <a:off x="574476" y="4153712"/>
            <a:ext cx="31440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761970" rtl="0" eaLnBrk="1" fontAlgn="auto" latinLnBrk="0" hangingPunct="1"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92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Use clear labels and warnings on shared pages/apps to protect viewers who do not want spoilers.</a:t>
            </a:r>
            <a:endParaRPr kumimoji="0" lang="en-US" sz="1292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A76964B-2F71-BC83-9BE7-6602E939524F}"/>
              </a:ext>
            </a:extLst>
          </p:cNvPr>
          <p:cNvSpPr/>
          <p:nvPr/>
        </p:nvSpPr>
        <p:spPr>
          <a:xfrm>
            <a:off x="4915238" y="379602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76197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5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CREATE FOMO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C96EE22-E386-4393-6640-5E0B8FC29141}"/>
              </a:ext>
            </a:extLst>
          </p:cNvPr>
          <p:cNvSpPr/>
          <p:nvPr/>
        </p:nvSpPr>
        <p:spPr>
          <a:xfrm>
            <a:off x="4523928" y="4153712"/>
            <a:ext cx="314414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761970" rtl="0" eaLnBrk="1" fontAlgn="auto" latinLnBrk="0" hangingPunct="1"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92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VOYO</a:t>
            </a:r>
            <a:r>
              <a:rPr kumimoji="0" lang="en-US" sz="1292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 promo and social: create FOMO without spoilers – focus on emotions, tension and questions, not </a:t>
            </a:r>
            <a:r>
              <a:rPr kumimoji="0" lang="sk-SK" sz="1292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outcomes</a:t>
            </a:r>
            <a:r>
              <a:rPr kumimoji="0" lang="en-US" sz="1292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 or key twists.</a:t>
            </a:r>
            <a:endParaRPr kumimoji="0" lang="en-US" sz="1292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5BDB9B6-4938-2D22-D1A3-DEE0E747FB36}"/>
              </a:ext>
            </a:extLst>
          </p:cNvPr>
          <p:cNvSpPr/>
          <p:nvPr/>
        </p:nvSpPr>
        <p:spPr>
          <a:xfrm>
            <a:off x="8857567" y="379602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76197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5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Raleway" pitchFamily="34" charset="-122"/>
                <a:cs typeface="Raleway" pitchFamily="34" charset="-120"/>
              </a:rPr>
              <a:t>ALIGN TEAMS</a:t>
            </a:r>
            <a:endParaRPr kumimoji="0" lang="en-US" sz="1625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0D45030-A3BF-C79F-7EB3-78091531B2CB}"/>
              </a:ext>
            </a:extLst>
          </p:cNvPr>
          <p:cNvSpPr/>
          <p:nvPr/>
        </p:nvSpPr>
        <p:spPr>
          <a:xfrm>
            <a:off x="8364717" y="4153712"/>
            <a:ext cx="31440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761970" rtl="0" eaLnBrk="1" fontAlgn="auto" latinLnBrk="0" hangingPunct="1"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92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For finales released earlier on </a:t>
            </a:r>
            <a:r>
              <a:rPr kumimoji="0" lang="en-US" sz="1292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VOYO</a:t>
            </a:r>
            <a:r>
              <a:rPr kumimoji="0" lang="en-US" sz="1292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, align station, </a:t>
            </a:r>
            <a:r>
              <a:rPr kumimoji="0" lang="en-US" sz="1292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VOYO</a:t>
            </a:r>
            <a:r>
              <a:rPr kumimoji="0" lang="en-US" sz="1292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 and social teams on timing, messaging and CTAs.</a:t>
            </a:r>
            <a:endParaRPr kumimoji="0" lang="en-US" sz="1292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3" name="Zástupný objekt pre číslo snímky 12">
            <a:extLst>
              <a:ext uri="{FF2B5EF4-FFF2-40B4-BE49-F238E27FC236}">
                <a16:creationId xmlns:a16="http://schemas.microsoft.com/office/drawing/2014/main" id="{3DECF03B-B65F-C45D-20A1-957EC37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341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smtClean="0">
            <a:solidFill>
              <a:schemeClr val="bg1"/>
            </a:solidFill>
            <a:latin typeface="Gotham Book" panose="0200060404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bbb06d7-dc84-41cf-a936-1e85ffed1c67}" enabled="1" method="Standard" siteId="{ac66e848-7cb4-490d-b461-4eb2e62f834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</Words>
  <Application>Microsoft Office PowerPoint</Application>
  <PresentationFormat>Widescreen</PresentationFormat>
  <Paragraphs>157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Gotham Black</vt:lpstr>
      <vt:lpstr>Gotham Book</vt:lpstr>
      <vt:lpstr>Gotham Light</vt:lpstr>
      <vt:lpstr>Montserrat</vt:lpstr>
      <vt:lpstr>Office Theme</vt:lpstr>
      <vt:lpstr>Motív Office</vt:lpstr>
      <vt:lpstr>Chapter 3</vt:lpstr>
      <vt:lpstr>ONE Universe, two gateways</vt:lpstr>
      <vt:lpstr>Same content world. Different roles.</vt:lpstr>
      <vt:lpstr>Leadership &amp; Brand hierarchy (practice)</vt:lpstr>
      <vt:lpstr>Relationship to News Brands</vt:lpstr>
      <vt:lpstr>Content &amp; Windowing Principles</vt:lpstr>
      <vt:lpstr>Content &amp; Windowing Principles</vt:lpstr>
      <vt:lpstr>Communication Architecture:  Brand vs Platform vs Content</vt:lpstr>
      <vt:lpstr>What leads, and why</vt:lpstr>
      <vt:lpstr>Preview access, spoilers &amp; viewer experience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Strýček, Jakub</dc:creator>
  <cp:lastModifiedBy>Strýček, Jakub</cp:lastModifiedBy>
  <cp:revision>1</cp:revision>
  <dcterms:created xsi:type="dcterms:W3CDTF">2026-02-27T05:40:20Z</dcterms:created>
  <dcterms:modified xsi:type="dcterms:W3CDTF">2026-02-27T10:51:32Z</dcterms:modified>
</cp:coreProperties>
</file>