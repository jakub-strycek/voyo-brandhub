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02"/>
  </p:notesMasterIdLst>
  <p:sldIdLst>
    <p:sldId id="348" r:id="rId6"/>
    <p:sldId id="2147483060" r:id="rId7"/>
    <p:sldId id="2147483022" r:id="rId8"/>
    <p:sldId id="349" r:id="rId9"/>
    <p:sldId id="2147483061" r:id="rId10"/>
    <p:sldId id="347" r:id="rId11"/>
    <p:sldId id="351" r:id="rId12"/>
    <p:sldId id="353" r:id="rId13"/>
    <p:sldId id="369" r:id="rId14"/>
    <p:sldId id="371" r:id="rId15"/>
    <p:sldId id="372" r:id="rId16"/>
    <p:sldId id="373" r:id="rId17"/>
    <p:sldId id="370" r:id="rId18"/>
    <p:sldId id="374" r:id="rId19"/>
    <p:sldId id="2147483062" r:id="rId20"/>
    <p:sldId id="410" r:id="rId21"/>
    <p:sldId id="430" r:id="rId22"/>
    <p:sldId id="2147483063" r:id="rId23"/>
    <p:sldId id="391" r:id="rId24"/>
    <p:sldId id="393" r:id="rId25"/>
    <p:sldId id="395" r:id="rId26"/>
    <p:sldId id="396" r:id="rId27"/>
    <p:sldId id="394" r:id="rId28"/>
    <p:sldId id="397" r:id="rId29"/>
    <p:sldId id="2147483064" r:id="rId30"/>
    <p:sldId id="401" r:id="rId31"/>
    <p:sldId id="402" r:id="rId32"/>
    <p:sldId id="403" r:id="rId33"/>
    <p:sldId id="404" r:id="rId34"/>
    <p:sldId id="406" r:id="rId35"/>
    <p:sldId id="407" r:id="rId36"/>
    <p:sldId id="408" r:id="rId37"/>
    <p:sldId id="411" r:id="rId38"/>
    <p:sldId id="412" r:id="rId39"/>
    <p:sldId id="2147483065" r:id="rId40"/>
    <p:sldId id="2147483066" r:id="rId41"/>
    <p:sldId id="2147482997" r:id="rId42"/>
    <p:sldId id="2147482998" r:id="rId43"/>
    <p:sldId id="2147482999" r:id="rId44"/>
    <p:sldId id="2147483000" r:id="rId45"/>
    <p:sldId id="2147483067" r:id="rId46"/>
    <p:sldId id="2147483003" r:id="rId47"/>
    <p:sldId id="2147483068" r:id="rId48"/>
    <p:sldId id="2147483069" r:id="rId49"/>
    <p:sldId id="377" r:id="rId50"/>
    <p:sldId id="378" r:id="rId51"/>
    <p:sldId id="380" r:id="rId52"/>
    <p:sldId id="2147483070" r:id="rId53"/>
    <p:sldId id="2147483027" r:id="rId54"/>
    <p:sldId id="2147483030" r:id="rId55"/>
    <p:sldId id="2147483025" r:id="rId56"/>
    <p:sldId id="2147483026" r:id="rId57"/>
    <p:sldId id="2147483028" r:id="rId58"/>
    <p:sldId id="2147483031" r:id="rId59"/>
    <p:sldId id="2147483032" r:id="rId60"/>
    <p:sldId id="2147483033" r:id="rId61"/>
    <p:sldId id="2147483034" r:id="rId62"/>
    <p:sldId id="2147483035" r:id="rId63"/>
    <p:sldId id="2147483071" r:id="rId64"/>
    <p:sldId id="2147483016" r:id="rId65"/>
    <p:sldId id="2147483017" r:id="rId66"/>
    <p:sldId id="2147483018" r:id="rId67"/>
    <p:sldId id="2147483021" r:id="rId68"/>
    <p:sldId id="2147483020" r:id="rId69"/>
    <p:sldId id="2147483072" r:id="rId70"/>
    <p:sldId id="2147483073" r:id="rId71"/>
    <p:sldId id="2147483004" r:id="rId72"/>
    <p:sldId id="2147483006" r:id="rId73"/>
    <p:sldId id="2147483007" r:id="rId74"/>
    <p:sldId id="2147483008" r:id="rId75"/>
    <p:sldId id="2147483009" r:id="rId76"/>
    <p:sldId id="2147483010" r:id="rId77"/>
    <p:sldId id="2147483011" r:id="rId78"/>
    <p:sldId id="2147483074" r:id="rId79"/>
    <p:sldId id="421" r:id="rId80"/>
    <p:sldId id="426" r:id="rId81"/>
    <p:sldId id="427" r:id="rId82"/>
    <p:sldId id="422" r:id="rId83"/>
    <p:sldId id="423" r:id="rId84"/>
    <p:sldId id="424" r:id="rId85"/>
    <p:sldId id="428" r:id="rId86"/>
    <p:sldId id="425" r:id="rId87"/>
    <p:sldId id="2147483076" r:id="rId88"/>
    <p:sldId id="2147483075" r:id="rId89"/>
    <p:sldId id="2147483048" r:id="rId90"/>
    <p:sldId id="2147483049" r:id="rId91"/>
    <p:sldId id="2147483050" r:id="rId92"/>
    <p:sldId id="2147483051" r:id="rId93"/>
    <p:sldId id="2147483052" r:id="rId94"/>
    <p:sldId id="2147483053" r:id="rId95"/>
    <p:sldId id="2147483054" r:id="rId96"/>
    <p:sldId id="2147483055" r:id="rId97"/>
    <p:sldId id="2147483056" r:id="rId98"/>
    <p:sldId id="2147483057" r:id="rId99"/>
    <p:sldId id="2147483059" r:id="rId100"/>
    <p:sldId id="2147483046" r:id="rId101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dvolená sekcia" id="{13978451-4272-4379-934D-C6AE827D6EB8}">
          <p14:sldIdLst>
            <p14:sldId id="348"/>
            <p14:sldId id="2147483060"/>
            <p14:sldId id="2147483022"/>
          </p14:sldIdLst>
        </p14:section>
        <p14:section name="Strategy &amp; North Star" id="{CA4A46FA-6A24-4544-A6B9-725B491D884A}">
          <p14:sldIdLst>
            <p14:sldId id="349"/>
            <p14:sldId id="2147483061"/>
            <p14:sldId id="347"/>
            <p14:sldId id="351"/>
            <p14:sldId id="353"/>
            <p14:sldId id="369"/>
            <p14:sldId id="371"/>
            <p14:sldId id="372"/>
            <p14:sldId id="373"/>
            <p14:sldId id="370"/>
            <p14:sldId id="374"/>
            <p14:sldId id="2147483062"/>
            <p14:sldId id="410"/>
            <p14:sldId id="430"/>
            <p14:sldId id="2147483063"/>
          </p14:sldIdLst>
        </p14:section>
        <p14:section name="Local relevance" id="{465513BB-2641-49B4-9977-9B29F60B9AC1}">
          <p14:sldIdLst>
            <p14:sldId id="391"/>
            <p14:sldId id="393"/>
            <p14:sldId id="395"/>
            <p14:sldId id="396"/>
            <p14:sldId id="394"/>
            <p14:sldId id="397"/>
            <p14:sldId id="2147483064"/>
          </p14:sldIdLst>
        </p14:section>
        <p14:section name="One Content Universe" id="{FC1E340E-6234-42B8-A031-6C4DEC868F9C}">
          <p14:sldIdLst>
            <p14:sldId id="401"/>
            <p14:sldId id="402"/>
            <p14:sldId id="403"/>
            <p14:sldId id="404"/>
            <p14:sldId id="406"/>
            <p14:sldId id="407"/>
            <p14:sldId id="408"/>
            <p14:sldId id="411"/>
            <p14:sldId id="412"/>
            <p14:sldId id="2147483065"/>
            <p14:sldId id="2147483066"/>
          </p14:sldIdLst>
        </p14:section>
        <p14:section name="Viewer Experience" id="{5C7355DB-D660-47F7-82D8-35B96664182B}">
          <p14:sldIdLst>
            <p14:sldId id="2147482997"/>
            <p14:sldId id="2147482998"/>
            <p14:sldId id="2147482999"/>
            <p14:sldId id="2147483000"/>
            <p14:sldId id="2147483067"/>
            <p14:sldId id="2147483003"/>
            <p14:sldId id="2147483068"/>
            <p14:sldId id="2147483069"/>
          </p14:sldIdLst>
        </p14:section>
        <p14:section name="Brand Expression" id="{64CAD531-2049-410A-8E30-3D6D28FB49F5}">
          <p14:sldIdLst>
            <p14:sldId id="377"/>
            <p14:sldId id="378"/>
            <p14:sldId id="380"/>
            <p14:sldId id="2147483070"/>
            <p14:sldId id="2147483027"/>
            <p14:sldId id="2147483030"/>
            <p14:sldId id="2147483025"/>
            <p14:sldId id="2147483026"/>
            <p14:sldId id="2147483028"/>
            <p14:sldId id="2147483031"/>
            <p14:sldId id="2147483032"/>
            <p14:sldId id="2147483033"/>
            <p14:sldId id="2147483034"/>
            <p14:sldId id="2147483035"/>
            <p14:sldId id="2147483071"/>
            <p14:sldId id="2147483016"/>
            <p14:sldId id="2147483017"/>
            <p14:sldId id="2147483018"/>
            <p14:sldId id="2147483021"/>
            <p14:sldId id="2147483020"/>
            <p14:sldId id="2147483072"/>
            <p14:sldId id="2147483073"/>
            <p14:sldId id="2147483004"/>
            <p14:sldId id="2147483006"/>
            <p14:sldId id="2147483007"/>
            <p14:sldId id="2147483008"/>
            <p14:sldId id="2147483009"/>
            <p14:sldId id="2147483010"/>
            <p14:sldId id="2147483011"/>
            <p14:sldId id="2147483074"/>
            <p14:sldId id="421"/>
            <p14:sldId id="426"/>
            <p14:sldId id="427"/>
            <p14:sldId id="422"/>
            <p14:sldId id="423"/>
            <p14:sldId id="424"/>
            <p14:sldId id="428"/>
            <p14:sldId id="425"/>
            <p14:sldId id="2147483076"/>
            <p14:sldId id="2147483075"/>
            <p14:sldId id="2147483048"/>
            <p14:sldId id="2147483049"/>
            <p14:sldId id="2147483050"/>
            <p14:sldId id="2147483051"/>
            <p14:sldId id="2147483052"/>
            <p14:sldId id="2147483053"/>
            <p14:sldId id="2147483054"/>
            <p14:sldId id="2147483055"/>
            <p14:sldId id="2147483056"/>
            <p14:sldId id="2147483057"/>
            <p14:sldId id="2147483059"/>
            <p14:sldId id="21474830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E3CC46F-CFDF-578F-F25B-FAE3F5FFECFF}" name="Andrea Iacob" initials="AI" userId="S::andrea.iacob@protv.ro::2ceb34ef-d281-4e98-b51a-d3c01b3e44a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BB1"/>
    <a:srgbClr val="422182"/>
    <a:srgbClr val="542F66"/>
    <a:srgbClr val="DB9E0A"/>
    <a:srgbClr val="EB3594"/>
    <a:srgbClr val="AD1B64"/>
    <a:srgbClr val="6A02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Bez štýlu, bez mrie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99" autoAdjust="0"/>
    <p:restoredTop sz="94641" autoAdjust="0"/>
  </p:normalViewPr>
  <p:slideViewPr>
    <p:cSldViewPr snapToGrid="0">
      <p:cViewPr varScale="1">
        <p:scale>
          <a:sx n="92" d="100"/>
          <a:sy n="92" d="100"/>
        </p:scale>
        <p:origin x="84" y="3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07" Type="http://schemas.microsoft.com/office/2018/10/relationships/authors" Target="authors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6" Type="http://schemas.openxmlformats.org/officeDocument/2006/relationships/tableStyles" Target="tableStyle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viewProps" Target="view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736CB-7798-4A69-B415-A4404EB99E9F}" type="datetimeFigureOut">
              <a:rPr lang="sk-SK" smtClean="0"/>
              <a:t>27. 2. 2026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3D8E0-4975-492D-9BB3-C7B6CCA7440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8210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3D8E0-4975-492D-9BB3-C7B6CCA74400}" type="slidenum">
              <a:rPr lang="sk-SK" smtClean="0"/>
              <a:t>47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38257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3D8E0-4975-492D-9BB3-C7B6CCA74400}" type="slidenum">
              <a:rPr lang="sk-SK" smtClean="0"/>
              <a:t>95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50559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E31F4-01A2-E6F1-B374-7CC95B53C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32EDE0A-8CA4-BE57-5C53-40E9661DD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C94EB4A-EEA2-490F-CAE4-993DE35A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FC6-2C3D-430D-B009-7B7F642ABE14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ADE9B73-AB57-658C-7DA5-217ECDC3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FD5A285-F0CF-4C03-F2C2-B32E6004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482640-75BE-4676-8FBA-7A48CEEC95B0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0501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597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88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990074"/>
            <a:ext cx="9901382" cy="656164"/>
          </a:xfrm>
        </p:spPr>
        <p:txBody>
          <a:bodyPr/>
          <a:lstStyle/>
          <a:p>
            <a:r>
              <a:rPr lang="sk-SK" dirty="0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71160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6950"/>
            <a:ext cx="9818255" cy="6492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1825625"/>
            <a:ext cx="11120582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7221A705-3299-48EB-854F-C3B4273BA57B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E4D3BAD3-06E2-8976-1503-A809522676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10" y="5616379"/>
            <a:ext cx="11120582" cy="5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5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92F3D5-CD3E-29D4-CC4B-9EC71ABD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E13A22E-C17D-D2E7-C115-423CEC0B8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EECA32A-4681-9BA5-A0D8-54F09F11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6690-AF75-4187-BFC3-D5F2332C501B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B627AD7-A404-67BA-ABD1-021ED93D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43788D0-A08F-658B-474D-433D7602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07877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F6C460-0F35-4E85-6A09-AE39960C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7FAB8BD-D9D4-6732-570A-9B37C5C9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70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A7B67C0-F900-C5B2-C56C-35CF66249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F16AB83-1D47-9E2E-1472-C633E9A2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EAE3A-F887-47E6-BD99-55D80AEBF460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634056E-F687-6D18-7D49-0C715498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E9E4B79-2095-E9C7-049E-6E2B5B52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9262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A7DDE2E-A692-3DAD-62E1-9B3AF46C9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10" y="1681163"/>
            <a:ext cx="54618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34030DF-31C2-E488-649D-035B23F1B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710" y="2505075"/>
            <a:ext cx="5461866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E017A73-BA90-1271-D4BE-EA520C431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4840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DF63CFB1-52B3-2337-5C70-EFAB4C37A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484089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198C0987-EF61-2B1A-3FB6-8517F4E8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92BEE-E86B-49DF-B1B3-CCEC9E68AD35}" type="datetime1">
              <a:rPr lang="sk-SK" smtClean="0"/>
              <a:t>27. 2. 2026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9C82B51-FA16-0B39-04A8-7FDCC03A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B9112C33-D93B-E83C-FDAC-75B7736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441622A9-7D0F-4365-C6FA-80D5F022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0600"/>
            <a:ext cx="9818255" cy="7000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</p:spTree>
    <p:extLst>
      <p:ext uri="{BB962C8B-B14F-4D97-AF65-F5344CB8AC3E}">
        <p14:creationId xmlns:p14="http://schemas.microsoft.com/office/powerpoint/2010/main" val="181714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043D30-071D-33AB-9669-23DC9D7D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0626F86A-ED8E-E2CB-0045-882B2081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7997-9BB1-469D-AB8B-75A91F8709FB}" type="datetime1">
              <a:rPr lang="sk-SK" smtClean="0"/>
              <a:t>27. 2. 2026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AA76809C-B35F-91E8-F0FC-58E4DA05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20999B0-23F7-AD49-85E6-5F16A8F0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7844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294DAC2C-3747-CF3D-3CAD-2D3648B2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7880-69E6-4017-911E-C813255CF17D}" type="datetime1">
              <a:rPr lang="sk-SK" smtClean="0"/>
              <a:t>27. 2. 2026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2264B98-8195-D8D6-63E7-7160E646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A3CB4A4-DECD-DD2C-2867-C21C476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769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ED231A-84A5-F5D9-5D2E-50078FC0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C5581D-D921-5F0F-AE2D-99906DBF2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1EC71DA-B330-2925-634E-8AF351D6A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9CAA74C9-159A-4142-CD81-9C0EBC9A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D860-1691-4A1E-951E-860E288D7ED9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EE73CA0-8128-6D89-5779-DE33B887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69D1AA6B-8076-B5A9-6F2D-053A8646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74655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DD6BD6-170C-44DD-BDC0-D960921B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8" y="457200"/>
            <a:ext cx="433618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DABB3901-CBE5-CD07-4906-E15786878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7310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DDBA57B-148A-F609-6500-9FB9CDADF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079480"/>
            <a:ext cx="42862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B07352E-769A-F29D-4DE0-19240FFE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6A6A-330E-44F1-9989-89ED565DD888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D766888-199E-BEED-A3B9-4EE38408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B87AE7F8-4D13-FAEB-EAF6-80CD1BE4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3630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3DF940-CA92-904E-80FF-E6F99971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246ADBA-C098-2C20-660C-3760EF1E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68A9-2373-480D-BEC3-8767F6491096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7ADCD98-DFDB-5022-61A3-7705C605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3E782B7-3401-F2F1-32A7-8F6FC2A6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1" name="Zástupný text 3">
            <a:extLst>
              <a:ext uri="{FF2B5EF4-FFF2-40B4-BE49-F238E27FC236}">
                <a16:creationId xmlns:a16="http://schemas.microsoft.com/office/drawing/2014/main" id="{0C564EC2-EE3E-27C0-6E49-AD055C579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175382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2" name="Zástupný text 3">
            <a:extLst>
              <a:ext uri="{FF2B5EF4-FFF2-40B4-BE49-F238E27FC236}">
                <a16:creationId xmlns:a16="http://schemas.microsoft.com/office/drawing/2014/main" id="{6F97C8EF-0CB2-322D-9076-99ABF456029F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35709" y="3004849"/>
            <a:ext cx="5024582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13" name="Zástupný text 3">
            <a:extLst>
              <a:ext uri="{FF2B5EF4-FFF2-40B4-BE49-F238E27FC236}">
                <a16:creationId xmlns:a16="http://schemas.microsoft.com/office/drawing/2014/main" id="{D84772E5-CFF9-718C-802E-19550E9B968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6632434" y="2179014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4" name="Zástupný text 3">
            <a:extLst>
              <a:ext uri="{FF2B5EF4-FFF2-40B4-BE49-F238E27FC236}">
                <a16:creationId xmlns:a16="http://schemas.microsoft.com/office/drawing/2014/main" id="{FE1BA62C-FF9F-4199-686B-F448EBF36D9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631711" y="3004849"/>
            <a:ext cx="5023859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</p:spTree>
    <p:extLst>
      <p:ext uri="{BB962C8B-B14F-4D97-AF65-F5344CB8AC3E}">
        <p14:creationId xmlns:p14="http://schemas.microsoft.com/office/powerpoint/2010/main" val="3495536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1">
            <a:extLst>
              <a:ext uri="{FF2B5EF4-FFF2-40B4-BE49-F238E27FC236}">
                <a16:creationId xmlns:a16="http://schemas.microsoft.com/office/drawing/2014/main" id="{DFAEDEB2-D505-0D18-B4F7-DC121568A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872" y="4780108"/>
            <a:ext cx="9818255" cy="587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</p:spTree>
    <p:extLst>
      <p:ext uri="{BB962C8B-B14F-4D97-AF65-F5344CB8AC3E}">
        <p14:creationId xmlns:p14="http://schemas.microsoft.com/office/powerpoint/2010/main" val="3520974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ok 9" descr="Obrázok, na ktorom je nebo, modrá, snímka obrazovky, rozmazanie&#10;&#10;Obsah vygenerovaný pomocou AI môže byť nesprávny.">
            <a:extLst>
              <a:ext uri="{FF2B5EF4-FFF2-40B4-BE49-F238E27FC236}">
                <a16:creationId xmlns:a16="http://schemas.microsoft.com/office/drawing/2014/main" id="{C71F1129-C362-F7B5-2DE7-D5B8B8D330A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36343588-5C6D-5217-EDC9-609AD8D2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1041400"/>
            <a:ext cx="9818255" cy="649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A1C42F2-A5DE-357A-C4CF-5A290B76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09" y="1825625"/>
            <a:ext cx="108180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E5A5F4F-D90E-E642-21B8-C18A81F22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2C8D9-E561-4CC8-AC32-35F66DAD277A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61D836A-C826-6445-380C-EC3A44206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708C169-9F46-5E9A-1745-62AB43CD8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7F2538-5172-44FE-BA0F-FAB2B9E4D3CD}" type="slidenum">
              <a:rPr lang="sk-SK" smtClean="0"/>
              <a:pPr/>
              <a:t>‹#›</a:t>
            </a:fld>
            <a:endParaRPr lang="sk-SK">
              <a:solidFill>
                <a:schemeClr val="bg1"/>
              </a:solidFill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6D9CB86B-5A82-B697-C35D-20BA3B20C0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83275" y="66421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k-SK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  <p:pic>
        <p:nvPicPr>
          <p:cNvPr id="7" name="Obrázok 6" descr="Obrázok, na ktorom je písmo, grafika, logo, kruh">
            <a:extLst>
              <a:ext uri="{FF2B5EF4-FFF2-40B4-BE49-F238E27FC236}">
                <a16:creationId xmlns:a16="http://schemas.microsoft.com/office/drawing/2014/main" id="{97A7DE47-3C26-9503-4E0D-3CA5230F4F1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1" y="324810"/>
            <a:ext cx="1255720" cy="44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7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0" r:id="rId3"/>
    <p:sldLayoutId id="2147483679" r:id="rId4"/>
    <p:sldLayoutId id="2147483659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Gotham Book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Gotham Book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otham Ligh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otham Ligh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 descr="Obrázok, na ktorom je nebo, modrá, snímka obrazovky, rozmazanie&#10;&#10;Obsah vygenerovaný pomocou AI môže byť nesprávny.">
            <a:extLst>
              <a:ext uri="{FF2B5EF4-FFF2-40B4-BE49-F238E27FC236}">
                <a16:creationId xmlns:a16="http://schemas.microsoft.com/office/drawing/2014/main" id="{744C0274-1B14-2422-020D-C19E9E3E53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Obrázok 7" descr="Obrázok, na ktorom je písmo, grafika, logo, kruh">
            <a:extLst>
              <a:ext uri="{FF2B5EF4-FFF2-40B4-BE49-F238E27FC236}">
                <a16:creationId xmlns:a16="http://schemas.microsoft.com/office/drawing/2014/main" id="{E3A610C1-3C04-D2B6-5FED-FDD2E24A60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487" y="2538459"/>
            <a:ext cx="4973026" cy="178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244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5CD1-EE7F-9B19-C0F3-9D5E297B1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AAE383-783D-BF2A-67F3-67A9DCFF7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309" y="2821456"/>
            <a:ext cx="9901382" cy="1215088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Gotham Black"/>
                <a:ea typeface="Gotham Light"/>
              </a:rPr>
              <a:t>Building </a:t>
            </a:r>
            <a:r>
              <a:rPr lang="en-US" sz="5400" b="1" dirty="0" err="1">
                <a:solidFill>
                  <a:schemeClr val="bg1"/>
                </a:solidFill>
                <a:latin typeface="Gotham Black"/>
                <a:ea typeface="Gotham Light"/>
              </a:rPr>
              <a:t>VOYO</a:t>
            </a:r>
            <a:r>
              <a:rPr lang="en-US" sz="5400" b="1" dirty="0">
                <a:solidFill>
                  <a:schemeClr val="bg1"/>
                </a:solidFill>
                <a:latin typeface="Gotham Black"/>
                <a:ea typeface="Gotham Light"/>
              </a:rPr>
              <a:t> </a:t>
            </a:r>
            <a:br>
              <a:rPr lang="en-US" sz="5400" dirty="0">
                <a:solidFill>
                  <a:schemeClr val="bg1"/>
                </a:solidFill>
                <a:latin typeface="Gotham Black"/>
                <a:ea typeface="Gotham Light"/>
              </a:rPr>
            </a:br>
            <a:r>
              <a:rPr lang="en-US" sz="5400" dirty="0">
                <a:solidFill>
                  <a:schemeClr val="bg1"/>
                </a:solidFill>
                <a:latin typeface="Gotham Black"/>
                <a:ea typeface="Gotham Light"/>
              </a:rPr>
              <a:t>Consistently Across Markets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EBDB89A-A3F1-254D-FF32-983EB86C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1</a:t>
            </a:fld>
            <a:endParaRPr lang="sk-SK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234B9814-60A1-6D34-A9C1-F3B811D283D4}"/>
              </a:ext>
            </a:extLst>
          </p:cNvPr>
          <p:cNvSpPr txBox="1"/>
          <p:nvPr/>
        </p:nvSpPr>
        <p:spPr>
          <a:xfrm>
            <a:off x="3047210" y="5570605"/>
            <a:ext cx="6097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otham Black"/>
                <a:ea typeface="Gotham Light"/>
              </a:rPr>
              <a:t>TO </a:t>
            </a:r>
            <a:r>
              <a:rPr lang="en-US" sz="2400" b="1" dirty="0" err="1">
                <a:solidFill>
                  <a:schemeClr val="bg1"/>
                </a:solidFill>
                <a:latin typeface="Gotham Black"/>
                <a:ea typeface="Gotham Light"/>
              </a:rPr>
              <a:t>VOYO</a:t>
            </a:r>
            <a:r>
              <a:rPr lang="en-US" sz="2400" b="1" dirty="0">
                <a:solidFill>
                  <a:schemeClr val="bg1"/>
                </a:solidFill>
                <a:latin typeface="Gotham Black"/>
                <a:ea typeface="Gotham Light"/>
              </a:rPr>
              <a:t> BRAND BIBLE</a:t>
            </a:r>
          </a:p>
        </p:txBody>
      </p:sp>
    </p:spTree>
    <p:extLst>
      <p:ext uri="{BB962C8B-B14F-4D97-AF65-F5344CB8AC3E}">
        <p14:creationId xmlns:p14="http://schemas.microsoft.com/office/powerpoint/2010/main" val="4162516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35A1A-FCC7-1980-7D9D-86493E939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98B5C3-5622-75D0-7611-FF0D6CFA4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4795"/>
            <a:ext cx="10097095" cy="656164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solidFill>
                  <a:schemeClr val="bg1"/>
                </a:solidFill>
                <a:latin typeface="Gotham Black"/>
                <a:ea typeface="Gotham Light"/>
              </a:rPr>
              <a:t>Building VOYO </a:t>
            </a:r>
            <a:r>
              <a:rPr lang="en-US" sz="4000" dirty="0">
                <a:solidFill>
                  <a:schemeClr val="bg1"/>
                </a:solidFill>
                <a:latin typeface="Gotham Black"/>
                <a:ea typeface="Gotham Light"/>
              </a:rPr>
              <a:t>Consistently Across Markets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0EA8CE7-C6E7-F626-C789-9BE257F8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>
                <a:ea typeface="Gotham Light"/>
              </a:rPr>
              <a:pPr/>
              <a:t>2</a:t>
            </a:fld>
            <a:endParaRPr lang="sk-SK">
              <a:ea typeface="Gotham Light"/>
            </a:endParaRP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ADD6AF81-4338-3B65-5C12-0D3666CBB8B3}"/>
              </a:ext>
            </a:extLst>
          </p:cNvPr>
          <p:cNvSpPr txBox="1"/>
          <p:nvPr/>
        </p:nvSpPr>
        <p:spPr>
          <a:xfrm>
            <a:off x="457200" y="2383277"/>
            <a:ext cx="11277600" cy="4113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Gotham Black"/>
                <a:ea typeface="Gotham Light"/>
              </a:rPr>
              <a:t>This document defines the core principles of the VOYO brand across CEE. It is designed to help teams create a consistent VOYO experience in every market.</a:t>
            </a:r>
          </a:p>
          <a:p>
            <a:pPr algn="ctr"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Gotham Black"/>
              <a:ea typeface="Gotham Light"/>
            </a:endParaRPr>
          </a:p>
          <a:p>
            <a:pPr algn="ctr"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  <a:latin typeface="Gotham Black"/>
                <a:ea typeface="Gotham Light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  <a:ea typeface="Gotham Light"/>
              </a:rPr>
              <a:t> is built on </a:t>
            </a:r>
            <a:r>
              <a:rPr lang="en-US" sz="1600" b="1" dirty="0">
                <a:solidFill>
                  <a:schemeClr val="bg1"/>
                </a:solidFill>
                <a:latin typeface="Gotham Black"/>
                <a:ea typeface="Gotham Light"/>
              </a:rPr>
              <a:t>four</a:t>
            </a:r>
            <a:r>
              <a:rPr lang="en-US" sz="1600" dirty="0">
                <a:solidFill>
                  <a:schemeClr val="bg1"/>
                </a:solidFill>
                <a:latin typeface="Gotham Black"/>
                <a:ea typeface="Gotham Light"/>
              </a:rPr>
              <a:t> pillars: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Gotham Black"/>
              <a:ea typeface="Gotham Light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Gotham Black"/>
              <a:ea typeface="Gotham Light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Gotham Black"/>
              <a:ea typeface="Gotham Light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Gotham Black"/>
              <a:ea typeface="Gotham Light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Gotham Black"/>
              <a:ea typeface="Gotham Light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Gotham Black"/>
                <a:ea typeface="Gotham Light"/>
              </a:rPr>
              <a:t>Together, they shape a streaming service that feels culturally close, easy to choose, and aligned with how people watch entertainment in their everyday lives.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177B43-2FC1-FE7D-B571-8C7C0220EA22}"/>
              </a:ext>
            </a:extLst>
          </p:cNvPr>
          <p:cNvSpPr/>
          <p:nvPr/>
        </p:nvSpPr>
        <p:spPr>
          <a:xfrm>
            <a:off x="8221133" y="4172308"/>
            <a:ext cx="1962099" cy="958577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9DDD76-94EA-C679-C13F-943A3D5DF44F}"/>
              </a:ext>
            </a:extLst>
          </p:cNvPr>
          <p:cNvSpPr/>
          <p:nvPr/>
        </p:nvSpPr>
        <p:spPr>
          <a:xfrm>
            <a:off x="7831666" y="4473750"/>
            <a:ext cx="2727247" cy="3556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Gotham Black"/>
                <a:ea typeface="Gotham Light"/>
              </a:rPr>
              <a:t>EMOTIONAL </a:t>
            </a:r>
            <a:endParaRPr lang="cs-CZ" b="1" dirty="0">
              <a:solidFill>
                <a:schemeClr val="bg1"/>
              </a:solidFill>
              <a:latin typeface="Montserrat" panose="00000500000000000000" pitchFamily="2" charset="0"/>
              <a:ea typeface="Gotham Light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Gotham Black"/>
                <a:ea typeface="Gotham Light"/>
              </a:rPr>
              <a:t>CONNECTION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461FB0-D211-A2C2-2B18-C9736F04431E}"/>
              </a:ext>
            </a:extLst>
          </p:cNvPr>
          <p:cNvSpPr/>
          <p:nvPr/>
        </p:nvSpPr>
        <p:spPr>
          <a:xfrm>
            <a:off x="5977466" y="4172308"/>
            <a:ext cx="1962099" cy="958577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AD10C9-730A-32C7-29CF-5F26A1954CD1}"/>
              </a:ext>
            </a:extLst>
          </p:cNvPr>
          <p:cNvSpPr/>
          <p:nvPr/>
        </p:nvSpPr>
        <p:spPr>
          <a:xfrm>
            <a:off x="3733799" y="4162801"/>
            <a:ext cx="1962099" cy="958577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143EDC-89B2-B445-B575-6B225B3D4272}"/>
              </a:ext>
            </a:extLst>
          </p:cNvPr>
          <p:cNvSpPr/>
          <p:nvPr/>
        </p:nvSpPr>
        <p:spPr>
          <a:xfrm>
            <a:off x="1490132" y="4162801"/>
            <a:ext cx="1962099" cy="958577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  <a:ea typeface="Gotham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A8C3F-800B-F3DB-2531-B06583CA4378}"/>
              </a:ext>
            </a:extLst>
          </p:cNvPr>
          <p:cNvSpPr/>
          <p:nvPr/>
        </p:nvSpPr>
        <p:spPr>
          <a:xfrm>
            <a:off x="1661432" y="4462434"/>
            <a:ext cx="1619499" cy="3556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Gotham Black"/>
                <a:ea typeface="Gotham Light"/>
              </a:rPr>
              <a:t>LOCAL </a:t>
            </a:r>
            <a:endParaRPr lang="cs-CZ" b="1" dirty="0">
              <a:solidFill>
                <a:schemeClr val="bg1"/>
              </a:solidFill>
              <a:latin typeface="Montserrat" panose="00000500000000000000" pitchFamily="2" charset="0"/>
              <a:ea typeface="Gotham Light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Gotham Black"/>
                <a:ea typeface="Gotham Light"/>
              </a:rPr>
              <a:t>RELEVANCE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59093F-E55E-7F6C-C80B-E7D7386481E5}"/>
              </a:ext>
            </a:extLst>
          </p:cNvPr>
          <p:cNvSpPr/>
          <p:nvPr/>
        </p:nvSpPr>
        <p:spPr>
          <a:xfrm>
            <a:off x="4134682" y="4473750"/>
            <a:ext cx="1166038" cy="3556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Gotham Black"/>
                <a:ea typeface="Gotham Light"/>
              </a:rPr>
              <a:t>EASE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991554-91EE-809F-28AB-114504B336CD}"/>
              </a:ext>
            </a:extLst>
          </p:cNvPr>
          <p:cNvSpPr/>
          <p:nvPr/>
        </p:nvSpPr>
        <p:spPr>
          <a:xfrm>
            <a:off x="6375496" y="4462435"/>
            <a:ext cx="1166038" cy="3556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Gotham Black"/>
                <a:ea typeface="Gotham Light"/>
              </a:rPr>
              <a:t>TRUST</a:t>
            </a:r>
          </a:p>
        </p:txBody>
      </p:sp>
    </p:spTree>
    <p:extLst>
      <p:ext uri="{BB962C8B-B14F-4D97-AF65-F5344CB8AC3E}">
        <p14:creationId xmlns:p14="http://schemas.microsoft.com/office/powerpoint/2010/main" val="1853230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87CD163D-9027-51F9-EF9F-6EDFAAE74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6215"/>
            <a:ext cx="9901382" cy="656164"/>
          </a:xfrm>
        </p:spPr>
        <p:txBody>
          <a:bodyPr>
            <a:noAutofit/>
          </a:bodyPr>
          <a:lstStyle/>
          <a:p>
            <a:r>
              <a:rPr lang="sk-SK" sz="4000" b="1" dirty="0" err="1">
                <a:latin typeface="Gotham Black"/>
              </a:rPr>
              <a:t>Overview</a:t>
            </a:r>
            <a:r>
              <a:rPr lang="sk-SK" sz="4000" dirty="0">
                <a:latin typeface="Gotham Black"/>
              </a:rPr>
              <a:t> of </a:t>
            </a:r>
            <a:r>
              <a:rPr lang="sk-SK" sz="4000" dirty="0" err="1">
                <a:latin typeface="Gotham Black"/>
              </a:rPr>
              <a:t>Sections</a:t>
            </a:r>
            <a:endParaRPr lang="sk-SK" sz="4000" dirty="0">
              <a:latin typeface="Gotham Black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2DB2A7A9-2080-9657-27F4-300C9961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3</a:t>
            </a:fld>
            <a:endParaRPr lang="sk-SK"/>
          </a:p>
        </p:txBody>
      </p:sp>
      <p:cxnSp>
        <p:nvCxnSpPr>
          <p:cNvPr id="2" name="Rovná spojnica 6">
            <a:extLst>
              <a:ext uri="{FF2B5EF4-FFF2-40B4-BE49-F238E27FC236}">
                <a16:creationId xmlns:a16="http://schemas.microsoft.com/office/drawing/2014/main" id="{82770913-FAD6-8E74-B5BD-EA8BB35DA836}"/>
              </a:ext>
            </a:extLst>
          </p:cNvPr>
          <p:cNvCxnSpPr>
            <a:cxnSpLocks/>
          </p:cNvCxnSpPr>
          <p:nvPr/>
        </p:nvCxnSpPr>
        <p:spPr>
          <a:xfrm>
            <a:off x="461818" y="1454848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ástupný objekt pre obsah 6">
            <a:extLst>
              <a:ext uri="{FF2B5EF4-FFF2-40B4-BE49-F238E27FC236}">
                <a16:creationId xmlns:a16="http://schemas.microsoft.com/office/drawing/2014/main" id="{86DB8469-3123-DC2D-FCA4-71A223C2C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27" y="2115079"/>
            <a:ext cx="471978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cs-CZ" sz="1600" b="1" dirty="0"/>
              <a:t>1. </a:t>
            </a:r>
            <a:r>
              <a:rPr lang="en-US" sz="1600" b="1" dirty="0"/>
              <a:t>STRATEGY &amp; NORTH STAR</a:t>
            </a:r>
            <a:br>
              <a:rPr lang="en-US" sz="1600" dirty="0"/>
            </a:br>
            <a:r>
              <a:rPr lang="en-US" sz="1600" dirty="0"/>
              <a:t>Defines VOYO’s role and strategic direction.</a:t>
            </a:r>
            <a:endParaRPr lang="cs-CZ" sz="1600" dirty="0"/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/>
              <a:t>2. LOCAL RELEVANCE AT SCALE</a:t>
            </a:r>
            <a:br>
              <a:rPr lang="en-US" sz="1600" dirty="0"/>
            </a:br>
            <a:r>
              <a:rPr lang="en-US" sz="1600" dirty="0"/>
              <a:t>Explains how VOYO builds cultural closeness across markets.</a:t>
            </a:r>
            <a:endParaRPr lang="cs-CZ" sz="1600" dirty="0"/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/>
              <a:t>3. ONE CONTENT UNIVERSE</a:t>
            </a:r>
            <a:br>
              <a:rPr lang="en-US" sz="1600" dirty="0"/>
            </a:br>
            <a:r>
              <a:rPr lang="en-US" sz="1600" dirty="0"/>
              <a:t>Clarifies the relationship between TV, VOYO, and content access.</a:t>
            </a:r>
            <a:endParaRPr lang="cs-CZ" sz="1600" dirty="0"/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endParaRPr lang="sk-SK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A141F-694B-EB40-9214-6DE488439D5A}"/>
              </a:ext>
            </a:extLst>
          </p:cNvPr>
          <p:cNvSpPr txBox="1"/>
          <p:nvPr/>
        </p:nvSpPr>
        <p:spPr>
          <a:xfrm>
            <a:off x="6235316" y="2055812"/>
            <a:ext cx="5418666" cy="354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Gotham Book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Gotham Ligh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Gotham Light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Gotham Light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Gotham Light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4. VIEWER EXPERIENCE</a:t>
            </a:r>
            <a:br>
              <a:rPr lang="en-US" dirty="0"/>
            </a:br>
            <a:r>
              <a:rPr lang="en-US" b="0" dirty="0"/>
              <a:t>Defines how VOYO fits everyday viewing </a:t>
            </a:r>
            <a:r>
              <a:rPr lang="en-US" b="0" dirty="0" err="1"/>
              <a:t>behaviour</a:t>
            </a:r>
            <a:r>
              <a:rPr lang="en-US" b="0" dirty="0"/>
              <a:t>.</a:t>
            </a:r>
            <a:endParaRPr lang="cs-CZ" b="0" dirty="0"/>
          </a:p>
          <a:p>
            <a:endParaRPr lang="en-US" dirty="0"/>
          </a:p>
          <a:p>
            <a:r>
              <a:rPr lang="en-US" dirty="0"/>
              <a:t>5. BRAND EXPRESSION</a:t>
            </a:r>
            <a:br>
              <a:rPr lang="en-US" dirty="0"/>
            </a:br>
            <a:r>
              <a:rPr lang="en-US" b="0" dirty="0"/>
              <a:t>Guides tone of voice, visual identity, and communication.</a:t>
            </a:r>
            <a:endParaRPr lang="cs-CZ" b="0" dirty="0"/>
          </a:p>
          <a:p>
            <a:endParaRPr lang="en-US" b="0" dirty="0"/>
          </a:p>
          <a:p>
            <a:r>
              <a:rPr lang="en-US" dirty="0"/>
              <a:t>6. GROWTH &amp; PARTNERSHIPS</a:t>
            </a:r>
            <a:br>
              <a:rPr lang="en-US" dirty="0"/>
            </a:br>
            <a:r>
              <a:rPr lang="en-US" b="0" dirty="0"/>
              <a:t>Outlines principles for scaling VOYO while protecting brand value.</a:t>
            </a:r>
          </a:p>
        </p:txBody>
      </p:sp>
    </p:spTree>
    <p:extLst>
      <p:ext uri="{BB962C8B-B14F-4D97-AF65-F5344CB8AC3E}">
        <p14:creationId xmlns:p14="http://schemas.microsoft.com/office/powerpoint/2010/main" val="1502698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D1E7318-9CCA-4BEF-070E-76688B415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 err="1">
                <a:latin typeface="Gotham Black"/>
              </a:rPr>
              <a:t>Chapter</a:t>
            </a:r>
            <a:r>
              <a:rPr lang="sk-SK" sz="2800" dirty="0">
                <a:latin typeface="Gotham Black"/>
              </a:rPr>
              <a:t> 1</a:t>
            </a: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28720D53-3FA4-AB5A-CC3A-9A5FAD3A6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3051739"/>
            <a:ext cx="11068493" cy="913975"/>
          </a:xfrm>
        </p:spPr>
        <p:txBody>
          <a:bodyPr>
            <a:normAutofit lnSpcReduction="10000"/>
          </a:bodyPr>
          <a:lstStyle/>
          <a:p>
            <a:r>
              <a:rPr lang="sk-SK" sz="6000" b="1" dirty="0">
                <a:latin typeface="Gotham Black"/>
              </a:rPr>
              <a:t>STRATEGY</a:t>
            </a:r>
            <a:r>
              <a:rPr lang="sk-SK" sz="6000" dirty="0">
                <a:latin typeface="Gotham Black"/>
              </a:rPr>
              <a:t> &amp; NORTH STAR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FB4B4B9F-E626-E599-BD7B-FB00AD86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11062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2E49-3BD3-8D92-F27C-9077A68F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2B549D09-02EC-636E-41FB-015DD765C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1</a:t>
            </a:r>
            <a:r>
              <a:rPr lang="en-US" sz="2800" dirty="0">
                <a:latin typeface="Gotham Black"/>
              </a:rPr>
              <a:t>.1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2791D37E-D49A-503A-2E9D-801512037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3051739"/>
            <a:ext cx="11068493" cy="913975"/>
          </a:xfrm>
        </p:spPr>
        <p:txBody>
          <a:bodyPr>
            <a:normAutofit lnSpcReduction="10000"/>
          </a:bodyPr>
          <a:lstStyle/>
          <a:p>
            <a:r>
              <a:rPr lang="sk-SK" sz="6000" b="1" dirty="0">
                <a:latin typeface="Gotham Black"/>
              </a:rPr>
              <a:t>VOYO Brand </a:t>
            </a:r>
            <a:r>
              <a:rPr lang="sk-SK" sz="6000" dirty="0">
                <a:latin typeface="Gotham Black"/>
              </a:rPr>
              <a:t>Foundations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AD88365A-FB86-E358-3357-E04E780C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15964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7A83CA-5779-8E41-8085-91D63DB03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91" y="615650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Why VOYO </a:t>
            </a:r>
            <a:r>
              <a:rPr lang="sk-SK" b="1" dirty="0">
                <a:latin typeface="Gotham Black"/>
              </a:rPr>
              <a:t>matters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17B5BD9-2C94-07EE-181D-9342AD4C7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9174" y="1789783"/>
            <a:ext cx="5699852" cy="377562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Streaming has given viewers more entertainment than ever, but also more noise, more choice and more effort.</a:t>
            </a:r>
            <a:endParaRPr lang="sk-SK" sz="1800" dirty="0"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In CEE, people want something culturally close and easy to choose, yet still exciting and worth their time, from everyday favorites to world-class sport and premium storytelling.</a:t>
            </a:r>
            <a:endParaRPr lang="sk-SK" sz="1800" dirty="0"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 brings the stories that matter into one place, creating a streaming home that fits naturally into people’s lives.</a:t>
            </a:r>
            <a:endParaRPr lang="sk-SK" sz="1800" dirty="0">
              <a:latin typeface="Gotham Black"/>
            </a:endParaRP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F28D42F0-F935-A8C2-E968-2BD456E99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805" y="828087"/>
            <a:ext cx="3687097" cy="5525881"/>
          </a:xfrm>
          <a:prstGeom prst="rect">
            <a:avLst/>
          </a:prstGeom>
        </p:spPr>
      </p:pic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C8399B2-4FFA-5568-6DF7-271E39F3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6</a:t>
            </a:fld>
            <a:endParaRPr lang="sk-SK"/>
          </a:p>
        </p:txBody>
      </p:sp>
      <p:cxnSp>
        <p:nvCxnSpPr>
          <p:cNvPr id="12" name="Rovná spojnica 4">
            <a:extLst>
              <a:ext uri="{FF2B5EF4-FFF2-40B4-BE49-F238E27FC236}">
                <a16:creationId xmlns:a16="http://schemas.microsoft.com/office/drawing/2014/main" id="{F2526F16-3927-2D4C-F77C-AEE8A7415788}"/>
              </a:ext>
            </a:extLst>
          </p:cNvPr>
          <p:cNvCxnSpPr>
            <a:cxnSpLocks/>
          </p:cNvCxnSpPr>
          <p:nvPr/>
        </p:nvCxnSpPr>
        <p:spPr>
          <a:xfrm>
            <a:off x="4513048" y="3077755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04291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1316E-7F76-1988-5D6D-1F3972465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06B82A-3FE9-35F2-B204-C75AA3C3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1415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Our </a:t>
            </a:r>
            <a:r>
              <a:rPr lang="sk-SK" b="1" dirty="0">
                <a:latin typeface="Gotham Black"/>
              </a:rPr>
              <a:t>Brand Story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C5DCD61-CC1E-85CC-9EB2-314ED304A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798" y="1720288"/>
            <a:ext cx="10978755" cy="24907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 is the local streaming service that fits naturally into the viewer’s world</a:t>
            </a:r>
            <a:r>
              <a:rPr lang="sk-SK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,</a:t>
            </a: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speaking their language, humor, and everyday culture.</a:t>
            </a:r>
            <a:endParaRPr lang="sk-SK" sz="1800" dirty="0"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But VOYO is not just comfort. It is where the region’s biggest stories, reality moments, premium series, and world-class sport come together.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BA64D17A-BA18-647F-CF4F-179B8E5C8CCE}"/>
              </a:ext>
            </a:extLst>
          </p:cNvPr>
          <p:cNvSpPr txBox="1"/>
          <p:nvPr/>
        </p:nvSpPr>
        <p:spPr>
          <a:xfrm>
            <a:off x="858451" y="4095378"/>
            <a:ext cx="110333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FBB1"/>
                </a:solidFill>
                <a:latin typeface="Gotham Black"/>
                <a:ea typeface="Roboto" pitchFamily="34" charset="-122"/>
                <a:cs typeface="Roboto" pitchFamily="34" charset="-120"/>
              </a:rPr>
              <a:t>The stories that matter, brought closer with the scale of premium entertainment.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845C97B3-2A68-A592-83D1-D31C64207790}"/>
              </a:ext>
            </a:extLst>
          </p:cNvPr>
          <p:cNvSpPr txBox="1"/>
          <p:nvPr/>
        </p:nvSpPr>
        <p:spPr>
          <a:xfrm>
            <a:off x="663230" y="5667812"/>
            <a:ext cx="11179575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3"/>
              </a:lnSpc>
            </a:pPr>
            <a:r>
              <a:rPr lang="en-US" sz="20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Born in CEE. Built with its audience. Always worth watching.</a:t>
            </a:r>
            <a:endParaRPr lang="sk-SK" sz="2000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989109CD-B4E1-CF77-1CFB-AC2A39398816}"/>
              </a:ext>
            </a:extLst>
          </p:cNvPr>
          <p:cNvCxnSpPr>
            <a:cxnSpLocks/>
          </p:cNvCxnSpPr>
          <p:nvPr/>
        </p:nvCxnSpPr>
        <p:spPr>
          <a:xfrm>
            <a:off x="761403" y="4037948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E3433F4-6E46-47B0-5D8A-09EA0BDE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58289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DE09-BDE7-F6A6-EB44-C73F806F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93588BD-9AB9-EE33-8103-8A2B5561E53C}"/>
              </a:ext>
            </a:extLst>
          </p:cNvPr>
          <p:cNvSpPr/>
          <p:nvPr/>
        </p:nvSpPr>
        <p:spPr>
          <a:xfrm rot="5400000">
            <a:off x="7727838" y="2286837"/>
            <a:ext cx="1861655" cy="539026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681670-6772-52B1-3924-F8D08B4F025B}"/>
              </a:ext>
            </a:extLst>
          </p:cNvPr>
          <p:cNvSpPr/>
          <p:nvPr/>
        </p:nvSpPr>
        <p:spPr>
          <a:xfrm rot="16200000">
            <a:off x="2205285" y="2602532"/>
            <a:ext cx="1861655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8BD96A-6295-8A0E-F208-495607BEF482}"/>
              </a:ext>
            </a:extLst>
          </p:cNvPr>
          <p:cNvSpPr/>
          <p:nvPr/>
        </p:nvSpPr>
        <p:spPr>
          <a:xfrm rot="5400000">
            <a:off x="7727839" y="310483"/>
            <a:ext cx="1861655" cy="539026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AE650A-C8F5-B748-4815-8388B179E499}"/>
              </a:ext>
            </a:extLst>
          </p:cNvPr>
          <p:cNvSpPr/>
          <p:nvPr/>
        </p:nvSpPr>
        <p:spPr>
          <a:xfrm rot="16200000">
            <a:off x="2205286" y="626178"/>
            <a:ext cx="1861655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112EF74-3102-92DC-884A-A990EB9CB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5569"/>
            <a:ext cx="9901382" cy="6561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sz="4000" dirty="0"/>
              <a:t>VOYO </a:t>
            </a:r>
            <a:r>
              <a:rPr lang="sk-SK" sz="4000" b="1" dirty="0"/>
              <a:t>Brand Values</a:t>
            </a:r>
          </a:p>
        </p:txBody>
      </p:sp>
      <p:sp>
        <p:nvSpPr>
          <p:cNvPr id="43" name="BlokTextu 42">
            <a:extLst>
              <a:ext uri="{FF2B5EF4-FFF2-40B4-BE49-F238E27FC236}">
                <a16:creationId xmlns:a16="http://schemas.microsoft.com/office/drawing/2014/main" id="{4129E5C9-0F71-1BC4-3649-02EFFC0569C8}"/>
              </a:ext>
            </a:extLst>
          </p:cNvPr>
          <p:cNvSpPr txBox="1"/>
          <p:nvPr/>
        </p:nvSpPr>
        <p:spPr>
          <a:xfrm>
            <a:off x="2989408" y="2194083"/>
            <a:ext cx="2024754" cy="608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b="1" dirty="0">
                <a:solidFill>
                  <a:srgbClr val="DB9E0A"/>
                </a:solidFill>
                <a:latin typeface="Gotham Black"/>
                <a:ea typeface="Raleway" pitchFamily="34" charset="-122"/>
                <a:cs typeface="Raleway" pitchFamily="34" charset="-120"/>
              </a:rPr>
              <a:t>LOCAL RELEVANCE</a:t>
            </a:r>
            <a:endParaRPr lang="en-US" sz="2000" b="1" dirty="0">
              <a:solidFill>
                <a:srgbClr val="DB9E0A"/>
              </a:solidFill>
              <a:latin typeface="Gotham Black"/>
            </a:endParaRPr>
          </a:p>
        </p:txBody>
      </p:sp>
      <p:sp>
        <p:nvSpPr>
          <p:cNvPr id="44" name="BlokTextu 43">
            <a:extLst>
              <a:ext uri="{FF2B5EF4-FFF2-40B4-BE49-F238E27FC236}">
                <a16:creationId xmlns:a16="http://schemas.microsoft.com/office/drawing/2014/main" id="{50FB2B9D-5BF3-E696-CF58-6E2C8B6943F9}"/>
              </a:ext>
            </a:extLst>
          </p:cNvPr>
          <p:cNvSpPr txBox="1"/>
          <p:nvPr/>
        </p:nvSpPr>
        <p:spPr>
          <a:xfrm>
            <a:off x="6398153" y="2219702"/>
            <a:ext cx="2736704" cy="608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sz="2000" b="1" dirty="0">
                <a:solidFill>
                  <a:srgbClr val="DB9E0A"/>
                </a:solidFill>
                <a:latin typeface="Gotham Black"/>
              </a:rPr>
              <a:t>EMOTIONAL CONNECTION</a:t>
            </a:r>
          </a:p>
        </p:txBody>
      </p:sp>
      <p:sp>
        <p:nvSpPr>
          <p:cNvPr id="45" name="BlokTextu 44">
            <a:extLst>
              <a:ext uri="{FF2B5EF4-FFF2-40B4-BE49-F238E27FC236}">
                <a16:creationId xmlns:a16="http://schemas.microsoft.com/office/drawing/2014/main" id="{ADD1CCD0-4C32-DD5C-9620-23A03322534C}"/>
              </a:ext>
            </a:extLst>
          </p:cNvPr>
          <p:cNvSpPr txBox="1"/>
          <p:nvPr/>
        </p:nvSpPr>
        <p:spPr>
          <a:xfrm>
            <a:off x="2989408" y="4142344"/>
            <a:ext cx="2024754" cy="608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b="1" dirty="0">
                <a:solidFill>
                  <a:srgbClr val="DB9E0A"/>
                </a:solidFill>
                <a:latin typeface="Gotham Black"/>
              </a:rPr>
              <a:t>EASE &amp; COMFORT</a:t>
            </a:r>
          </a:p>
        </p:txBody>
      </p:sp>
      <p:sp>
        <p:nvSpPr>
          <p:cNvPr id="46" name="BlokTextu 45">
            <a:extLst>
              <a:ext uri="{FF2B5EF4-FFF2-40B4-BE49-F238E27FC236}">
                <a16:creationId xmlns:a16="http://schemas.microsoft.com/office/drawing/2014/main" id="{BE254D18-D9EF-A179-84E6-6A8F603D0835}"/>
              </a:ext>
            </a:extLst>
          </p:cNvPr>
          <p:cNvSpPr txBox="1"/>
          <p:nvPr/>
        </p:nvSpPr>
        <p:spPr>
          <a:xfrm>
            <a:off x="6398152" y="4160728"/>
            <a:ext cx="2214018" cy="608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sz="2000" b="1" dirty="0">
                <a:solidFill>
                  <a:srgbClr val="DB9E0A"/>
                </a:solidFill>
                <a:latin typeface="Gotham Black"/>
              </a:rPr>
              <a:t>TRUST &amp; FAIR VALUE</a:t>
            </a:r>
          </a:p>
        </p:txBody>
      </p:sp>
      <p:sp>
        <p:nvSpPr>
          <p:cNvPr id="48" name="BlokTextu 47">
            <a:extLst>
              <a:ext uri="{FF2B5EF4-FFF2-40B4-BE49-F238E27FC236}">
                <a16:creationId xmlns:a16="http://schemas.microsoft.com/office/drawing/2014/main" id="{89E99659-FE56-6E52-821E-B2AD0C55611F}"/>
              </a:ext>
            </a:extLst>
          </p:cNvPr>
          <p:cNvSpPr txBox="1"/>
          <p:nvPr/>
        </p:nvSpPr>
        <p:spPr>
          <a:xfrm>
            <a:off x="1170030" y="2799377"/>
            <a:ext cx="38441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2000" dirty="0">
                <a:solidFill>
                  <a:schemeClr val="bg1"/>
                </a:solidFill>
                <a:latin typeface="Gotham Black"/>
              </a:rPr>
              <a:t> reflects the culture, </a:t>
            </a:r>
            <a:r>
              <a:rPr lang="en-US" sz="2000" dirty="0" err="1">
                <a:solidFill>
                  <a:schemeClr val="bg1"/>
                </a:solidFill>
                <a:latin typeface="Gotham Black"/>
              </a:rPr>
              <a:t>humour</a:t>
            </a:r>
            <a:r>
              <a:rPr lang="en-US" sz="2000" dirty="0">
                <a:solidFill>
                  <a:schemeClr val="bg1"/>
                </a:solidFill>
                <a:latin typeface="Gotham Black"/>
              </a:rPr>
              <a:t>, and stories people truly connect with</a:t>
            </a:r>
            <a:endParaRPr lang="sk-SK" sz="20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49" name="BlokTextu 48">
            <a:extLst>
              <a:ext uri="{FF2B5EF4-FFF2-40B4-BE49-F238E27FC236}">
                <a16:creationId xmlns:a16="http://schemas.microsoft.com/office/drawing/2014/main" id="{915D0F6E-DB84-EFB4-B333-3299B70ED378}"/>
              </a:ext>
            </a:extLst>
          </p:cNvPr>
          <p:cNvSpPr txBox="1"/>
          <p:nvPr/>
        </p:nvSpPr>
        <p:spPr>
          <a:xfrm>
            <a:off x="6398152" y="2824996"/>
            <a:ext cx="46903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otham Black"/>
              </a:rPr>
              <a:t>VOYO creates moments viewers feel, share, and talk about, from comfort to high-stakes excitement</a:t>
            </a:r>
          </a:p>
        </p:txBody>
      </p:sp>
      <p:sp>
        <p:nvSpPr>
          <p:cNvPr id="50" name="BlokTextu 49">
            <a:extLst>
              <a:ext uri="{FF2B5EF4-FFF2-40B4-BE49-F238E27FC236}">
                <a16:creationId xmlns:a16="http://schemas.microsoft.com/office/drawing/2014/main" id="{4F53C2DF-FF89-6311-EB96-072E44AAD2A3}"/>
              </a:ext>
            </a:extLst>
          </p:cNvPr>
          <p:cNvSpPr txBox="1"/>
          <p:nvPr/>
        </p:nvSpPr>
        <p:spPr>
          <a:xfrm>
            <a:off x="6398152" y="4766022"/>
            <a:ext cx="35887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otham Black"/>
              </a:rPr>
              <a:t>VOYO is clear, honest, and worth paying for, built on long-term viewer confidence</a:t>
            </a:r>
          </a:p>
        </p:txBody>
      </p:sp>
      <p:sp>
        <p:nvSpPr>
          <p:cNvPr id="51" name="BlokTextu 50">
            <a:extLst>
              <a:ext uri="{FF2B5EF4-FFF2-40B4-BE49-F238E27FC236}">
                <a16:creationId xmlns:a16="http://schemas.microsoft.com/office/drawing/2014/main" id="{83436DA3-7A3D-7F56-F09A-6FE6273BB797}"/>
              </a:ext>
            </a:extLst>
          </p:cNvPr>
          <p:cNvSpPr txBox="1"/>
          <p:nvPr/>
        </p:nvSpPr>
        <p:spPr>
          <a:xfrm>
            <a:off x="1076104" y="4724584"/>
            <a:ext cx="3938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bg1"/>
                </a:solidFill>
                <a:latin typeface="Gotham Black"/>
              </a:rPr>
              <a:t>VOYO makes choosing entertainment simple, without endless scrolling or overload</a:t>
            </a:r>
          </a:p>
        </p:txBody>
      </p:sp>
      <p:sp>
        <p:nvSpPr>
          <p:cNvPr id="8" name="Zástupný objekt pre číslo snímky 7">
            <a:extLst>
              <a:ext uri="{FF2B5EF4-FFF2-40B4-BE49-F238E27FC236}">
                <a16:creationId xmlns:a16="http://schemas.microsoft.com/office/drawing/2014/main" id="{D5A48AE0-C0C3-93E1-54C0-9DBE7ABB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71584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5F62701-443B-10C3-A410-F6436F479309}"/>
              </a:ext>
            </a:extLst>
          </p:cNvPr>
          <p:cNvSpPr/>
          <p:nvPr/>
        </p:nvSpPr>
        <p:spPr>
          <a:xfrm rot="5400000">
            <a:off x="5405483" y="-97653"/>
            <a:ext cx="1372945" cy="1126836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F92677-DD17-2D1C-DD98-1B6F69A7F29D}"/>
              </a:ext>
            </a:extLst>
          </p:cNvPr>
          <p:cNvSpPr/>
          <p:nvPr/>
        </p:nvSpPr>
        <p:spPr>
          <a:xfrm rot="5400000">
            <a:off x="5487179" y="-1632765"/>
            <a:ext cx="1209553" cy="1126836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77B32E-F55C-90ED-8F30-E745DB2D222B}"/>
              </a:ext>
            </a:extLst>
          </p:cNvPr>
          <p:cNvSpPr/>
          <p:nvPr/>
        </p:nvSpPr>
        <p:spPr>
          <a:xfrm rot="5400000">
            <a:off x="5487178" y="-3086179"/>
            <a:ext cx="1209553" cy="1126836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064D097-2175-C2AB-D057-7F9F8A36E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82" y="615071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dirty="0">
                <a:latin typeface="Gotham Black"/>
              </a:rPr>
              <a:t>VOYO </a:t>
            </a:r>
            <a:r>
              <a:rPr lang="sk-SK" sz="4000" b="1" dirty="0">
                <a:latin typeface="Gotham Black"/>
              </a:rPr>
              <a:t>Brand Foundation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1E8E66A5-AA77-94F7-D0E6-5017C22261E5}"/>
              </a:ext>
            </a:extLst>
          </p:cNvPr>
          <p:cNvSpPr txBox="1"/>
          <p:nvPr/>
        </p:nvSpPr>
        <p:spPr>
          <a:xfrm>
            <a:off x="565633" y="1943225"/>
            <a:ext cx="11090787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B9E0A"/>
                </a:solidFill>
                <a:latin typeface="Gotham Black"/>
              </a:rPr>
              <a:t>ESSENCE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 is local streaming, fully in tune with your world, with premium entertainment at its heart</a:t>
            </a:r>
            <a:endParaRPr lang="sk-SK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ED431347-693D-AF6C-8E54-B8FE18517B33}"/>
              </a:ext>
            </a:extLst>
          </p:cNvPr>
          <p:cNvSpPr txBox="1"/>
          <p:nvPr/>
        </p:nvSpPr>
        <p:spPr>
          <a:xfrm>
            <a:off x="672297" y="3416891"/>
            <a:ext cx="110907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B9E0A"/>
                </a:solidFill>
                <a:latin typeface="Gotham Black"/>
              </a:rPr>
              <a:t>PURPOSE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 exists to bring people effortless access to entertainment that feels close, exciting, and worth coming back to, every day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CEAF4DE8-39E8-42AE-0E7C-33CEC2A7C38C}"/>
              </a:ext>
            </a:extLst>
          </p:cNvPr>
          <p:cNvSpPr txBox="1"/>
          <p:nvPr/>
        </p:nvSpPr>
        <p:spPr>
          <a:xfrm>
            <a:off x="672297" y="4904238"/>
            <a:ext cx="110907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DB9E0A"/>
                </a:solidFill>
                <a:latin typeface="Gotham Black"/>
              </a:rPr>
              <a:t>POSITIONING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VOYO is the local streaming service for people who want entertainment that fits their world, combining trusted local favorites with premium series, sport, and big shared moments,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on their terms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5A740B7C-D6A1-7514-68EB-6DD45590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40571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1254AAE6-3F39-B4A5-7720-1F2FF3B17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Gotham Black"/>
              </a:rPr>
              <a:t>VOYO</a:t>
            </a:r>
            <a:r>
              <a:rPr lang="en-US" sz="2000" dirty="0">
                <a:latin typeface="Gotham Black"/>
              </a:rPr>
              <a:t> is local streaming, fully in tune with your world, with premium entertainment at its heart.</a:t>
            </a:r>
          </a:p>
          <a:p>
            <a:pPr marL="0" indent="0">
              <a:buNone/>
            </a:pPr>
            <a:endParaRPr lang="sk-SK" sz="2000" dirty="0">
              <a:latin typeface="Gotham Black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6D446E-C04D-32F9-992C-EF60B073BC27}"/>
              </a:ext>
            </a:extLst>
          </p:cNvPr>
          <p:cNvSpPr/>
          <p:nvPr/>
        </p:nvSpPr>
        <p:spPr>
          <a:xfrm rot="5400000">
            <a:off x="1839906" y="1283032"/>
            <a:ext cx="2302258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88657A-12EC-175E-C507-B58E93FD7C1F}"/>
              </a:ext>
            </a:extLst>
          </p:cNvPr>
          <p:cNvSpPr/>
          <p:nvPr/>
        </p:nvSpPr>
        <p:spPr>
          <a:xfrm rot="5400000">
            <a:off x="7568929" y="966967"/>
            <a:ext cx="2302258" cy="5385766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E28F283-1436-4753-A894-48F8F977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3500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dirty="0">
                <a:latin typeface="Gotham Black"/>
              </a:rPr>
              <a:t>VOYO </a:t>
            </a:r>
            <a:r>
              <a:rPr lang="sk-SK" sz="4000" b="1" dirty="0">
                <a:latin typeface="Gotham Black"/>
              </a:rPr>
              <a:t>Brand Essence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E2133F02-C3F8-6D31-1576-74D2621D64A7}"/>
              </a:ext>
            </a:extLst>
          </p:cNvPr>
          <p:cNvSpPr txBox="1"/>
          <p:nvPr/>
        </p:nvSpPr>
        <p:spPr>
          <a:xfrm>
            <a:off x="779058" y="2626067"/>
            <a:ext cx="50934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b="1" dirty="0">
                <a:solidFill>
                  <a:schemeClr val="bg1"/>
                </a:solidFill>
                <a:latin typeface="Gotham Black"/>
              </a:rPr>
              <a:t>VOYO always aims for:</a:t>
            </a:r>
          </a:p>
          <a:p>
            <a:endParaRPr lang="sk-SK" dirty="0">
              <a:solidFill>
                <a:schemeClr val="bg1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Closeness with premium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Big entertainment moments</a:t>
            </a:r>
            <a:r>
              <a:rPr lang="sk-SK" dirty="0">
                <a:solidFill>
                  <a:schemeClr val="bg1"/>
                </a:solidFill>
                <a:latin typeface="Gotham Black"/>
              </a:rPr>
              <a:t>, m</a:t>
            </a:r>
            <a:r>
              <a:rPr lang="en-US" dirty="0" err="1">
                <a:solidFill>
                  <a:schemeClr val="bg1"/>
                </a:solidFill>
                <a:latin typeface="Gotham Black"/>
              </a:rPr>
              <a:t>ade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 easy to choose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Local relevance that feels current and alive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010D265F-C0F1-1036-8116-2F76DCB2B27E}"/>
              </a:ext>
            </a:extLst>
          </p:cNvPr>
          <p:cNvSpPr txBox="1"/>
          <p:nvPr/>
        </p:nvSpPr>
        <p:spPr>
          <a:xfrm>
            <a:off x="6336593" y="2626067"/>
            <a:ext cx="50934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b="1" dirty="0">
                <a:solidFill>
                  <a:schemeClr val="bg1"/>
                </a:solidFill>
                <a:latin typeface="Gotham Black"/>
              </a:rPr>
              <a:t>What VOYO avoids:</a:t>
            </a:r>
          </a:p>
          <a:p>
            <a:endParaRPr lang="sk-SK" dirty="0">
              <a:solidFill>
                <a:schemeClr val="bg1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Endless noise and decision fatigue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Generic, one-size-fits-all entertainment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Hype without real connection</a:t>
            </a: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BCE60710-DF78-72C5-00C0-F82F7446ADF6}"/>
              </a:ext>
            </a:extLst>
          </p:cNvPr>
          <p:cNvSpPr txBox="1"/>
          <p:nvPr/>
        </p:nvSpPr>
        <p:spPr>
          <a:xfrm>
            <a:off x="569973" y="5043030"/>
            <a:ext cx="110333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FFFBB1"/>
                </a:solidFill>
                <a:latin typeface="Gotham Black"/>
                <a:ea typeface="Roboto" pitchFamily="34" charset="-122"/>
                <a:cs typeface="Roboto" pitchFamily="34" charset="-120"/>
              </a:rPr>
              <a:t>VOYO</a:t>
            </a:r>
            <a:r>
              <a:rPr lang="en-US" sz="2000" b="1" dirty="0">
                <a:solidFill>
                  <a:srgbClr val="FFFBB1"/>
                </a:solidFill>
                <a:latin typeface="Gotham Black"/>
                <a:ea typeface="Roboto" pitchFamily="34" charset="-122"/>
                <a:cs typeface="Roboto" pitchFamily="34" charset="-120"/>
              </a:rPr>
              <a:t> brings premium entertainment that feels like it belongs in your world.</a:t>
            </a: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F5BC58F7-B9D7-376C-36DE-41F617B4183E}"/>
              </a:ext>
            </a:extLst>
          </p:cNvPr>
          <p:cNvSpPr txBox="1"/>
          <p:nvPr/>
        </p:nvSpPr>
        <p:spPr>
          <a:xfrm>
            <a:off x="1261917" y="5588579"/>
            <a:ext cx="73486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61970"/>
            <a:r>
              <a:rPr lang="en-US" b="1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Essence check</a:t>
            </a:r>
          </a:p>
          <a:p>
            <a:pPr defTabSz="761970"/>
            <a:r>
              <a:rPr lang="en-US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“Does this feel like VOYO - close, premium, and made for this world?”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F1BC9311-FAFD-A857-C1F7-79DB22BFC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10</a:t>
            </a:fld>
            <a:endParaRPr lang="sk-SK"/>
          </a:p>
        </p:txBody>
      </p:sp>
      <p:pic>
        <p:nvPicPr>
          <p:cNvPr id="4098" name="Picture 2" descr="Attention PNG transparent image download, size: 2400x2400px">
            <a:extLst>
              <a:ext uri="{FF2B5EF4-FFF2-40B4-BE49-F238E27FC236}">
                <a16:creationId xmlns:a16="http://schemas.microsoft.com/office/drawing/2014/main" id="{40AE2B44-88A5-4729-ACE2-3A16CD783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56" y="5638945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275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8D68516-E46E-81DD-0A67-730C4C884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218" y="1825625"/>
            <a:ext cx="11277600" cy="361161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latin typeface="Gotham Black"/>
              </a:rPr>
              <a:t>VOYO exists to bring </a:t>
            </a:r>
            <a:r>
              <a:rPr lang="en-US" sz="1800" b="1" dirty="0">
                <a:latin typeface="Gotham Black"/>
              </a:rPr>
              <a:t>people effortless access to entertainment </a:t>
            </a:r>
            <a:r>
              <a:rPr lang="en-US" sz="1800" dirty="0">
                <a:latin typeface="Gotham Black"/>
              </a:rPr>
              <a:t>that feels close, exciting, and worth coming back to, every day.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What this means:</a:t>
            </a:r>
            <a:endParaRPr lang="cs-CZ" sz="1800" b="1" dirty="0">
              <a:solidFill>
                <a:srgbClr val="DB9E0A"/>
              </a:solidFill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7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latin typeface="Gotham Black"/>
              </a:rPr>
              <a:t>We make </a:t>
            </a:r>
            <a:r>
              <a:rPr lang="en-US" sz="1800" b="1" dirty="0">
                <a:latin typeface="Gotham Black"/>
              </a:rPr>
              <a:t>premium entertainment easy to choose </a:t>
            </a:r>
            <a:r>
              <a:rPr lang="en-US" sz="1800" dirty="0">
                <a:latin typeface="Gotham Black"/>
              </a:rPr>
              <a:t>and enjoy, without overload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Gotham Black"/>
              </a:rPr>
              <a:t>We bring </a:t>
            </a:r>
            <a:r>
              <a:rPr lang="en-US" sz="1800" b="1" dirty="0">
                <a:latin typeface="Gotham Black"/>
              </a:rPr>
              <a:t>local stories, reality, sport, and global hits </a:t>
            </a:r>
            <a:r>
              <a:rPr lang="en-US" sz="1800" dirty="0">
                <a:latin typeface="Gotham Black"/>
              </a:rPr>
              <a:t>in a way that feels culturally close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Gotham Black"/>
              </a:rPr>
              <a:t>We create </a:t>
            </a:r>
            <a:r>
              <a:rPr lang="en-US" sz="1800" b="1" dirty="0">
                <a:latin typeface="Gotham Black"/>
              </a:rPr>
              <a:t>everyday viewing moments</a:t>
            </a:r>
            <a:r>
              <a:rPr lang="en-US" sz="1800" dirty="0">
                <a:latin typeface="Gotham Black"/>
              </a:rPr>
              <a:t>, from comfort to high-energy excitement</a:t>
            </a:r>
            <a:endParaRPr lang="sk-SK" sz="1800" dirty="0">
              <a:latin typeface="Gotham Black"/>
            </a:endParaRPr>
          </a:p>
          <a:p>
            <a:pPr>
              <a:lnSpc>
                <a:spcPct val="120000"/>
              </a:lnSpc>
            </a:pPr>
            <a:endParaRPr lang="sk-SK" sz="1200" dirty="0">
              <a:latin typeface="Gotham Black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F4C5C-568E-83B3-D537-C42833C1F6C9}"/>
              </a:ext>
            </a:extLst>
          </p:cNvPr>
          <p:cNvSpPr/>
          <p:nvPr/>
        </p:nvSpPr>
        <p:spPr>
          <a:xfrm rot="5400000">
            <a:off x="4978315" y="-1454226"/>
            <a:ext cx="2358905" cy="1126836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75A161E-9CCE-ED68-9E81-309E1B63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5071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dirty="0">
                <a:latin typeface="Gotham Black"/>
              </a:rPr>
              <a:t>VOYO </a:t>
            </a:r>
            <a:r>
              <a:rPr lang="sk-SK" sz="4000" b="1" dirty="0">
                <a:latin typeface="Gotham Black"/>
              </a:rPr>
              <a:t>Brand Purpose</a:t>
            </a: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8414B9DE-4383-03E8-4D8F-8967682E65D9}"/>
              </a:ext>
            </a:extLst>
          </p:cNvPr>
          <p:cNvSpPr txBox="1"/>
          <p:nvPr/>
        </p:nvSpPr>
        <p:spPr>
          <a:xfrm>
            <a:off x="1252393" y="5575832"/>
            <a:ext cx="8729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61970"/>
            <a:r>
              <a:rPr lang="sk-SK" sz="1600" b="1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</a:rPr>
              <a:t>Purpose</a:t>
            </a:r>
            <a:r>
              <a:rPr lang="en-US" sz="1600" b="1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</a:rPr>
              <a:t> check</a:t>
            </a:r>
          </a:p>
          <a:p>
            <a:pPr defTabSz="761970"/>
            <a:r>
              <a:rPr lang="en-US" sz="1600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</a:rPr>
              <a:t>“Does this make </a:t>
            </a:r>
            <a:r>
              <a:rPr lang="en-US" sz="1600" dirty="0" err="1">
                <a:solidFill>
                  <a:srgbClr val="FFFBB1"/>
                </a:solidFill>
                <a:latin typeface="Gotham Black"/>
                <a:ea typeface="Roboto" panose="02000000000000000000" pitchFamily="2" charset="0"/>
              </a:rPr>
              <a:t>VOYO</a:t>
            </a:r>
            <a:r>
              <a:rPr lang="en-US" sz="1600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</a:rPr>
              <a:t> the easiest way to enjoy entertainment that fits our world?”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BCFD386-263F-B9E5-1EFC-00E8B80BC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11</a:t>
            </a:fld>
            <a:endParaRPr lang="sk-SK"/>
          </a:p>
        </p:txBody>
      </p:sp>
      <p:pic>
        <p:nvPicPr>
          <p:cNvPr id="8" name="Picture 2" descr="Attention PNG transparent image download, size: 2400x2400px">
            <a:extLst>
              <a:ext uri="{FF2B5EF4-FFF2-40B4-BE49-F238E27FC236}">
                <a16:creationId xmlns:a16="http://schemas.microsoft.com/office/drawing/2014/main" id="{85B9F4A4-BCAE-CCB5-9734-436F4DB4C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56" y="5638945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446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72B0F42-FF60-1FE3-F3DD-D0A072CC4A2A}"/>
              </a:ext>
            </a:extLst>
          </p:cNvPr>
          <p:cNvSpPr/>
          <p:nvPr/>
        </p:nvSpPr>
        <p:spPr>
          <a:xfrm rot="5400000">
            <a:off x="7546523" y="2493416"/>
            <a:ext cx="1587658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D2602C-91BB-024B-AA1A-155382130C2E}"/>
              </a:ext>
            </a:extLst>
          </p:cNvPr>
          <p:cNvSpPr/>
          <p:nvPr/>
        </p:nvSpPr>
        <p:spPr>
          <a:xfrm rot="5400000">
            <a:off x="7546523" y="803432"/>
            <a:ext cx="1587658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0D271B-BBC0-574C-A2A1-EDCAEA245E5E}"/>
              </a:ext>
            </a:extLst>
          </p:cNvPr>
          <p:cNvSpPr/>
          <p:nvPr/>
        </p:nvSpPr>
        <p:spPr>
          <a:xfrm rot="16200000">
            <a:off x="2342285" y="800811"/>
            <a:ext cx="1587658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A705FC-AC00-094C-AE90-1DF44971D8F1}"/>
              </a:ext>
            </a:extLst>
          </p:cNvPr>
          <p:cNvSpPr/>
          <p:nvPr/>
        </p:nvSpPr>
        <p:spPr>
          <a:xfrm rot="16200000">
            <a:off x="2342285" y="2490795"/>
            <a:ext cx="1587658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ECA0FDB-4832-3F96-0BC8-89FAB4DA2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8928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dirty="0">
                <a:latin typeface="Gotham Black"/>
              </a:rPr>
              <a:t>VOYO </a:t>
            </a:r>
            <a:r>
              <a:rPr lang="sk-SK" sz="4000" b="1" dirty="0">
                <a:latin typeface="Gotham Black"/>
              </a:rPr>
              <a:t>Positioning Statement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3ED8ECC-26BF-DA6B-AB50-6E672253E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588707"/>
            <a:ext cx="11277600" cy="1078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Gotham Black"/>
              </a:rPr>
              <a:t>VOYO</a:t>
            </a:r>
            <a:r>
              <a:rPr lang="en-US" sz="1800" dirty="0">
                <a:latin typeface="Gotham Black"/>
              </a:rPr>
              <a:t> is the local streaming service for people who want entertainment that fits their world, combining trusted local favorites with premium series, sport, and big shared moments, on their terms.</a:t>
            </a:r>
          </a:p>
          <a:p>
            <a:pPr marL="0" indent="0">
              <a:buNone/>
            </a:pPr>
            <a:endParaRPr lang="sk-SK" sz="1800" dirty="0"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7985E1BA-288A-1AC1-B554-921EC152A7AC}"/>
              </a:ext>
            </a:extLst>
          </p:cNvPr>
          <p:cNvSpPr txBox="1"/>
          <p:nvPr/>
        </p:nvSpPr>
        <p:spPr>
          <a:xfrm>
            <a:off x="1366693" y="5792053"/>
            <a:ext cx="111622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61970"/>
            <a:r>
              <a:rPr lang="en-US" b="1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Positioning check</a:t>
            </a:r>
          </a:p>
          <a:p>
            <a:pPr defTabSz="761970"/>
            <a:r>
              <a:rPr lang="en-US" b="1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“</a:t>
            </a:r>
            <a:r>
              <a:rPr lang="en-US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Does this make </a:t>
            </a:r>
            <a:r>
              <a:rPr lang="en-US" dirty="0" err="1">
                <a:solidFill>
                  <a:srgbClr val="FFFBB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</a:t>
            </a:r>
            <a:r>
              <a:rPr lang="en-US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feel like the most relevant and exciting local streaming choice?”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026B298B-036A-0586-786C-48FBC08F3E1F}"/>
              </a:ext>
            </a:extLst>
          </p:cNvPr>
          <p:cNvSpPr txBox="1"/>
          <p:nvPr/>
        </p:nvSpPr>
        <p:spPr>
          <a:xfrm>
            <a:off x="691346" y="2514352"/>
            <a:ext cx="46007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k-SK" sz="1600" b="1" dirty="0">
                <a:solidFill>
                  <a:srgbClr val="DB9E0A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TARGET</a:t>
            </a:r>
            <a:endParaRPr lang="en-US" sz="1600" b="1" dirty="0">
              <a:solidFill>
                <a:srgbClr val="DB9E0A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k-SK" sz="1600" b="1" dirty="0">
              <a:solidFill>
                <a:srgbClr val="DB9E0A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Local audiences who want culturally close entertainment that is easy to choose and worth watching</a:t>
            </a:r>
            <a:endParaRPr lang="sk-SK" sz="1600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9E82A3AE-AEC6-207C-39ED-47066DF04CF6}"/>
              </a:ext>
            </a:extLst>
          </p:cNvPr>
          <p:cNvSpPr txBox="1"/>
          <p:nvPr/>
        </p:nvSpPr>
        <p:spPr>
          <a:xfrm>
            <a:off x="6115050" y="2551445"/>
            <a:ext cx="51859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k-SK" sz="1600" b="1" dirty="0">
                <a:solidFill>
                  <a:srgbClr val="DB9E0A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FRAME OF REFERENCE</a:t>
            </a:r>
            <a:endParaRPr lang="en-US" sz="1600" b="1" dirty="0">
              <a:solidFill>
                <a:srgbClr val="DB9E0A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k-SK" sz="1600" b="1" dirty="0">
              <a:solidFill>
                <a:srgbClr val="DB9E0A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Streaming services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D96D1875-284B-107D-4D2C-BFD1500C7B49}"/>
              </a:ext>
            </a:extLst>
          </p:cNvPr>
          <p:cNvSpPr txBox="1"/>
          <p:nvPr/>
        </p:nvSpPr>
        <p:spPr>
          <a:xfrm>
            <a:off x="567947" y="4249077"/>
            <a:ext cx="47241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k-SK" sz="1600" b="1" dirty="0">
                <a:solidFill>
                  <a:srgbClr val="DB9E0A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POINT OF DIFFERENCE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k-SK" sz="1600" b="1" dirty="0">
              <a:solidFill>
                <a:srgbClr val="DB9E0A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Local relevance with premium scale, curated across series, reality, sport, and films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3DE0A86A-BCC6-E9CE-FAF0-3984F6CD84D4}"/>
              </a:ext>
            </a:extLst>
          </p:cNvPr>
          <p:cNvSpPr txBox="1"/>
          <p:nvPr/>
        </p:nvSpPr>
        <p:spPr>
          <a:xfrm>
            <a:off x="6182851" y="4249077"/>
            <a:ext cx="395174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k-SK" sz="1600" b="1" dirty="0">
                <a:solidFill>
                  <a:srgbClr val="DB9E0A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POINT OF DIFFERENCE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k-SK" sz="1600" dirty="0">
              <a:solidFill>
                <a:srgbClr val="DB9E0A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Strong local originals and stars, born in CEE with deep audience understanding, delivering premium entertainment moments</a:t>
            </a:r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D557F092-15D9-B1C2-17E7-3AEF804D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>
                <a:latin typeface="Gotham Black"/>
              </a:rPr>
              <a:t>12</a:t>
            </a:fld>
            <a:endParaRPr lang="sk-SK">
              <a:latin typeface="Gotham Black"/>
            </a:endParaRPr>
          </a:p>
        </p:txBody>
      </p:sp>
      <p:pic>
        <p:nvPicPr>
          <p:cNvPr id="22" name="Picture 2" descr="Attention PNG transparent image download, size: 2400x2400px">
            <a:extLst>
              <a:ext uri="{FF2B5EF4-FFF2-40B4-BE49-F238E27FC236}">
                <a16:creationId xmlns:a16="http://schemas.microsoft.com/office/drawing/2014/main" id="{81BFF6EF-5313-5FDB-F409-28A27667B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96" y="5837710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316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013C-C6EA-2B65-A660-CC8045A5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578123-82EC-49B9-6CF6-356EFCAA6874}"/>
              </a:ext>
            </a:extLst>
          </p:cNvPr>
          <p:cNvSpPr/>
          <p:nvPr/>
        </p:nvSpPr>
        <p:spPr>
          <a:xfrm rot="5400000">
            <a:off x="7706959" y="2602532"/>
            <a:ext cx="1861655" cy="4753635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0B8DB7-6A3F-1406-7A72-553961DFC272}"/>
              </a:ext>
            </a:extLst>
          </p:cNvPr>
          <p:cNvSpPr/>
          <p:nvPr/>
        </p:nvSpPr>
        <p:spPr>
          <a:xfrm rot="5400000">
            <a:off x="2205285" y="2602532"/>
            <a:ext cx="1861655" cy="4753635"/>
          </a:xfrm>
          <a:prstGeom prst="rect">
            <a:avLst/>
          </a:prstGeom>
          <a:gradFill>
            <a:gsLst>
              <a:gs pos="0">
                <a:srgbClr val="542F66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632FA7-AEE6-62D6-9288-26A5BB097E36}"/>
              </a:ext>
            </a:extLst>
          </p:cNvPr>
          <p:cNvSpPr/>
          <p:nvPr/>
        </p:nvSpPr>
        <p:spPr>
          <a:xfrm rot="5400000">
            <a:off x="7706960" y="626178"/>
            <a:ext cx="1861655" cy="4753635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3300AC-96E7-A8F2-1795-9FC20961EFCA}"/>
              </a:ext>
            </a:extLst>
          </p:cNvPr>
          <p:cNvSpPr/>
          <p:nvPr/>
        </p:nvSpPr>
        <p:spPr>
          <a:xfrm rot="5400000">
            <a:off x="2430586" y="400877"/>
            <a:ext cx="1861655" cy="5204239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5691BF1-EA7F-A77D-E0A5-7749D202F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8062"/>
            <a:ext cx="9901382" cy="656164"/>
          </a:xfrm>
        </p:spPr>
        <p:txBody>
          <a:bodyPr>
            <a:noAutofit/>
          </a:bodyPr>
          <a:lstStyle/>
          <a:p>
            <a:pPr algn="l"/>
            <a:r>
              <a:rPr lang="sk-SK" sz="4000" dirty="0">
                <a:latin typeface="Gotham Black"/>
              </a:rPr>
              <a:t>VOYO</a:t>
            </a:r>
            <a:r>
              <a:rPr lang="en-US" sz="4000" dirty="0">
                <a:latin typeface="Gotham Black"/>
              </a:rPr>
              <a:t> in the </a:t>
            </a:r>
            <a:r>
              <a:rPr lang="sk-SK" sz="4000" b="1" dirty="0">
                <a:latin typeface="Gotham Black"/>
              </a:rPr>
              <a:t>E</a:t>
            </a:r>
            <a:r>
              <a:rPr lang="en-US" sz="4000" b="1" dirty="0" err="1">
                <a:latin typeface="Gotham Black"/>
              </a:rPr>
              <a:t>ntertainment</a:t>
            </a:r>
            <a:r>
              <a:rPr lang="en-US" sz="4000" b="1" dirty="0">
                <a:latin typeface="Gotham Black"/>
              </a:rPr>
              <a:t> </a:t>
            </a:r>
            <a:r>
              <a:rPr lang="sk-SK" sz="4000" b="1" dirty="0">
                <a:latin typeface="Gotham Black"/>
              </a:rPr>
              <a:t>L</a:t>
            </a:r>
            <a:r>
              <a:rPr lang="en-US" sz="4000" b="1" dirty="0" err="1">
                <a:latin typeface="Gotham Black"/>
              </a:rPr>
              <a:t>andscape</a:t>
            </a:r>
            <a:endParaRPr lang="sk-SK" sz="4000" b="1" dirty="0">
              <a:latin typeface="Gotham Black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8D7A6668-FD6E-1CE4-3F0A-9085510DA011}"/>
              </a:ext>
            </a:extLst>
          </p:cNvPr>
          <p:cNvSpPr txBox="1"/>
          <p:nvPr/>
        </p:nvSpPr>
        <p:spPr>
          <a:xfrm>
            <a:off x="964103" y="2065002"/>
            <a:ext cx="499943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61970"/>
            <a:r>
              <a:rPr lang="en-US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</a:t>
            </a:r>
          </a:p>
          <a:p>
            <a:pPr defTabSz="761970"/>
            <a:r>
              <a:rPr lang="en-US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Local entertainment, made unmissable</a:t>
            </a:r>
            <a:endParaRPr lang="sk-SK" sz="1400" b="1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defTabSz="761970"/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Deep local relevance across series, reality, and sport</a:t>
            </a:r>
          </a:p>
          <a:p>
            <a:pPr marL="238115" indent="-238115" defTabSz="76197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Curated entertainment you can trust</a:t>
            </a:r>
          </a:p>
          <a:p>
            <a:pPr marL="238115" indent="-238115" defTabSz="76197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Big moments, without overload</a:t>
            </a:r>
          </a:p>
          <a:p>
            <a:pPr marL="238115" indent="-238115" defTabSz="76197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Flexible viewing, on your terms</a:t>
            </a:r>
            <a:endParaRPr lang="sk-SK" sz="1400" b="1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defTabSz="761970"/>
            <a:r>
              <a:rPr lang="en-US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What it gives you:</a:t>
            </a:r>
            <a:b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The most relevant local choice you can trust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F6B93E54-1B54-0DE9-8074-546EE975B41B}"/>
              </a:ext>
            </a:extLst>
          </p:cNvPr>
          <p:cNvSpPr txBox="1"/>
          <p:nvPr/>
        </p:nvSpPr>
        <p:spPr>
          <a:xfrm>
            <a:off x="899921" y="4179130"/>
            <a:ext cx="506361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61970"/>
            <a:r>
              <a:rPr lang="sk-SK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Local free to air TV</a:t>
            </a:r>
          </a:p>
          <a:p>
            <a:pPr defTabSz="761970"/>
            <a:r>
              <a:rPr lang="en-US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Entertainment for everyone, at the same time</a:t>
            </a:r>
            <a:endParaRPr lang="en-US" sz="1400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38115" indent="-238115" defTabSz="76197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Strong shared moments and conversations</a:t>
            </a:r>
            <a:endParaRPr lang="sk-SK" sz="1400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38115" indent="-238115" defTabSz="76197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Fixed schedule and limited control</a:t>
            </a:r>
          </a:p>
          <a:p>
            <a:pPr marL="238115" indent="-238115" defTabSz="76197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One-size-fits-all programming</a:t>
            </a:r>
            <a:endParaRPr lang="sk-SK" sz="1400" b="1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defTabSz="761970"/>
            <a:r>
              <a:rPr lang="en-US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What it gives you:</a:t>
            </a:r>
            <a:b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Familiarity, reach, collective moments</a:t>
            </a:r>
            <a:endParaRPr lang="sk-SK" sz="1400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F5ED68BE-B366-1855-417F-34C0CD154F34}"/>
              </a:ext>
            </a:extLst>
          </p:cNvPr>
          <p:cNvSpPr txBox="1"/>
          <p:nvPr/>
        </p:nvSpPr>
        <p:spPr>
          <a:xfrm>
            <a:off x="6550453" y="2115321"/>
            <a:ext cx="438640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61970"/>
            <a:r>
              <a:rPr lang="sk-SK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Global streamers</a:t>
            </a:r>
          </a:p>
          <a:p>
            <a:pPr defTabSz="761970"/>
            <a:r>
              <a:rPr lang="en-US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Entertainment from everywhere</a:t>
            </a:r>
            <a:endParaRPr lang="en-US" sz="1400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38115" indent="-238115" defTabSz="76197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Global scale and endless choice</a:t>
            </a:r>
            <a:endParaRPr lang="sk-SK" sz="1400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38115" indent="-238115" defTabSz="76197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Broad global catalogue and trends</a:t>
            </a:r>
          </a:p>
          <a:p>
            <a:pPr marL="238115" indent="-238115" defTabSz="76197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Discovery-led viewing experience</a:t>
            </a:r>
            <a:endParaRPr lang="sk-SK" sz="1400" b="1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defTabSz="761970"/>
            <a:r>
              <a:rPr lang="en-US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What it gives you:</a:t>
            </a:r>
            <a:b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Exploration, trends, global hits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7A421C54-162A-9655-7FDD-0EF0D9FD706C}"/>
              </a:ext>
            </a:extLst>
          </p:cNvPr>
          <p:cNvSpPr txBox="1"/>
          <p:nvPr/>
        </p:nvSpPr>
        <p:spPr>
          <a:xfrm>
            <a:off x="6550453" y="4159312"/>
            <a:ext cx="468591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61970"/>
            <a:r>
              <a:rPr lang="en-US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AVOD &amp; YouTube</a:t>
            </a:r>
            <a:r>
              <a:rPr lang="sk-SK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sk-SK" sz="1400" b="1" dirty="0" err="1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free</a:t>
            </a:r>
            <a:r>
              <a:rPr lang="sk-SK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sk-SK" sz="1400" b="1" dirty="0" err="1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tier</a:t>
            </a:r>
            <a:r>
              <a:rPr lang="sk-SK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b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Free entertainment with advertising</a:t>
            </a:r>
            <a:endParaRPr lang="en-US" sz="1400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38115" indent="-238115" defTabSz="76197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Feed-driven, </a:t>
            </a:r>
            <a:r>
              <a:rPr lang="en-US" sz="1400" dirty="0" err="1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uncurated</a:t>
            </a: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viewing</a:t>
            </a:r>
            <a:endParaRPr lang="sk-SK" sz="1400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38115" indent="-238115" defTabSz="76197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Algorithm- or feed-driven experience</a:t>
            </a:r>
          </a:p>
          <a:p>
            <a:pPr marL="238115" indent="-238115" defTabSz="76197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Frequent ad interruptions</a:t>
            </a:r>
            <a:endParaRPr lang="sk-SK" sz="1400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defTabSz="761970"/>
            <a:r>
              <a:rPr lang="en-US" sz="1400" b="1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What it gives you:</a:t>
            </a:r>
            <a:b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400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Instant access, variety, distraction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7056D0C-CBB4-10AD-1A41-FB5AE15E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13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36398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E0B1D88-8DCB-2CAD-BF49-1179B650FFC1}"/>
              </a:ext>
            </a:extLst>
          </p:cNvPr>
          <p:cNvSpPr/>
          <p:nvPr/>
        </p:nvSpPr>
        <p:spPr>
          <a:xfrm>
            <a:off x="8979550" y="4393318"/>
            <a:ext cx="2639597" cy="1825291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89896D-EDB3-DB92-75A8-5AAB741B0266}"/>
              </a:ext>
            </a:extLst>
          </p:cNvPr>
          <p:cNvSpPr/>
          <p:nvPr/>
        </p:nvSpPr>
        <p:spPr>
          <a:xfrm>
            <a:off x="6160853" y="4393319"/>
            <a:ext cx="2639597" cy="1825291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303EB2-11C5-A1FB-3793-98E73B6CA04D}"/>
              </a:ext>
            </a:extLst>
          </p:cNvPr>
          <p:cNvSpPr/>
          <p:nvPr/>
        </p:nvSpPr>
        <p:spPr>
          <a:xfrm>
            <a:off x="3340750" y="4393319"/>
            <a:ext cx="2639597" cy="1825291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4180DC-3321-A034-EFE9-C6D6EE80F7DF}"/>
              </a:ext>
            </a:extLst>
          </p:cNvPr>
          <p:cNvSpPr/>
          <p:nvPr/>
        </p:nvSpPr>
        <p:spPr>
          <a:xfrm>
            <a:off x="472209" y="4393319"/>
            <a:ext cx="2639597" cy="1825291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9998DA1-C21D-6FC2-5D19-61F5F0DD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8062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dirty="0">
                <a:latin typeface="Gotham Black"/>
              </a:rPr>
              <a:t>VOYO </a:t>
            </a:r>
            <a:r>
              <a:rPr lang="sk-SK" sz="4000" b="1" dirty="0">
                <a:latin typeface="Gotham Black"/>
              </a:rPr>
              <a:t>Target Audience &amp; Needs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E9CACCF-A970-7B54-0534-48B7F2EBC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0672" y="1637941"/>
            <a:ext cx="8213128" cy="16869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CORE AUDIENCE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latin typeface="Gotham Black"/>
              </a:rPr>
              <a:t>Entertainment viewers with smart devices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latin typeface="Gotham Black"/>
              </a:rPr>
              <a:t>VOYO is built for viewers who want culturally close entertainment that is easy to choose and worth watching anytime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1A68E5E1-F354-A049-D0C9-32F6F2CC2887}"/>
              </a:ext>
            </a:extLst>
          </p:cNvPr>
          <p:cNvSpPr/>
          <p:nvPr/>
        </p:nvSpPr>
        <p:spPr>
          <a:xfrm>
            <a:off x="510309" y="4458538"/>
            <a:ext cx="2542472" cy="1656260"/>
          </a:xfrm>
          <a:prstGeom prst="roundRect">
            <a:avLst>
              <a:gd name="adj" fmla="val 4647"/>
            </a:avLst>
          </a:prstGeom>
          <a:noFill/>
          <a:ln w="412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Gotham Black"/>
              </a:rPr>
              <a:t> EASY CHOICE, </a:t>
            </a:r>
            <a:endParaRPr lang="sk-SK" sz="1400" b="1" dirty="0">
              <a:solidFill>
                <a:schemeClr val="bg1"/>
              </a:solidFill>
              <a:latin typeface="Gotham Black"/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Gotham Black"/>
              </a:rPr>
              <a:t>NO OVERLOAD</a:t>
            </a:r>
          </a:p>
          <a:p>
            <a:pPr algn="ctr"/>
            <a:endParaRPr lang="en-US" sz="1400" dirty="0">
              <a:solidFill>
                <a:schemeClr val="bg1"/>
              </a:solidFill>
              <a:latin typeface="Gotham Black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Gotham Black"/>
              </a:rPr>
              <a:t>People want great entertainment without endless scrolling or decision fatigue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C2561681-D00D-3AB8-E78B-4DB68ABF02AE}"/>
              </a:ext>
            </a:extLst>
          </p:cNvPr>
          <p:cNvSpPr/>
          <p:nvPr/>
        </p:nvSpPr>
        <p:spPr>
          <a:xfrm>
            <a:off x="3340749" y="4390349"/>
            <a:ext cx="2639598" cy="1750582"/>
          </a:xfrm>
          <a:prstGeom prst="roundRect">
            <a:avLst>
              <a:gd name="adj" fmla="val 4647"/>
            </a:avLst>
          </a:prstGeom>
          <a:noFill/>
          <a:ln w="412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Gotham Black"/>
              </a:rPr>
              <a:t> CULTURALLY CLOSE STORIES</a:t>
            </a:r>
            <a:endParaRPr lang="sk-SK" sz="1400" b="1" dirty="0">
              <a:solidFill>
                <a:schemeClr val="bg1"/>
              </a:solidFill>
              <a:latin typeface="Gotham Black"/>
            </a:endParaRPr>
          </a:p>
          <a:p>
            <a:pPr algn="ctr"/>
            <a:endParaRPr lang="en-US" sz="1400" dirty="0">
              <a:solidFill>
                <a:schemeClr val="bg1"/>
              </a:solidFill>
              <a:latin typeface="Gotham Black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Gotham Black"/>
              </a:rPr>
              <a:t>They want humor, faces, emotions, and formats that feel local, familiar, and naturally “theirs”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70B5D739-07CA-F022-EF3B-7214641FCF84}"/>
              </a:ext>
            </a:extLst>
          </p:cNvPr>
          <p:cNvSpPr/>
          <p:nvPr/>
        </p:nvSpPr>
        <p:spPr>
          <a:xfrm>
            <a:off x="6231938" y="4387381"/>
            <a:ext cx="2497425" cy="1750581"/>
          </a:xfrm>
          <a:prstGeom prst="roundRect">
            <a:avLst>
              <a:gd name="adj" fmla="val 4647"/>
            </a:avLst>
          </a:prstGeom>
          <a:noFill/>
          <a:ln w="412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Gotham Black"/>
              </a:rPr>
              <a:t>FLEXIBILITY </a:t>
            </a:r>
            <a:endParaRPr lang="sk-SK" sz="1400" b="1" dirty="0">
              <a:solidFill>
                <a:schemeClr val="bg1"/>
              </a:solidFill>
              <a:latin typeface="Gotham Black"/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Gotham Black"/>
              </a:rPr>
              <a:t>THAT FITS REAL LIFE</a:t>
            </a:r>
          </a:p>
          <a:p>
            <a:pPr algn="ctr"/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Gotham Black"/>
              </a:rPr>
              <a:t>They want to watch anytime, at their own rhythm, without schedules or pressure</a:t>
            </a:r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pPr algn="ctr"/>
            <a:endParaRPr lang="en-US" sz="14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17B737EE-7484-7CB8-48E5-BF88A816FB8F}"/>
              </a:ext>
            </a:extLst>
          </p:cNvPr>
          <p:cNvSpPr/>
          <p:nvPr/>
        </p:nvSpPr>
        <p:spPr>
          <a:xfrm>
            <a:off x="8979550" y="4379336"/>
            <a:ext cx="2564459" cy="1750581"/>
          </a:xfrm>
          <a:prstGeom prst="roundRect">
            <a:avLst>
              <a:gd name="adj" fmla="val 4647"/>
            </a:avLst>
          </a:prstGeom>
          <a:noFill/>
          <a:ln w="412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Gotham Black"/>
              </a:rPr>
              <a:t>EMOTIONAL MOMENTS WORTH SHARING</a:t>
            </a:r>
          </a:p>
          <a:p>
            <a:pPr algn="ctr"/>
            <a:endParaRPr lang="en-US" sz="1400" dirty="0">
              <a:solidFill>
                <a:schemeClr val="bg1"/>
              </a:solidFill>
              <a:latin typeface="Gotham Black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Gotham Black"/>
              </a:rPr>
              <a:t>They want entertainment that delivers real emotion and shared moments people talk </a:t>
            </a:r>
            <a:r>
              <a:rPr lang="en-US" sz="1400" dirty="0" err="1">
                <a:solidFill>
                  <a:schemeClr val="bg1"/>
                </a:solidFill>
                <a:latin typeface="Gotham Black"/>
              </a:rPr>
              <a:t>aboutv</a:t>
            </a:r>
            <a:endParaRPr lang="en-US" sz="14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93F8C0E-1826-C0D5-E640-802A46F4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14</a:t>
            </a:fld>
            <a:endParaRPr lang="sk-SK"/>
          </a:p>
        </p:txBody>
      </p: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695D5EEF-65F8-C63D-7A80-F307CF65D1B5}"/>
              </a:ext>
            </a:extLst>
          </p:cNvPr>
          <p:cNvSpPr txBox="1">
            <a:spLocks/>
          </p:cNvSpPr>
          <p:nvPr/>
        </p:nvSpPr>
        <p:spPr>
          <a:xfrm>
            <a:off x="472209" y="3908652"/>
            <a:ext cx="11277600" cy="535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CORE NEEDS </a:t>
            </a:r>
            <a:r>
              <a:rPr lang="en-US" sz="1800" dirty="0">
                <a:solidFill>
                  <a:srgbClr val="DB9E0A"/>
                </a:solidFill>
                <a:latin typeface="Gotham Black"/>
              </a:rPr>
              <a:t>(across all markets)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29A6CC-92D3-A73D-D8F0-7F7771A9A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84" y="1847980"/>
            <a:ext cx="1265983" cy="126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09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3BE7B-A7DE-7A84-5977-9D52960F3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08BD661B-7E1C-BF40-1D1C-F72D7848E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1</a:t>
            </a:r>
            <a:r>
              <a:rPr lang="en-US" sz="2800" dirty="0">
                <a:latin typeface="Gotham Black"/>
              </a:rPr>
              <a:t>.2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C03FC847-11FB-E6D1-A159-DAEF76794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3051739"/>
            <a:ext cx="11068493" cy="913975"/>
          </a:xfrm>
        </p:spPr>
        <p:txBody>
          <a:bodyPr>
            <a:normAutofit lnSpcReduction="10000"/>
          </a:bodyPr>
          <a:lstStyle/>
          <a:p>
            <a:r>
              <a:rPr lang="sk-SK" sz="6000" dirty="0">
                <a:latin typeface="Gotham Black"/>
              </a:rPr>
              <a:t>VOYO </a:t>
            </a:r>
            <a:r>
              <a:rPr lang="sk-SK" sz="6000" b="1" dirty="0">
                <a:latin typeface="Gotham Black"/>
              </a:rPr>
              <a:t>North Star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712A359D-5EF4-04B8-FAFC-211B283F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15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90162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lokTextu 4">
            <a:extLst>
              <a:ext uri="{FF2B5EF4-FFF2-40B4-BE49-F238E27FC236}">
                <a16:creationId xmlns:a16="http://schemas.microsoft.com/office/drawing/2014/main" id="{698903F5-318B-09D6-52E6-D26CE93128C2}"/>
              </a:ext>
            </a:extLst>
          </p:cNvPr>
          <p:cNvSpPr txBox="1"/>
          <p:nvPr/>
        </p:nvSpPr>
        <p:spPr>
          <a:xfrm>
            <a:off x="457200" y="2458521"/>
            <a:ext cx="11277600" cy="1940957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rgbClr val="FFFBB1"/>
                </a:solidFill>
                <a:latin typeface="Gotham Black"/>
              </a:rPr>
              <a:t>VOYO is </a:t>
            </a:r>
            <a:r>
              <a:rPr lang="en-US" sz="5400" b="1" dirty="0">
                <a:solidFill>
                  <a:srgbClr val="FFFBB1"/>
                </a:solidFill>
                <a:latin typeface="Gotham Black"/>
              </a:rPr>
              <a:t>home</a:t>
            </a:r>
            <a:r>
              <a:rPr lang="en-US" sz="5400" dirty="0">
                <a:solidFill>
                  <a:srgbClr val="FFFBB1"/>
                </a:solidFill>
                <a:latin typeface="Gotham Black"/>
              </a:rPr>
              <a:t> to the </a:t>
            </a:r>
            <a:r>
              <a:rPr lang="en-US" sz="5400" b="1" dirty="0">
                <a:solidFill>
                  <a:srgbClr val="FFFBB1"/>
                </a:solidFill>
                <a:latin typeface="Gotham Black"/>
              </a:rPr>
              <a:t>stories</a:t>
            </a:r>
            <a:r>
              <a:rPr lang="en-US" sz="5400" dirty="0">
                <a:solidFill>
                  <a:srgbClr val="FFFBB1"/>
                </a:solidFill>
                <a:latin typeface="Gotham Black"/>
              </a:rPr>
              <a:t> that </a:t>
            </a:r>
            <a:r>
              <a:rPr lang="en-US" sz="5400" b="1" dirty="0">
                <a:solidFill>
                  <a:srgbClr val="FFFBB1"/>
                </a:solidFill>
                <a:latin typeface="Gotham Black"/>
              </a:rPr>
              <a:t>matter</a:t>
            </a:r>
            <a:r>
              <a:rPr lang="en-US" sz="5400" dirty="0">
                <a:solidFill>
                  <a:srgbClr val="FFFBB1"/>
                </a:solidFill>
                <a:latin typeface="Gotham Black"/>
              </a:rPr>
              <a:t> in your world</a:t>
            </a:r>
            <a:endParaRPr lang="sk-SK" sz="5400" dirty="0">
              <a:solidFill>
                <a:srgbClr val="FFFBB1"/>
              </a:solidFill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95C5B28-68CA-787F-2B47-E8E68081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16</a:t>
            </a:fld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58DE9E1F-63DC-9B95-57E2-3784282FB37E}"/>
              </a:ext>
            </a:extLst>
          </p:cNvPr>
          <p:cNvSpPr txBox="1"/>
          <p:nvPr/>
        </p:nvSpPr>
        <p:spPr>
          <a:xfrm>
            <a:off x="1818968" y="5264603"/>
            <a:ext cx="8554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otham Black"/>
              </a:rPr>
              <a:t>If it doesn’t feel close, relevant and worth talking about, it’s not VOYO</a:t>
            </a:r>
            <a:endParaRPr lang="sk-SK" dirty="0">
              <a:solidFill>
                <a:schemeClr val="bg1"/>
              </a:solidFill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3991411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458A-02DB-28CA-28E0-81284A1B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868AEC-4204-2C69-E0EB-F84448EF9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59" y="619342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dirty="0">
                <a:latin typeface="Gotham Black"/>
              </a:rPr>
              <a:t>VOYO </a:t>
            </a:r>
            <a:r>
              <a:rPr lang="sk-SK" sz="4000" b="1" dirty="0">
                <a:latin typeface="Gotham Black"/>
              </a:rPr>
              <a:t>North Star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7F5CFFF-A097-0600-D71E-09AEE2D6E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250" y="1847850"/>
            <a:ext cx="6462567" cy="250507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WHAT THIS MEANS IN PRACTICE</a:t>
            </a:r>
            <a:endParaRPr lang="sk-SK" sz="1800" b="1" dirty="0">
              <a:solidFill>
                <a:srgbClr val="DB9E0A"/>
              </a:solidFill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sk-SK" sz="1800" b="1" dirty="0">
              <a:latin typeface="Gotham Black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latin typeface="Gotham Black"/>
              </a:rPr>
              <a:t>We </a:t>
            </a:r>
            <a:r>
              <a:rPr lang="en-US" sz="1600" b="1" dirty="0">
                <a:latin typeface="Gotham Black"/>
              </a:rPr>
              <a:t>lead with stories</a:t>
            </a:r>
            <a:r>
              <a:rPr lang="en-US" sz="1600" dirty="0">
                <a:latin typeface="Gotham Black"/>
              </a:rPr>
              <a:t>, not platforms</a:t>
            </a:r>
          </a:p>
          <a:p>
            <a:r>
              <a:rPr lang="en-US" sz="1600" dirty="0">
                <a:latin typeface="Gotham Black"/>
              </a:rPr>
              <a:t>We </a:t>
            </a:r>
            <a:r>
              <a:rPr lang="en-US" sz="1600" b="1" dirty="0">
                <a:latin typeface="Gotham Black"/>
              </a:rPr>
              <a:t>stay rooted in real life</a:t>
            </a:r>
            <a:r>
              <a:rPr lang="en-US" sz="1600" dirty="0">
                <a:latin typeface="Gotham Black"/>
              </a:rPr>
              <a:t>, not abstract entertainment</a:t>
            </a:r>
          </a:p>
          <a:p>
            <a:r>
              <a:rPr lang="en-US" sz="1600" dirty="0">
                <a:latin typeface="Gotham Black"/>
              </a:rPr>
              <a:t>We choose content that </a:t>
            </a:r>
            <a:r>
              <a:rPr lang="en-US" sz="1600" b="1" dirty="0">
                <a:latin typeface="Gotham Black"/>
              </a:rPr>
              <a:t>sparks conversation </a:t>
            </a:r>
            <a:r>
              <a:rPr lang="en-US" sz="1600" dirty="0">
                <a:latin typeface="Gotham Black"/>
              </a:rPr>
              <a:t>and relevance</a:t>
            </a:r>
          </a:p>
          <a:p>
            <a:r>
              <a:rPr lang="en-US" sz="1600" dirty="0">
                <a:latin typeface="Gotham Black"/>
              </a:rPr>
              <a:t>We build a service people return to — because </a:t>
            </a:r>
            <a:r>
              <a:rPr lang="en-US" sz="1600" b="1" dirty="0">
                <a:latin typeface="Gotham Black"/>
              </a:rPr>
              <a:t>it feels like home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>
              <a:latin typeface="Gotham Black"/>
            </a:endParaRPr>
          </a:p>
          <a:p>
            <a:endParaRPr lang="sk-SK" sz="16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DFBF730-2BA1-216F-BF52-ABEAD247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17</a:t>
            </a:fld>
            <a:endParaRPr lang="sk-SK"/>
          </a:p>
        </p:txBody>
      </p:sp>
      <p:sp>
        <p:nvSpPr>
          <p:cNvPr id="7" name="Zástupný objekt pre obsah 2">
            <a:extLst>
              <a:ext uri="{FF2B5EF4-FFF2-40B4-BE49-F238E27FC236}">
                <a16:creationId xmlns:a16="http://schemas.microsoft.com/office/drawing/2014/main" id="{1487EB6A-2F3F-B912-E0A9-DC0C261A58E1}"/>
              </a:ext>
            </a:extLst>
          </p:cNvPr>
          <p:cNvSpPr txBox="1">
            <a:spLocks/>
          </p:cNvSpPr>
          <p:nvPr/>
        </p:nvSpPr>
        <p:spPr>
          <a:xfrm>
            <a:off x="402199" y="4352924"/>
            <a:ext cx="5027052" cy="2235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DECISION FILTER</a:t>
            </a:r>
          </a:p>
          <a:p>
            <a:pPr marL="0" indent="0" algn="r">
              <a:buFont typeface="Arial" panose="020B0604020202020204" pitchFamily="34" charset="0"/>
              <a:buNone/>
            </a:pPr>
            <a:endParaRPr lang="en-US" sz="1600" dirty="0">
              <a:latin typeface="Gotham Black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1600" dirty="0">
                <a:latin typeface="Gotham Black"/>
              </a:rPr>
              <a:t>Before approving any initiative, ask:</a:t>
            </a:r>
          </a:p>
          <a:p>
            <a:pPr algn="r"/>
            <a:r>
              <a:rPr lang="en-US" sz="1600" b="1" dirty="0">
                <a:latin typeface="Gotham Black"/>
              </a:rPr>
              <a:t>Does this strengthen </a:t>
            </a:r>
            <a:r>
              <a:rPr lang="en-US" sz="1600" b="1" dirty="0" err="1">
                <a:latin typeface="Gotham Black"/>
              </a:rPr>
              <a:t>VOYO</a:t>
            </a:r>
            <a:r>
              <a:rPr lang="en-US" sz="1600" b="1" dirty="0">
                <a:latin typeface="Gotham Black"/>
              </a:rPr>
              <a:t> as the home of the stories that matter in your world?</a:t>
            </a:r>
            <a:endParaRPr lang="en-US" sz="1600" dirty="0">
              <a:latin typeface="Gotham Black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1600" dirty="0">
                <a:latin typeface="Gotham Black"/>
              </a:rPr>
              <a:t>If not, rethink it</a:t>
            </a:r>
          </a:p>
          <a:p>
            <a:pPr algn="r"/>
            <a:endParaRPr lang="sk-SK" sz="1600" dirty="0">
              <a:latin typeface="Gotham Black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52E36E-11CA-F814-38CB-C744F6BF01CA}"/>
              </a:ext>
            </a:extLst>
          </p:cNvPr>
          <p:cNvGrpSpPr/>
          <p:nvPr/>
        </p:nvGrpSpPr>
        <p:grpSpPr>
          <a:xfrm>
            <a:off x="1875013" y="2382409"/>
            <a:ext cx="2036587" cy="1165124"/>
            <a:chOff x="1306309" y="2415049"/>
            <a:chExt cx="2416943" cy="143595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FEA6DF9-C802-E925-3079-9FE642D51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4011" y="2415049"/>
              <a:ext cx="1370676" cy="137067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D984475-6E4E-0568-E6BA-35668530F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94992">
              <a:off x="1306309" y="2833879"/>
              <a:ext cx="1017129" cy="101712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5BDBD7E-F290-BBF8-13EE-37CCCA124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0000">
              <a:off x="2706123" y="2833878"/>
              <a:ext cx="1017129" cy="1017129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787BC64B-3B75-EC9E-5AE9-651B25A1B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303" y="4614332"/>
            <a:ext cx="1742017" cy="174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64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ACC36-1A5F-297C-AA18-94033353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2AE5A517-C227-7DE7-38B3-005B09206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2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2CBFB70D-C925-A270-1C54-EF0A43C15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>
            <a:normAutofit fontScale="92500" lnSpcReduction="20000"/>
          </a:bodyPr>
          <a:lstStyle/>
          <a:p>
            <a:endParaRPr lang="en-US" sz="6100" b="1" dirty="0">
              <a:latin typeface="Gotham Black"/>
            </a:endParaRPr>
          </a:p>
          <a:p>
            <a:r>
              <a:rPr lang="sk-SK" sz="6100" b="1" dirty="0">
                <a:latin typeface="Gotham Black"/>
              </a:rPr>
              <a:t>LOCAL RELEVANCE </a:t>
            </a:r>
            <a:r>
              <a:rPr lang="sk-SK" sz="6100" dirty="0">
                <a:latin typeface="Gotham Black"/>
              </a:rPr>
              <a:t>IN PRACTICE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B592EB3D-1B2E-EA9A-0FBE-CFB93043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18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06853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67364E-F816-2984-B12A-AF919510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704192"/>
            <a:ext cx="9901382" cy="563829"/>
          </a:xfrm>
        </p:spPr>
        <p:txBody>
          <a:bodyPr>
            <a:noAutofit/>
          </a:bodyPr>
          <a:lstStyle/>
          <a:p>
            <a:r>
              <a:rPr lang="en-US" dirty="0">
                <a:latin typeface="Gotham Black"/>
              </a:rPr>
              <a:t>How to apply </a:t>
            </a:r>
            <a:r>
              <a:rPr lang="en-US" b="1" dirty="0">
                <a:latin typeface="Gotham Black"/>
              </a:rPr>
              <a:t>VOYO positioning </a:t>
            </a:r>
            <a:r>
              <a:rPr lang="en-US" dirty="0">
                <a:latin typeface="Gotham Black"/>
              </a:rPr>
              <a:t>across markets</a:t>
            </a:r>
            <a:endParaRPr lang="sk-SK" dirty="0">
              <a:latin typeface="Gotham Black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886FB4D8-7AE5-8F26-16F0-EC6F95472592}"/>
              </a:ext>
            </a:extLst>
          </p:cNvPr>
          <p:cNvSpPr txBox="1"/>
          <p:nvPr/>
        </p:nvSpPr>
        <p:spPr>
          <a:xfrm>
            <a:off x="5634182" y="2787879"/>
            <a:ext cx="5720892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This chapter helps teams bring </a:t>
            </a:r>
            <a:r>
              <a:rPr lang="en-US" dirty="0" err="1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VOYO’s</a:t>
            </a:r>
            <a:r>
              <a:rPr lang="en-US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local strength to life without losing scale or excitement.</a:t>
            </a:r>
            <a:endParaRPr lang="sk-SK" dirty="0">
              <a:solidFill>
                <a:schemeClr val="bg1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It shows how </a:t>
            </a:r>
            <a:r>
              <a:rPr lang="en-US" dirty="0" err="1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</a:t>
            </a:r>
            <a:r>
              <a:rPr lang="en-US" dirty="0">
                <a:solidFill>
                  <a:schemeClr val="bg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can feel culturally close, while still delivering bold, premium entertainment - from series and reality to sport and blockbusters.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FF256EF9-C098-72EA-D392-E33D925668BE}"/>
              </a:ext>
            </a:extLst>
          </p:cNvPr>
          <p:cNvSpPr txBox="1"/>
          <p:nvPr/>
        </p:nvSpPr>
        <p:spPr>
          <a:xfrm>
            <a:off x="5634182" y="22679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WHAT THIS CHAPTER IS FOR</a:t>
            </a:r>
            <a:endParaRPr lang="sk-SK" sz="1800" b="1" dirty="0">
              <a:solidFill>
                <a:srgbClr val="DB9E0A"/>
              </a:solidFill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0" name="Obrázok 19">
            <a:extLst>
              <a:ext uri="{FF2B5EF4-FFF2-40B4-BE49-F238E27FC236}">
                <a16:creationId xmlns:a16="http://schemas.microsoft.com/office/drawing/2014/main" id="{0E5AEBE2-9AE3-48AC-4F91-4E616C341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593" y="2787879"/>
            <a:ext cx="3593455" cy="2398191"/>
          </a:xfrm>
          <a:prstGeom prst="rect">
            <a:avLst/>
          </a:prstGeom>
        </p:spPr>
      </p:pic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154381DD-DE3C-949B-6A60-B50D44CE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19</a:t>
            </a:fld>
            <a:endParaRPr lang="sk-SK"/>
          </a:p>
        </p:txBody>
      </p:sp>
      <p:cxnSp>
        <p:nvCxnSpPr>
          <p:cNvPr id="6" name="Rovná spojnica 4">
            <a:extLst>
              <a:ext uri="{FF2B5EF4-FFF2-40B4-BE49-F238E27FC236}">
                <a16:creationId xmlns:a16="http://schemas.microsoft.com/office/drawing/2014/main" id="{BF7A08C6-8F5F-FC4B-852A-7C198752BEF9}"/>
              </a:ext>
            </a:extLst>
          </p:cNvPr>
          <p:cNvCxnSpPr>
            <a:cxnSpLocks/>
          </p:cNvCxnSpPr>
          <p:nvPr/>
        </p:nvCxnSpPr>
        <p:spPr>
          <a:xfrm>
            <a:off x="4941673" y="3353980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288084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5774-51BB-75FF-80A3-2F805B1F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C21B32-C0F2-2680-649F-2A5668F1D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797"/>
            <a:ext cx="9901382" cy="65616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Gotham Black"/>
              </a:rPr>
              <a:t>When </a:t>
            </a:r>
            <a:r>
              <a:rPr lang="en-US" sz="4000" dirty="0" err="1">
                <a:latin typeface="Gotham Black"/>
              </a:rPr>
              <a:t>VOYO</a:t>
            </a:r>
            <a:r>
              <a:rPr lang="en-US" sz="4000" dirty="0">
                <a:latin typeface="Gotham Black"/>
              </a:rPr>
              <a:t> feels like </a:t>
            </a:r>
            <a:r>
              <a:rPr lang="en-US" sz="4000" b="1" dirty="0">
                <a:latin typeface="Gotham Black"/>
              </a:rPr>
              <a:t>“our service”</a:t>
            </a:r>
            <a:endParaRPr lang="sk-SK" sz="4000" b="1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81902CF-FF86-954C-8818-934730717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491903"/>
            <a:ext cx="11179576" cy="3241676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spcBef>
                <a:spcPts val="600"/>
              </a:spcBef>
              <a:buNone/>
            </a:pP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 feels local when people talk about it as “our service” – not just a place where something is available.</a:t>
            </a:r>
            <a:endParaRPr lang="sk-SK" sz="1800" dirty="0"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lnSpc>
                <a:spcPct val="170000"/>
              </a:lnSpc>
              <a:spcBef>
                <a:spcPts val="600"/>
              </a:spcBef>
              <a:buNone/>
            </a:pPr>
            <a:endParaRPr lang="sk-SK" sz="1800" dirty="0"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WHAT MAKES THIS TRUE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800" dirty="0">
                <a:latin typeface="Gotham Black"/>
              </a:rPr>
              <a:t>Local relevance is not just content</a:t>
            </a:r>
            <a:endParaRPr lang="sk-SK" sz="1800" dirty="0">
              <a:latin typeface="Gotham Black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800" dirty="0">
                <a:latin typeface="Gotham Black"/>
              </a:rPr>
              <a:t>It’s how VOYO behaves across the whole experience</a:t>
            </a:r>
            <a:endParaRPr lang="sk-SK" sz="1800" dirty="0">
              <a:latin typeface="Gotham Black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en-US" sz="1800" dirty="0">
              <a:latin typeface="Gotham Black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latin typeface="Gotham Black"/>
              </a:rPr>
              <a:t>Local</a:t>
            </a:r>
            <a:r>
              <a:rPr lang="en-US" sz="1800" dirty="0">
                <a:latin typeface="Gotham Black"/>
              </a:rPr>
              <a:t> = </a:t>
            </a:r>
            <a:r>
              <a:rPr lang="en-US" sz="1800" b="1" dirty="0">
                <a:latin typeface="Gotham Black"/>
              </a:rPr>
              <a:t>Content</a:t>
            </a:r>
            <a:r>
              <a:rPr lang="en-US" sz="1800" dirty="0">
                <a:latin typeface="Gotham Black"/>
              </a:rPr>
              <a:t> + </a:t>
            </a:r>
            <a:r>
              <a:rPr lang="en-US" sz="1800" b="1" dirty="0">
                <a:latin typeface="Gotham Black"/>
              </a:rPr>
              <a:t>Tone</a:t>
            </a:r>
            <a:r>
              <a:rPr lang="en-US" sz="1800" dirty="0">
                <a:latin typeface="Gotham Black"/>
              </a:rPr>
              <a:t> + </a:t>
            </a:r>
            <a:r>
              <a:rPr lang="en-US" sz="1800" b="1" dirty="0">
                <a:latin typeface="Gotham Black"/>
              </a:rPr>
              <a:t>UX</a:t>
            </a:r>
            <a:r>
              <a:rPr lang="en-US" sz="1800" dirty="0">
                <a:latin typeface="Gotham Black"/>
              </a:rPr>
              <a:t> + </a:t>
            </a:r>
            <a:r>
              <a:rPr lang="en-US" sz="1800" b="1" dirty="0">
                <a:latin typeface="Gotham Black"/>
              </a:rPr>
              <a:t>Care</a:t>
            </a:r>
            <a:r>
              <a:rPr lang="en-US" sz="1800" dirty="0">
                <a:latin typeface="Gotham Black"/>
              </a:rPr>
              <a:t> + </a:t>
            </a:r>
            <a:r>
              <a:rPr lang="en-US" sz="1800" b="1" dirty="0">
                <a:latin typeface="Gotham Black"/>
              </a:rPr>
              <a:t>Fairness</a:t>
            </a:r>
            <a:endParaRPr lang="sk-SK" sz="1800" b="1" dirty="0">
              <a:latin typeface="Gotham Black"/>
            </a:endParaRPr>
          </a:p>
          <a:p>
            <a:pPr>
              <a:spcBef>
                <a:spcPts val="600"/>
              </a:spcBef>
            </a:pPr>
            <a:endParaRPr lang="sk-SK" sz="1800" b="1" dirty="0">
              <a:latin typeface="Gotham Black"/>
            </a:endParaRPr>
          </a:p>
          <a:p>
            <a:pPr>
              <a:spcBef>
                <a:spcPts val="600"/>
              </a:spcBef>
              <a:buNone/>
            </a:pPr>
            <a:r>
              <a:rPr lang="en-US" sz="1800" dirty="0">
                <a:latin typeface="Gotham Black"/>
              </a:rPr>
              <a:t>How to apply this (per market)</a:t>
            </a:r>
          </a:p>
          <a:p>
            <a:pPr>
              <a:spcBef>
                <a:spcPts val="600"/>
              </a:spcBef>
              <a:buNone/>
            </a:pPr>
            <a:r>
              <a:rPr lang="en-US" sz="1800" dirty="0">
                <a:latin typeface="Gotham Black"/>
              </a:rPr>
              <a:t>Define local relevance in one sentence:</a:t>
            </a:r>
          </a:p>
          <a:p>
            <a:endParaRPr lang="en-US" sz="1800" dirty="0">
              <a:latin typeface="Gotham Black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Gotham Black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8BCB425C-7FDA-ACAF-8E93-799F5D490152}"/>
              </a:ext>
            </a:extLst>
          </p:cNvPr>
          <p:cNvSpPr txBox="1"/>
          <p:nvPr/>
        </p:nvSpPr>
        <p:spPr>
          <a:xfrm>
            <a:off x="837334" y="5668401"/>
            <a:ext cx="10664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solidFill>
                  <a:srgbClr val="FFFBB1"/>
                </a:solidFill>
                <a:latin typeface="Gotham Black"/>
              </a:rPr>
              <a:t>In [MARKET], VOYO feels most like </a:t>
            </a:r>
            <a:r>
              <a:rPr lang="en-US" b="1" i="1" dirty="0">
                <a:solidFill>
                  <a:srgbClr val="FFFBB1"/>
                </a:solidFill>
                <a:latin typeface="Gotham Black"/>
              </a:rPr>
              <a:t>“our service”</a:t>
            </a:r>
            <a:r>
              <a:rPr lang="en-US" i="1" dirty="0">
                <a:solidFill>
                  <a:srgbClr val="FFFBB1"/>
                </a:solidFill>
                <a:latin typeface="Gotham Black"/>
              </a:rPr>
              <a:t> through</a:t>
            </a:r>
            <a:r>
              <a:rPr lang="sk-SK" i="1" dirty="0">
                <a:solidFill>
                  <a:srgbClr val="FFFBB1"/>
                </a:solidFill>
                <a:latin typeface="Gotham Black"/>
              </a:rPr>
              <a:t> </a:t>
            </a:r>
            <a:r>
              <a:rPr lang="en-US" i="1" dirty="0">
                <a:solidFill>
                  <a:srgbClr val="FFFBB1"/>
                </a:solidFill>
                <a:latin typeface="Gotham Black"/>
              </a:rPr>
              <a:t>[key cultural truth] + [shared viewing moment].</a:t>
            </a:r>
            <a:endParaRPr lang="en-US" dirty="0">
              <a:solidFill>
                <a:srgbClr val="FFFBB1"/>
              </a:solidFill>
              <a:latin typeface="Gotham Black"/>
            </a:endParaRPr>
          </a:p>
        </p:txBody>
      </p:sp>
      <p:cxnSp>
        <p:nvCxnSpPr>
          <p:cNvPr id="13" name="Rovná spojnica 12">
            <a:extLst>
              <a:ext uri="{FF2B5EF4-FFF2-40B4-BE49-F238E27FC236}">
                <a16:creationId xmlns:a16="http://schemas.microsoft.com/office/drawing/2014/main" id="{780333BB-A223-1507-0391-D713C61293D1}"/>
              </a:ext>
            </a:extLst>
          </p:cNvPr>
          <p:cNvCxnSpPr/>
          <p:nvPr/>
        </p:nvCxnSpPr>
        <p:spPr>
          <a:xfrm>
            <a:off x="576118" y="5485435"/>
            <a:ext cx="0" cy="7352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596AA5A-2F1C-D048-DA9B-48F5DFF2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20</a:t>
            </a:fld>
            <a:endParaRPr lang="sk-S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F756DA-1556-0357-DD8A-16C69FEFB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949" y="3197464"/>
            <a:ext cx="1444301" cy="153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70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512CD-78C6-3DF2-778E-B7492460A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D9C0B8-9209-EE63-223F-B140540CF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1931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ea typeface="Gotham Light"/>
              </a:rPr>
              <a:t>Local Implementation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CD59A1F-0116-0209-E300-559E82639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4"/>
            <a:ext cx="11277600" cy="48266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Gotham Black"/>
                <a:ea typeface="Gotham Light"/>
              </a:rPr>
              <a:t>Mandatory Local Market Addendum</a:t>
            </a:r>
          </a:p>
          <a:p>
            <a:pPr marL="0" indent="0">
              <a:buNone/>
            </a:pPr>
            <a:r>
              <a:rPr lang="en-US" sz="2400" i="1" dirty="0">
                <a:latin typeface="Gotham Black"/>
                <a:ea typeface="Gotham Light"/>
              </a:rPr>
              <a:t>(1–2 pages per market)</a:t>
            </a:r>
            <a:endParaRPr lang="en-US" sz="2400" dirty="0">
              <a:latin typeface="Gotham Black"/>
              <a:ea typeface="Gotham Light"/>
            </a:endParaRPr>
          </a:p>
          <a:p>
            <a:pPr marL="0" indent="0">
              <a:buNone/>
            </a:pPr>
            <a:endParaRPr lang="sk-SK" sz="2400" dirty="0">
              <a:latin typeface="Montserrat" panose="00000500000000000000" pitchFamily="2" charset="0"/>
              <a:ea typeface="Gotham Light"/>
            </a:endParaRPr>
          </a:p>
          <a:p>
            <a:pPr marL="0" indent="0">
              <a:buNone/>
            </a:pPr>
            <a:r>
              <a:rPr lang="en-US" sz="2400" dirty="0">
                <a:latin typeface="Gotham Black"/>
                <a:ea typeface="Gotham Light"/>
              </a:rPr>
              <a:t>Each market must deliver a short addendum that defines </a:t>
            </a:r>
            <a:r>
              <a:rPr lang="en-US" sz="2400" b="1" dirty="0">
                <a:latin typeface="Gotham Black"/>
                <a:ea typeface="Gotham Light"/>
              </a:rPr>
              <a:t>what “local relevance” means in practice</a:t>
            </a:r>
            <a:r>
              <a:rPr lang="en-US" sz="2400" dirty="0">
                <a:latin typeface="Gotham Black"/>
                <a:ea typeface="Gotham Light"/>
              </a:rPr>
              <a:t> for VOYO in that market.</a:t>
            </a:r>
          </a:p>
          <a:p>
            <a:pPr marL="0" indent="0">
              <a:buNone/>
            </a:pPr>
            <a:r>
              <a:rPr lang="en-US" sz="2400" dirty="0">
                <a:latin typeface="Gotham Black"/>
                <a:ea typeface="Gotham Light"/>
              </a:rPr>
              <a:t>This addendum is inserted into the umbrella Brand Bible.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51A543C-55AD-70C2-F29A-A6E90928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21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89885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CD0F0B7A-3B01-205A-FE5E-B54E6A43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otham Black"/>
              </a:rPr>
              <a:t>What each market must deliver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5464BD9-24C4-AB5A-0699-1F8902B06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sk-SK" sz="1600" b="1" dirty="0">
                <a:latin typeface="Gotham Black"/>
              </a:rPr>
              <a:t>1. </a:t>
            </a:r>
            <a:r>
              <a:rPr lang="en-US" sz="1600" b="1" dirty="0">
                <a:latin typeface="Gotham Black"/>
              </a:rPr>
              <a:t>Local relevance definition</a:t>
            </a:r>
            <a:r>
              <a:rPr lang="en-US" sz="1600" dirty="0">
                <a:latin typeface="Gotham Black"/>
              </a:rPr>
              <a:t> </a:t>
            </a:r>
            <a:r>
              <a:rPr lang="en-US" sz="1600" i="1" dirty="0">
                <a:latin typeface="Gotham Black"/>
              </a:rPr>
              <a:t>(1 paragraph)</a:t>
            </a:r>
            <a:endParaRPr lang="sk-SK" sz="1600" i="1" dirty="0">
              <a:latin typeface="Gotham Black"/>
            </a:endParaRPr>
          </a:p>
          <a:p>
            <a:pPr marL="0" indent="0">
              <a:buNone/>
            </a:pPr>
            <a:r>
              <a:rPr lang="en-US" sz="1600" dirty="0">
                <a:latin typeface="Gotham Black"/>
              </a:rPr>
              <a:t>Explain </a:t>
            </a:r>
            <a:r>
              <a:rPr lang="en-US" sz="1600" b="1" dirty="0">
                <a:latin typeface="Gotham Black"/>
              </a:rPr>
              <a:t>what makes </a:t>
            </a:r>
            <a:r>
              <a:rPr lang="en-US" sz="1600" b="1" dirty="0" err="1">
                <a:latin typeface="Gotham Black"/>
              </a:rPr>
              <a:t>VOYO</a:t>
            </a:r>
            <a:r>
              <a:rPr lang="en-US" sz="1600" b="1" dirty="0">
                <a:latin typeface="Gotham Black"/>
              </a:rPr>
              <a:t> feel like “our service”</a:t>
            </a:r>
            <a:r>
              <a:rPr lang="en-US" sz="1600" dirty="0">
                <a:latin typeface="Gotham Black"/>
              </a:rPr>
              <a:t> in this market.</a:t>
            </a: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Built on local culture, habits, and shared viewing moments.</a:t>
            </a:r>
            <a:endParaRPr lang="sk-SK" sz="1600" dirty="0">
              <a:latin typeface="Gotham Black"/>
            </a:endParaRPr>
          </a:p>
          <a:p>
            <a:pPr marL="514350" indent="-514350">
              <a:buAutoNum type="arabicPeriod"/>
            </a:pPr>
            <a:endParaRPr lang="en-US" sz="1600" dirty="0">
              <a:latin typeface="Gotham Black"/>
            </a:endParaRPr>
          </a:p>
          <a:p>
            <a:pPr marL="0" indent="0">
              <a:buNone/>
            </a:pPr>
            <a:r>
              <a:rPr lang="en-US" sz="1600" b="1" dirty="0">
                <a:latin typeface="Gotham Black"/>
              </a:rPr>
              <a:t>2. Local expression in [MARKET]</a:t>
            </a:r>
            <a:endParaRPr lang="sk-SK" sz="1600" b="1" dirty="0">
              <a:latin typeface="Gotham Black"/>
            </a:endParaRPr>
          </a:p>
          <a:p>
            <a:pPr marL="0" indent="0">
              <a:buNone/>
            </a:pPr>
            <a:r>
              <a:rPr lang="en-US" sz="1600" dirty="0">
                <a:latin typeface="Gotham Black"/>
              </a:rPr>
              <a:t>How local relevance shows up in:</a:t>
            </a:r>
          </a:p>
          <a:p>
            <a:r>
              <a:rPr lang="en-US" sz="1600" dirty="0">
                <a:latin typeface="Gotham Black"/>
              </a:rPr>
              <a:t>content</a:t>
            </a:r>
          </a:p>
          <a:p>
            <a:r>
              <a:rPr lang="en-US" sz="1600" dirty="0">
                <a:latin typeface="Gotham Black"/>
              </a:rPr>
              <a:t>tone &amp; language</a:t>
            </a:r>
          </a:p>
          <a:p>
            <a:r>
              <a:rPr lang="en-US" sz="1600" dirty="0">
                <a:latin typeface="Gotham Black"/>
              </a:rPr>
              <a:t>viewing </a:t>
            </a:r>
            <a:r>
              <a:rPr lang="en-US" sz="1600" dirty="0" err="1">
                <a:latin typeface="Gotham Black"/>
              </a:rPr>
              <a:t>behaviour</a:t>
            </a:r>
            <a:endParaRPr lang="sk-SK" sz="1600" b="1" dirty="0">
              <a:latin typeface="Gotham Black"/>
            </a:endParaRPr>
          </a:p>
          <a:p>
            <a:pPr marL="0" indent="0">
              <a:buNone/>
            </a:pPr>
            <a:endParaRPr lang="sk-SK" sz="1600" b="1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F2E36569-C1FB-1C46-A98C-D51BCE72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>
                <a:latin typeface="Gotham Black"/>
              </a:rPr>
              <a:t>22</a:t>
            </a:fld>
            <a:endParaRPr lang="sk-SK">
              <a:latin typeface="Gotham Black"/>
            </a:endParaRP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A70B1A1F-115B-2E69-A671-16AFCDAF0E3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707188" y="1825625"/>
            <a:ext cx="5484812" cy="3708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latin typeface="Gotham Black"/>
              </a:rPr>
              <a:t>3. Brand promise (</a:t>
            </a:r>
            <a:r>
              <a:rPr lang="en-US" sz="1600" b="1" dirty="0" err="1">
                <a:latin typeface="Gotham Black"/>
              </a:rPr>
              <a:t>localised</a:t>
            </a:r>
            <a:r>
              <a:rPr lang="en-US" sz="1600" b="1" dirty="0">
                <a:latin typeface="Gotham Black"/>
              </a:rPr>
              <a:t>)</a:t>
            </a:r>
            <a:r>
              <a:rPr lang="en-US" sz="1600" dirty="0">
                <a:latin typeface="Gotham Black"/>
              </a:rPr>
              <a:t> </a:t>
            </a:r>
            <a:r>
              <a:rPr lang="en-US" sz="1600" i="1" dirty="0">
                <a:latin typeface="Gotham Black"/>
              </a:rPr>
              <a:t>(1 sentence)</a:t>
            </a: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A clear, local version of the master positioning statement.</a:t>
            </a:r>
          </a:p>
          <a:p>
            <a:pPr marL="0" indent="0">
              <a:buNone/>
            </a:pPr>
            <a:endParaRPr lang="sk-SK" sz="1600" b="1" dirty="0">
              <a:latin typeface="Gotham Black"/>
            </a:endParaRPr>
          </a:p>
          <a:p>
            <a:pPr marL="0" indent="0">
              <a:buNone/>
            </a:pPr>
            <a:r>
              <a:rPr lang="en-US" sz="1600" b="1" dirty="0">
                <a:latin typeface="Gotham Black"/>
              </a:rPr>
              <a:t>4. Proof points</a:t>
            </a:r>
            <a:r>
              <a:rPr lang="en-US" sz="1600" dirty="0">
                <a:latin typeface="Gotham Black"/>
              </a:rPr>
              <a:t> </a:t>
            </a:r>
            <a:r>
              <a:rPr lang="en-US" sz="1600" i="1" dirty="0">
                <a:latin typeface="Gotham Black"/>
              </a:rPr>
              <a:t>(min. 6)</a:t>
            </a:r>
            <a:endParaRPr lang="en-US" sz="1600" dirty="0">
              <a:latin typeface="Gotham Black"/>
            </a:endParaRPr>
          </a:p>
          <a:p>
            <a:r>
              <a:rPr lang="en-US" sz="1600" dirty="0">
                <a:latin typeface="Gotham Black"/>
              </a:rPr>
              <a:t>2x content</a:t>
            </a:r>
          </a:p>
          <a:p>
            <a:r>
              <a:rPr lang="en-US" sz="1600" dirty="0">
                <a:latin typeface="Gotham Black"/>
              </a:rPr>
              <a:t>2x product / </a:t>
            </a:r>
            <a:r>
              <a:rPr lang="en-US" sz="1600" dirty="0" err="1">
                <a:latin typeface="Gotham Black"/>
              </a:rPr>
              <a:t>UX</a:t>
            </a:r>
            <a:endParaRPr lang="en-US" sz="1600" dirty="0">
              <a:latin typeface="Gotham Black"/>
            </a:endParaRPr>
          </a:p>
          <a:p>
            <a:r>
              <a:rPr lang="en-US" sz="1600" dirty="0">
                <a:latin typeface="Gotham Black"/>
              </a:rPr>
              <a:t>1x value</a:t>
            </a:r>
          </a:p>
          <a:p>
            <a:r>
              <a:rPr lang="en-US" sz="1600" dirty="0">
                <a:latin typeface="Gotham Black"/>
              </a:rPr>
              <a:t>1x care / CRM</a:t>
            </a:r>
            <a:endParaRPr lang="sk-SK" sz="1600" dirty="0">
              <a:latin typeface="Gotham Black"/>
            </a:endParaRPr>
          </a:p>
          <a:p>
            <a:endParaRPr lang="en-US" sz="1600" dirty="0">
              <a:latin typeface="Gotham Black"/>
            </a:endParaRPr>
          </a:p>
          <a:p>
            <a:pPr marL="0" indent="0">
              <a:buNone/>
            </a:pPr>
            <a:r>
              <a:rPr lang="en-US" sz="1600" b="1" dirty="0">
                <a:latin typeface="Gotham Black"/>
              </a:rPr>
              <a:t>5. Do / Don’t</a:t>
            </a:r>
            <a:r>
              <a:rPr lang="en-US" sz="1600" dirty="0">
                <a:latin typeface="Gotham Black"/>
              </a:rPr>
              <a:t> </a:t>
            </a:r>
            <a:r>
              <a:rPr lang="en-US" sz="1600" i="1" dirty="0">
                <a:latin typeface="Gotham Black"/>
              </a:rPr>
              <a:t>(min. 5 + 5)</a:t>
            </a: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Clear execution rules that protect local relevance.</a:t>
            </a:r>
            <a:br>
              <a:rPr lang="en-US" sz="1600" dirty="0">
                <a:latin typeface="Gotham Black"/>
              </a:rPr>
            </a:br>
            <a:endParaRPr lang="en-US" sz="1600" dirty="0">
              <a:latin typeface="Gotham Black"/>
            </a:endParaRPr>
          </a:p>
          <a:p>
            <a:endParaRPr lang="sk-SK" sz="1600" dirty="0">
              <a:latin typeface="Gotham Black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E9239362-305D-F74B-F1C8-E486F6108E15}"/>
              </a:ext>
            </a:extLst>
          </p:cNvPr>
          <p:cNvSpPr txBox="1"/>
          <p:nvPr/>
        </p:nvSpPr>
        <p:spPr>
          <a:xfrm>
            <a:off x="1253067" y="5799887"/>
            <a:ext cx="9685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BB1"/>
                </a:solidFill>
                <a:latin typeface="Gotham Black"/>
              </a:rPr>
              <a:t>KEY RULE</a:t>
            </a:r>
          </a:p>
          <a:p>
            <a:pPr algn="ctr"/>
            <a:r>
              <a:rPr lang="en-US" dirty="0">
                <a:solidFill>
                  <a:srgbClr val="FFFBB1"/>
                </a:solidFill>
                <a:latin typeface="Gotham Black"/>
              </a:rPr>
              <a:t>If these elements are missing, </a:t>
            </a:r>
            <a:r>
              <a:rPr lang="en-US" b="1" dirty="0">
                <a:solidFill>
                  <a:srgbClr val="FFFBB1"/>
                </a:solidFill>
                <a:latin typeface="Gotham Black"/>
              </a:rPr>
              <a:t>VOYO stops feeling local in this market</a:t>
            </a:r>
            <a:r>
              <a:rPr lang="en-US" dirty="0">
                <a:solidFill>
                  <a:srgbClr val="FFFBB1"/>
                </a:solidFill>
                <a:latin typeface="Gotham Black"/>
              </a:rPr>
              <a:t>.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9719692B-7037-3FDF-3AA6-9B98B80E5371}"/>
              </a:ext>
            </a:extLst>
          </p:cNvPr>
          <p:cNvSpPr txBox="1"/>
          <p:nvPr/>
        </p:nvSpPr>
        <p:spPr>
          <a:xfrm rot="877190">
            <a:off x="7286988" y="444740"/>
            <a:ext cx="2743200" cy="715089"/>
          </a:xfrm>
          <a:prstGeom prst="roundRect">
            <a:avLst/>
          </a:prstGeom>
          <a:noFill/>
          <a:ln w="60325" cmpd="tri">
            <a:gradFill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5400000" scaled="1"/>
            </a:gradFill>
          </a:ln>
        </p:spPr>
        <p:txBody>
          <a:bodyPr wrap="square" rtlCol="0">
            <a:spAutoFit/>
          </a:bodyPr>
          <a:lstStyle/>
          <a:p>
            <a:pPr algn="ctr"/>
            <a:r>
              <a:rPr lang="sk-SK" dirty="0">
                <a:solidFill>
                  <a:srgbClr val="DB9E0A"/>
                </a:solidFill>
                <a:latin typeface="Gotham Black"/>
              </a:rPr>
              <a:t>TEMPLATE SLIDE FOR EACH MARKET</a:t>
            </a:r>
          </a:p>
        </p:txBody>
      </p:sp>
    </p:spTree>
    <p:extLst>
      <p:ext uri="{BB962C8B-B14F-4D97-AF65-F5344CB8AC3E}">
        <p14:creationId xmlns:p14="http://schemas.microsoft.com/office/powerpoint/2010/main" val="2635467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715314-F9C8-0639-24F4-ED217878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8384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Local relevance — [MARKET]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A78FF13-19CE-F6D5-F88F-B1C08D476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4"/>
            <a:ext cx="11277600" cy="482663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otham Black"/>
              </a:rPr>
              <a:t>What makes </a:t>
            </a:r>
            <a:r>
              <a:rPr lang="en-US" b="1" dirty="0" err="1">
                <a:latin typeface="Gotham Black"/>
              </a:rPr>
              <a:t>VOYO</a:t>
            </a:r>
            <a:r>
              <a:rPr lang="en-US" b="1" dirty="0">
                <a:latin typeface="Gotham Black"/>
              </a:rPr>
              <a:t> feel like “our service” here</a:t>
            </a:r>
          </a:p>
          <a:p>
            <a:pPr marL="0" indent="0">
              <a:buNone/>
            </a:pPr>
            <a:r>
              <a:rPr lang="en-US" sz="1800" b="1" dirty="0">
                <a:latin typeface="Gotham Black"/>
              </a:rPr>
              <a:t>One-sentence local definition</a:t>
            </a:r>
            <a:endParaRPr lang="en-US" sz="1800" dirty="0">
              <a:latin typeface="Gotham Black"/>
            </a:endParaRPr>
          </a:p>
          <a:p>
            <a:pPr marL="0" indent="0">
              <a:buNone/>
            </a:pPr>
            <a:r>
              <a:rPr lang="en-US" sz="2900" dirty="0">
                <a:solidFill>
                  <a:srgbClr val="FFFBB1"/>
                </a:solidFill>
                <a:latin typeface="Gotham Black"/>
              </a:rPr>
              <a:t>In </a:t>
            </a:r>
            <a:r>
              <a:rPr lang="en-US" sz="2900" b="1" dirty="0">
                <a:solidFill>
                  <a:srgbClr val="FFFBB1"/>
                </a:solidFill>
                <a:latin typeface="Gotham Black"/>
              </a:rPr>
              <a:t>[MARKET]</a:t>
            </a:r>
            <a:r>
              <a:rPr lang="en-US" sz="2900" dirty="0">
                <a:solidFill>
                  <a:srgbClr val="FFFBB1"/>
                </a:solidFill>
                <a:latin typeface="Gotham Black"/>
              </a:rPr>
              <a:t>, </a:t>
            </a:r>
            <a:r>
              <a:rPr lang="en-US" sz="2900" dirty="0" err="1">
                <a:solidFill>
                  <a:srgbClr val="FFFBB1"/>
                </a:solidFill>
                <a:latin typeface="Gotham Black"/>
              </a:rPr>
              <a:t>VOYO</a:t>
            </a:r>
            <a:r>
              <a:rPr lang="en-US" sz="2900" dirty="0">
                <a:solidFill>
                  <a:srgbClr val="FFFBB1"/>
                </a:solidFill>
                <a:latin typeface="Gotham Black"/>
              </a:rPr>
              <a:t> feels like </a:t>
            </a:r>
            <a:r>
              <a:rPr lang="en-US" sz="2900" i="1" dirty="0">
                <a:solidFill>
                  <a:srgbClr val="FFFBB1"/>
                </a:solidFill>
                <a:latin typeface="Gotham Black"/>
              </a:rPr>
              <a:t>our service</a:t>
            </a:r>
            <a:r>
              <a:rPr lang="en-US" sz="2900" dirty="0">
                <a:solidFill>
                  <a:srgbClr val="FFFBB1"/>
                </a:solidFill>
                <a:latin typeface="Gotham Black"/>
              </a:rPr>
              <a:t> because </a:t>
            </a:r>
            <a:r>
              <a:rPr lang="en-US" sz="2900" b="1" dirty="0">
                <a:solidFill>
                  <a:srgbClr val="FFFBB1"/>
                </a:solidFill>
                <a:latin typeface="Gotham Black"/>
              </a:rPr>
              <a:t>[key cultural truth]</a:t>
            </a:r>
            <a:r>
              <a:rPr lang="en-US" sz="2900" dirty="0">
                <a:solidFill>
                  <a:srgbClr val="FFFBB1"/>
                </a:solidFill>
                <a:latin typeface="Gotham Black"/>
              </a:rPr>
              <a:t>, expressed through </a:t>
            </a:r>
            <a:r>
              <a:rPr lang="en-US" sz="2900" b="1" dirty="0">
                <a:solidFill>
                  <a:srgbClr val="FFFBB1"/>
                </a:solidFill>
                <a:latin typeface="Gotham Black"/>
              </a:rPr>
              <a:t>[shared viewing moment]</a:t>
            </a:r>
            <a:r>
              <a:rPr lang="en-US" sz="2900" dirty="0">
                <a:solidFill>
                  <a:srgbClr val="FFFBB1"/>
                </a:solidFill>
                <a:latin typeface="Gotham Black"/>
              </a:rPr>
              <a:t>.</a:t>
            </a:r>
            <a:endParaRPr lang="sk-SK" sz="2900" dirty="0">
              <a:solidFill>
                <a:srgbClr val="FFFBB1"/>
              </a:solidFill>
              <a:latin typeface="Gotham Black"/>
            </a:endParaRPr>
          </a:p>
          <a:p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DB9E0A"/>
                </a:solidFill>
                <a:latin typeface="Gotham Black"/>
              </a:rPr>
              <a:t>LOCAL RELEVANCE SHOWS UP IN:</a:t>
            </a:r>
          </a:p>
          <a:p>
            <a:r>
              <a:rPr lang="en-US" b="1" dirty="0">
                <a:latin typeface="Gotham Black"/>
              </a:rPr>
              <a:t>Content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[local genres / formats / faces]</a:t>
            </a:r>
          </a:p>
          <a:p>
            <a:r>
              <a:rPr lang="en-US" b="1" dirty="0">
                <a:latin typeface="Gotham Black"/>
              </a:rPr>
              <a:t>Tone &amp; language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[how we speak, </a:t>
            </a:r>
            <a:r>
              <a:rPr lang="en-US" dirty="0" err="1">
                <a:latin typeface="Gotham Black"/>
              </a:rPr>
              <a:t>humour</a:t>
            </a:r>
            <a:r>
              <a:rPr lang="en-US" dirty="0">
                <a:latin typeface="Gotham Black"/>
              </a:rPr>
              <a:t>, emotional register]</a:t>
            </a:r>
          </a:p>
          <a:p>
            <a:r>
              <a:rPr lang="en-US" b="1" dirty="0">
                <a:latin typeface="Gotham Black"/>
              </a:rPr>
              <a:t>Viewing </a:t>
            </a:r>
            <a:r>
              <a:rPr lang="en-US" b="1" dirty="0" err="1">
                <a:latin typeface="Gotham Black"/>
              </a:rPr>
              <a:t>behaviour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[when, how, with whom people watch]</a:t>
            </a:r>
            <a:endParaRPr lang="sk-SK" dirty="0">
              <a:latin typeface="Gotham Black"/>
            </a:endParaRPr>
          </a:p>
          <a:p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b="1" dirty="0">
                <a:latin typeface="Gotham Black"/>
              </a:rPr>
              <a:t>Local “non-negotiable”</a:t>
            </a:r>
          </a:p>
          <a:p>
            <a:r>
              <a:rPr lang="en-US" dirty="0">
                <a:latin typeface="Gotham Black"/>
              </a:rPr>
              <a:t>If this is missing, </a:t>
            </a:r>
            <a:r>
              <a:rPr lang="en-US" dirty="0" err="1">
                <a:latin typeface="Gotham Black"/>
              </a:rPr>
              <a:t>VOYO</a:t>
            </a:r>
            <a:r>
              <a:rPr lang="en-US" dirty="0">
                <a:latin typeface="Gotham Black"/>
              </a:rPr>
              <a:t> stops feeling local in </a:t>
            </a:r>
            <a:r>
              <a:rPr lang="en-US" b="1" dirty="0">
                <a:latin typeface="Gotham Black"/>
              </a:rPr>
              <a:t>[MARKET]</a:t>
            </a:r>
            <a:r>
              <a:rPr lang="en-US" dirty="0">
                <a:latin typeface="Gotham Black"/>
              </a:rPr>
              <a:t>.</a:t>
            </a:r>
          </a:p>
          <a:p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b="1" dirty="0">
                <a:latin typeface="Gotham Black"/>
              </a:rPr>
              <a:t>Quick check</a:t>
            </a:r>
          </a:p>
          <a:p>
            <a:r>
              <a:rPr lang="en-US" i="1" dirty="0">
                <a:latin typeface="Gotham Black"/>
              </a:rPr>
              <a:t>Would people naturally say:</a:t>
            </a:r>
            <a:r>
              <a:rPr lang="sk-SK" i="1" dirty="0">
                <a:latin typeface="Gotham Black"/>
              </a:rPr>
              <a:t> </a:t>
            </a:r>
            <a:r>
              <a:rPr lang="en-US" dirty="0">
                <a:latin typeface="Gotham Black"/>
              </a:rPr>
              <a:t>“Let’s watch it on </a:t>
            </a:r>
            <a:r>
              <a:rPr lang="en-US" dirty="0" err="1">
                <a:latin typeface="Gotham Black"/>
              </a:rPr>
              <a:t>VOYO</a:t>
            </a:r>
            <a:r>
              <a:rPr lang="en-US" dirty="0">
                <a:latin typeface="Gotham Black"/>
              </a:rPr>
              <a:t>.”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E687FB85-5DEC-D35D-7B08-BB6EFA64CC6B}"/>
              </a:ext>
            </a:extLst>
          </p:cNvPr>
          <p:cNvSpPr txBox="1"/>
          <p:nvPr/>
        </p:nvSpPr>
        <p:spPr>
          <a:xfrm rot="877190">
            <a:off x="7286988" y="444740"/>
            <a:ext cx="2743200" cy="715089"/>
          </a:xfrm>
          <a:prstGeom prst="roundRect">
            <a:avLst/>
          </a:prstGeom>
          <a:noFill/>
          <a:ln w="60325" cmpd="tri">
            <a:gradFill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5400000" scaled="1"/>
            </a:gradFill>
          </a:ln>
        </p:spPr>
        <p:txBody>
          <a:bodyPr wrap="square" rtlCol="0">
            <a:spAutoFit/>
          </a:bodyPr>
          <a:lstStyle/>
          <a:p>
            <a:pPr algn="ctr"/>
            <a:r>
              <a:rPr lang="sk-SK" dirty="0">
                <a:solidFill>
                  <a:srgbClr val="DB9E0A"/>
                </a:solidFill>
                <a:latin typeface="Montserrat" panose="00000500000000000000" pitchFamily="2" charset="0"/>
              </a:rPr>
              <a:t>TEMPLATE SLIDE FOR EACH MARKET</a:t>
            </a: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1284CFDE-1245-F560-2B59-769C7D29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>
                <a:latin typeface="Gotham Black"/>
              </a:rPr>
              <a:t>23</a:t>
            </a:fld>
            <a:endParaRPr lang="sk-SK"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40541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0BE7AA-38C2-6A47-4267-A3BF941F143E}"/>
              </a:ext>
            </a:extLst>
          </p:cNvPr>
          <p:cNvSpPr/>
          <p:nvPr/>
        </p:nvSpPr>
        <p:spPr>
          <a:xfrm rot="5400000">
            <a:off x="6667929" y="1143328"/>
            <a:ext cx="4560367" cy="5704227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FD5508-7D02-09AA-1E71-680F36B3D0D0}"/>
              </a:ext>
            </a:extLst>
          </p:cNvPr>
          <p:cNvSpPr/>
          <p:nvPr/>
        </p:nvSpPr>
        <p:spPr>
          <a:xfrm rot="5400000">
            <a:off x="853634" y="1253395"/>
            <a:ext cx="4560369" cy="548409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3DCBFCD-4507-5693-DEB2-32D70BF28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85243"/>
            <a:ext cx="10960966" cy="649288"/>
          </a:xfrm>
        </p:spPr>
        <p:txBody>
          <a:bodyPr>
            <a:noAutofit/>
          </a:bodyPr>
          <a:lstStyle/>
          <a:p>
            <a:r>
              <a:rPr lang="en-US" sz="4000" dirty="0">
                <a:latin typeface="Gotham Black"/>
              </a:rPr>
              <a:t>What is </a:t>
            </a:r>
            <a:r>
              <a:rPr lang="en-US" sz="4000" dirty="0" err="1">
                <a:latin typeface="Gotham Black"/>
              </a:rPr>
              <a:t>localised</a:t>
            </a:r>
            <a:r>
              <a:rPr lang="en-US" sz="4000" dirty="0">
                <a:latin typeface="Gotham Black"/>
              </a:rPr>
              <a:t> – and what is not</a:t>
            </a:r>
            <a:r>
              <a:rPr lang="en-US" sz="4000" i="1" dirty="0">
                <a:latin typeface="Gotham Black"/>
              </a:rPr>
              <a:t> </a:t>
            </a:r>
            <a:r>
              <a:rPr lang="en-US" sz="1100" i="1" dirty="0">
                <a:latin typeface="Gotham Black"/>
              </a:rPr>
              <a:t>(rules for the umbrella Brand Bible)</a:t>
            </a:r>
            <a:endParaRPr lang="sk-SK" sz="3600" dirty="0">
              <a:latin typeface="Gotham Black"/>
            </a:endParaRP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80082502-7A45-F84B-D283-0704C4DF49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🔒 </a:t>
            </a:r>
            <a:r>
              <a:rPr lang="en-US" sz="1400" b="1" dirty="0">
                <a:solidFill>
                  <a:srgbClr val="DB9E0A"/>
                </a:solidFill>
                <a:latin typeface="Gotham Black"/>
              </a:rPr>
              <a:t>UNCHANGING (UMBRELLA)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These elements are fixed and apply across all markets. They must not be rewritten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Brand essence, purpose &amp; positioning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Core tone of voice principles</a:t>
            </a:r>
            <a:br>
              <a:rPr lang="en-US" sz="1400" dirty="0">
                <a:latin typeface="Gotham Black"/>
              </a:rPr>
            </a:br>
            <a:r>
              <a:rPr lang="en-US" sz="1400" i="1" dirty="0">
                <a:latin typeface="Gotham Black"/>
              </a:rPr>
              <a:t>(familiar, confident, locally fluent)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Execution principles</a:t>
            </a:r>
            <a:br>
              <a:rPr lang="en-US" sz="1400" dirty="0">
                <a:latin typeface="Gotham Black"/>
              </a:rPr>
            </a:br>
            <a:r>
              <a:rPr lang="en-US" sz="1400" i="1" dirty="0">
                <a:latin typeface="Gotham Black"/>
              </a:rPr>
              <a:t>(ease, moments that matter, local fluency, fair value)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VOYO visual identity system</a:t>
            </a:r>
            <a:br>
              <a:rPr lang="en-US" sz="1400" dirty="0">
                <a:latin typeface="Gotham Black"/>
              </a:rPr>
            </a:br>
            <a:r>
              <a:rPr lang="en-US" sz="1400" i="1" dirty="0">
                <a:latin typeface="Gotham Black"/>
              </a:rPr>
              <a:t>(logo, </a:t>
            </a:r>
            <a:r>
              <a:rPr lang="en-US" sz="1400" i="1" dirty="0" err="1">
                <a:latin typeface="Gotham Black"/>
              </a:rPr>
              <a:t>colour</a:t>
            </a:r>
            <a:r>
              <a:rPr lang="en-US" sz="1400" i="1" dirty="0">
                <a:latin typeface="Gotham Black"/>
              </a:rPr>
              <a:t>, typography, design rules)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The core promise of VOYO</a:t>
            </a:r>
            <a:br>
              <a:rPr lang="en-US" sz="1400" dirty="0">
                <a:latin typeface="Gotham Black"/>
              </a:rPr>
            </a:br>
            <a:r>
              <a:rPr lang="en-US" sz="1400" i="1" dirty="0">
                <a:latin typeface="Gotham Black"/>
              </a:rPr>
              <a:t>(streaming that fits the viewer’s world)</a:t>
            </a:r>
            <a:endParaRPr lang="en-US" sz="1400" dirty="0">
              <a:latin typeface="Gotham Black"/>
            </a:endParaRP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2F05B5BD-2DCE-54F3-30DC-538AB1CFFA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🔓 </a:t>
            </a:r>
            <a:r>
              <a:rPr lang="en-US" sz="1400" b="1" dirty="0">
                <a:solidFill>
                  <a:srgbClr val="DB9E0A"/>
                </a:solidFill>
                <a:latin typeface="Gotham Black"/>
              </a:rPr>
              <a:t>MANDATORILY LOCALISED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These elements must be adapted market by market to feel truly “from here”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Local hero content, talent &amp; cultural references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Viewing rituals &amp; shared moments</a:t>
            </a:r>
            <a:br>
              <a:rPr lang="en-US" sz="1400" dirty="0">
                <a:latin typeface="Gotham Black"/>
              </a:rPr>
            </a:br>
            <a:r>
              <a:rPr lang="en-US" sz="1400" i="1" dirty="0">
                <a:latin typeface="Gotham Black"/>
              </a:rPr>
              <a:t>(e.g. reality nights, derby matches, family weekends)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Local language, </a:t>
            </a:r>
            <a:r>
              <a:rPr lang="en-US" sz="1400" b="1" dirty="0" err="1">
                <a:latin typeface="Gotham Black"/>
              </a:rPr>
              <a:t>humour</a:t>
            </a:r>
            <a:r>
              <a:rPr lang="en-US" sz="1400" b="1" dirty="0">
                <a:latin typeface="Gotham Black"/>
              </a:rPr>
              <a:t> &amp; emotional nuance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Market-specific value proof</a:t>
            </a:r>
            <a:br>
              <a:rPr lang="en-US" sz="1400" dirty="0">
                <a:latin typeface="Gotham Black"/>
              </a:rPr>
            </a:br>
            <a:r>
              <a:rPr lang="en-US" sz="1400" i="1" dirty="0">
                <a:latin typeface="Gotham Black"/>
              </a:rPr>
              <a:t>(why VOYO is worth paying for locally)</a:t>
            </a:r>
            <a:endParaRPr lang="en-US" sz="14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sz="1400" b="1" dirty="0">
                <a:latin typeface="Gotham Black"/>
              </a:rPr>
              <a:t>Customer care &amp; CRM tone in the local voice</a:t>
            </a:r>
            <a:endParaRPr lang="en-US" sz="1400" dirty="0">
              <a:latin typeface="Gotham Black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25FC149C-286D-8EB1-13B0-C8C91BDD7F1D}"/>
              </a:ext>
            </a:extLst>
          </p:cNvPr>
          <p:cNvSpPr txBox="1"/>
          <p:nvPr/>
        </p:nvSpPr>
        <p:spPr>
          <a:xfrm>
            <a:off x="535709" y="582375"/>
            <a:ext cx="8548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600" dirty="0">
                <a:solidFill>
                  <a:schemeClr val="bg1"/>
                </a:solidFill>
                <a:latin typeface="Gotham Black"/>
              </a:rPr>
              <a:t>FRAMEWORK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39613F5C-2D7E-D45A-F895-A47047325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24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4549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D23A-F728-3163-80FC-73818F3C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6F74CCB2-5D68-AD4B-BD4B-2DDF099FE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3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6D41F07F-6001-675A-3282-74F5B612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>
            <a:normAutofit fontScale="92500" lnSpcReduction="20000"/>
          </a:bodyPr>
          <a:lstStyle/>
          <a:p>
            <a:endParaRPr lang="en-US" sz="6100" b="1" dirty="0">
              <a:latin typeface="Gotham Black"/>
            </a:endParaRPr>
          </a:p>
          <a:p>
            <a:r>
              <a:rPr lang="en-US" sz="6100" b="1" dirty="0">
                <a:latin typeface="Gotham Black"/>
              </a:rPr>
              <a:t>ONE CONTENT </a:t>
            </a:r>
            <a:r>
              <a:rPr lang="en-US" sz="6100" dirty="0">
                <a:latin typeface="Gotham Black"/>
              </a:rPr>
              <a:t>UNIVERSE</a:t>
            </a:r>
            <a:endParaRPr lang="sk-SK" sz="61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77212000-AFF4-4799-F2BE-C0112969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25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64061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6C37-042B-8714-4D8A-BB0A7F14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90B8B3-50EC-53CA-D1ED-CFE4B6AE1502}"/>
              </a:ext>
            </a:extLst>
          </p:cNvPr>
          <p:cNvSpPr/>
          <p:nvPr/>
        </p:nvSpPr>
        <p:spPr>
          <a:xfrm>
            <a:off x="702733" y="5133974"/>
            <a:ext cx="11015134" cy="1141651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C848927-08FC-7333-E356-B193268E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46" y="771095"/>
            <a:ext cx="9901382" cy="49747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Gotham Black"/>
              </a:rPr>
              <a:t>ONE Universe</a:t>
            </a:r>
            <a:r>
              <a:rPr lang="en-US" dirty="0">
                <a:latin typeface="Gotham Black"/>
              </a:rPr>
              <a:t>, two gateways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7C9ED35C-5914-5145-C67B-BFDCCA5A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26</a:t>
            </a:fld>
            <a:endParaRPr lang="sk-SK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5C95176D-216B-CC12-98EE-94FF1E270F4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219700" y="1995488"/>
            <a:ext cx="6972300" cy="275590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One shared content universe.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TV channels and </a:t>
            </a:r>
            <a:r>
              <a:rPr lang="en-US" dirty="0" err="1">
                <a:latin typeface="Gotham Black"/>
              </a:rPr>
              <a:t>VOYO</a:t>
            </a:r>
            <a:r>
              <a:rPr lang="en-US" dirty="0">
                <a:latin typeface="Gotham Black"/>
              </a:rPr>
              <a:t> tell the same stories.</a:t>
            </a: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What changes is not the content – but how and when people experience it.</a:t>
            </a:r>
            <a:endParaRPr lang="en-US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Gotham Black"/>
              </a:rPr>
              <a:t>TV creates shared moments and anticipation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latin typeface="Gotham Black"/>
              </a:rPr>
              <a:t>VOYO</a:t>
            </a:r>
            <a:r>
              <a:rPr lang="en-US" dirty="0">
                <a:latin typeface="Gotham Black"/>
              </a:rPr>
              <a:t> extends stories with continuity and flexibility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50C0D14E-ED70-BB13-E98F-E0C3479DBD3B}"/>
              </a:ext>
            </a:extLst>
          </p:cNvPr>
          <p:cNvSpPr txBox="1"/>
          <p:nvPr/>
        </p:nvSpPr>
        <p:spPr>
          <a:xfrm>
            <a:off x="483646" y="451059"/>
            <a:ext cx="8548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600" dirty="0">
                <a:solidFill>
                  <a:schemeClr val="bg1"/>
                </a:solidFill>
                <a:latin typeface="Gotham Black"/>
              </a:rPr>
              <a:t>CORE PRINCIPLE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1EE7242C-EC56-54CE-78D7-BA4AB1C3A3BF}"/>
              </a:ext>
            </a:extLst>
          </p:cNvPr>
          <p:cNvSpPr txBox="1"/>
          <p:nvPr/>
        </p:nvSpPr>
        <p:spPr>
          <a:xfrm>
            <a:off x="2520517" y="5133975"/>
            <a:ext cx="7150966" cy="1021556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sk-SK" b="1" dirty="0">
                <a:solidFill>
                  <a:srgbClr val="DB9E0A"/>
                </a:solidFill>
                <a:latin typeface="Gotham Black"/>
              </a:rPr>
              <a:t>KEY RULE</a:t>
            </a:r>
          </a:p>
          <a:p>
            <a:pPr algn="ctr">
              <a:buNone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We never compete TV against </a:t>
            </a:r>
            <a:r>
              <a:rPr lang="en-US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.</a:t>
            </a:r>
            <a:endParaRPr lang="sk-SK" dirty="0">
              <a:solidFill>
                <a:schemeClr val="bg1"/>
              </a:solidFill>
              <a:latin typeface="Gotham Black"/>
            </a:endParaRPr>
          </a:p>
          <a:p>
            <a:pPr algn="ctr">
              <a:buNone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They are complementary gateways within one ecosystem.</a:t>
            </a:r>
            <a:endParaRPr lang="sk-SK" dirty="0">
              <a:solidFill>
                <a:schemeClr val="bg1"/>
              </a:solidFill>
              <a:latin typeface="Gotham Blac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590427-E9F8-FFCA-6AD4-03540AADA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861" y="1969654"/>
            <a:ext cx="1860938" cy="1984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95E329-3FF4-98AF-2BE7-F5626945E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5725">
            <a:off x="516895" y="3274651"/>
            <a:ext cx="1357997" cy="1448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1C4173-A901-F462-FBE2-28B19DED9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2467">
            <a:off x="1167039" y="1871927"/>
            <a:ext cx="708384" cy="75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05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101E18-3574-8C54-1790-0633261E3650}"/>
              </a:ext>
            </a:extLst>
          </p:cNvPr>
          <p:cNvSpPr/>
          <p:nvPr/>
        </p:nvSpPr>
        <p:spPr>
          <a:xfrm>
            <a:off x="5924323" y="1785275"/>
            <a:ext cx="5058002" cy="3691600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A0FC2-923A-7ADC-7DA4-D2D1882E914F}"/>
              </a:ext>
            </a:extLst>
          </p:cNvPr>
          <p:cNvSpPr/>
          <p:nvPr/>
        </p:nvSpPr>
        <p:spPr>
          <a:xfrm>
            <a:off x="561748" y="1785275"/>
            <a:ext cx="5058002" cy="3691600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704FD55-9817-4B62-0B70-695733FC4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9" y="615747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Same content </a:t>
            </a:r>
            <a:r>
              <a:rPr lang="en-US" dirty="0">
                <a:latin typeface="Gotham Black"/>
              </a:rPr>
              <a:t>world. Different roles.</a:t>
            </a:r>
            <a:endParaRPr lang="sk-SK" dirty="0">
              <a:latin typeface="Gotham Black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222BC47A-43EE-4F81-1B1B-EDCD45F7D375}"/>
              </a:ext>
            </a:extLst>
          </p:cNvPr>
          <p:cNvSpPr txBox="1"/>
          <p:nvPr/>
        </p:nvSpPr>
        <p:spPr>
          <a:xfrm>
            <a:off x="461819" y="1902138"/>
            <a:ext cx="4948382" cy="2659593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solidFill>
                  <a:srgbClr val="DB9E0A"/>
                </a:solidFill>
                <a:latin typeface="Gotham Black"/>
              </a:rPr>
              <a:t>TV CHANNELS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Built for </a:t>
            </a:r>
            <a:r>
              <a:rPr lang="en-US" b="1" dirty="0">
                <a:solidFill>
                  <a:schemeClr val="bg1"/>
                </a:solidFill>
                <a:latin typeface="Gotham Black"/>
              </a:rPr>
              <a:t>shared moments and reach</a:t>
            </a:r>
            <a:endParaRPr lang="en-US" dirty="0">
              <a:solidFill>
                <a:schemeClr val="bg1"/>
              </a:solidFill>
              <a:latin typeface="Gotham Black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Gotham Black"/>
              </a:rPr>
              <a:t>Fixed timing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, collective viewing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Gotham Black"/>
              </a:rPr>
              <a:t>Strong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 in launches, anticipation, and ritual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Gotham Black"/>
              </a:rPr>
              <a:t>Communicates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 in a </a:t>
            </a:r>
            <a:r>
              <a:rPr lang="en-US" b="1" dirty="0">
                <a:solidFill>
                  <a:schemeClr val="bg1"/>
                </a:solidFill>
                <a:latin typeface="Gotham Black"/>
              </a:rPr>
              <a:t>classic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 broadcast language</a:t>
            </a:r>
            <a:endParaRPr lang="sk-SK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92FEB024-37E9-6952-F2B3-296E535FAE04}"/>
              </a:ext>
            </a:extLst>
          </p:cNvPr>
          <p:cNvSpPr txBox="1"/>
          <p:nvPr/>
        </p:nvSpPr>
        <p:spPr>
          <a:xfrm>
            <a:off x="6086764" y="1962182"/>
            <a:ext cx="4809836" cy="2655337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>
              <a:buNone/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pPr algn="ctr"/>
            <a:r>
              <a:rPr lang="en-US" dirty="0" err="1">
                <a:solidFill>
                  <a:srgbClr val="DB9E0A"/>
                </a:solidFill>
                <a:latin typeface="Gotham Black"/>
              </a:rPr>
              <a:t>VOYO</a:t>
            </a:r>
            <a:endParaRPr lang="en-US" dirty="0">
              <a:solidFill>
                <a:srgbClr val="DB9E0A"/>
              </a:solidFill>
              <a:latin typeface="Gotham Black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Gotham Black"/>
              </a:rPr>
              <a:t>Built for </a:t>
            </a:r>
            <a:r>
              <a:rPr lang="en-US" dirty="0">
                <a:latin typeface="Gotham Black"/>
              </a:rPr>
              <a:t>continuity and flexibility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Gotham Black"/>
              </a:rPr>
              <a:t>Personal timing</a:t>
            </a:r>
            <a:r>
              <a:rPr lang="en-US" b="0" dirty="0">
                <a:latin typeface="Gotham Black"/>
              </a:rPr>
              <a:t>, everyday viewing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Gotham Black"/>
              </a:rPr>
              <a:t>Strong</a:t>
            </a:r>
            <a:r>
              <a:rPr lang="en-US" b="0" dirty="0">
                <a:latin typeface="Gotham Black"/>
              </a:rPr>
              <a:t> in access, depth, and ease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Gotham Black"/>
              </a:rPr>
              <a:t>Speaks</a:t>
            </a:r>
            <a:r>
              <a:rPr lang="en-US" b="0" dirty="0">
                <a:latin typeface="Gotham Black"/>
              </a:rPr>
              <a:t> in a </a:t>
            </a:r>
            <a:r>
              <a:rPr lang="en-US" dirty="0">
                <a:latin typeface="Gotham Black"/>
              </a:rPr>
              <a:t>modern</a:t>
            </a:r>
            <a:r>
              <a:rPr lang="en-US" b="0" dirty="0">
                <a:latin typeface="Gotham Black"/>
              </a:rPr>
              <a:t>, streaming-first language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ECC4B67E-620E-012A-8CD4-EE33E653FF24}"/>
              </a:ext>
            </a:extLst>
          </p:cNvPr>
          <p:cNvSpPr txBox="1"/>
          <p:nvPr/>
        </p:nvSpPr>
        <p:spPr>
          <a:xfrm>
            <a:off x="1395268" y="5710019"/>
            <a:ext cx="9582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BB1"/>
                </a:solidFill>
                <a:latin typeface="Gotham Black"/>
              </a:rPr>
              <a:t>Guiding rule</a:t>
            </a:r>
          </a:p>
          <a:p>
            <a:pPr>
              <a:buNone/>
            </a:pPr>
            <a:r>
              <a:rPr lang="en-US" dirty="0">
                <a:solidFill>
                  <a:srgbClr val="FFFBB1"/>
                </a:solidFill>
                <a:latin typeface="Gotham Black"/>
              </a:rPr>
              <a:t>If TV and VOYO start to feel the same,</a:t>
            </a:r>
            <a:r>
              <a:rPr lang="sk-SK" dirty="0">
                <a:solidFill>
                  <a:srgbClr val="FFFBB1"/>
                </a:solidFill>
                <a:latin typeface="Gotham Black"/>
              </a:rPr>
              <a:t> </a:t>
            </a:r>
            <a:r>
              <a:rPr lang="en-US" dirty="0">
                <a:solidFill>
                  <a:srgbClr val="FFFBB1"/>
                </a:solidFill>
                <a:latin typeface="Gotham Black"/>
              </a:rPr>
              <a:t>we lose the strength of both.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CA87B414-A84E-7C9B-935C-64F1D59E7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>
                <a:latin typeface="Gotham Black"/>
              </a:rPr>
              <a:t>27</a:t>
            </a:fld>
            <a:endParaRPr lang="sk-SK">
              <a:latin typeface="Gotham Black"/>
            </a:endParaRPr>
          </a:p>
        </p:txBody>
      </p:sp>
      <p:pic>
        <p:nvPicPr>
          <p:cNvPr id="3" name="Picture 2" descr="Attention PNG transparent image download, size: 2400x2400px">
            <a:extLst>
              <a:ext uri="{FF2B5EF4-FFF2-40B4-BE49-F238E27FC236}">
                <a16:creationId xmlns:a16="http://schemas.microsoft.com/office/drawing/2014/main" id="{F47578BF-BF48-7A11-87C6-B5ECD6C2E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96" y="5837710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091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66EC5B-47B4-A1AF-DD3E-DD610E701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85" y="611115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b="1" dirty="0">
                <a:latin typeface="Gotham Black"/>
              </a:rPr>
              <a:t>Leadership</a:t>
            </a:r>
            <a:r>
              <a:rPr lang="sk-SK" sz="4000" dirty="0">
                <a:latin typeface="Gotham Black"/>
              </a:rPr>
              <a:t> &amp; Brand hierarchy (practice)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F523FEA-F8CD-31AF-987F-102A7DFF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85" y="1647825"/>
            <a:ext cx="11286836" cy="1331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Gotham Black"/>
              </a:rPr>
              <a:t>Content leads. Gateways follow.</a:t>
            </a:r>
            <a:endParaRPr lang="sk-SK" sz="2400" b="1" dirty="0">
              <a:latin typeface="Gotham Black"/>
            </a:endParaRPr>
          </a:p>
          <a:p>
            <a:pPr marL="0" indent="0">
              <a:buNone/>
            </a:pPr>
            <a:r>
              <a:rPr lang="en-US" sz="2000" dirty="0">
                <a:latin typeface="Gotham Black"/>
              </a:rPr>
              <a:t>Always start with the story.</a:t>
            </a:r>
            <a:r>
              <a:rPr lang="sk-SK" sz="2000" dirty="0">
                <a:latin typeface="Gotham Black"/>
              </a:rPr>
              <a:t> </a:t>
            </a:r>
            <a:r>
              <a:rPr lang="en-US" sz="2000" dirty="0">
                <a:latin typeface="Gotham Black"/>
              </a:rPr>
              <a:t>Series, reality or sport is the hero – not the platform.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1E79D61F-481F-C1BD-BFE8-999B0D3A260F}"/>
              </a:ext>
            </a:extLst>
          </p:cNvPr>
          <p:cNvSpPr txBox="1"/>
          <p:nvPr/>
        </p:nvSpPr>
        <p:spPr>
          <a:xfrm>
            <a:off x="470285" y="2852895"/>
            <a:ext cx="547196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TV LEADS WHEN</a:t>
            </a:r>
            <a:endParaRPr lang="sk-SK" sz="1600" b="1" dirty="0">
              <a:solidFill>
                <a:srgbClr val="DB9E0A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Launching new stories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Building anticipation and shared rituals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Driving mass reach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endParaRPr lang="sk-SK" sz="1600" b="1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 appears only as a continuation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Gotham Black"/>
              </a:rPr>
              <a:t>Use:</a:t>
            </a:r>
            <a:endParaRPr lang="sk-SK" sz="1600" b="1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“Available now on 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”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“Watch it first on 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”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DE2B25A2-ABE3-6559-3481-823C59AC8722}"/>
              </a:ext>
            </a:extLst>
          </p:cNvPr>
          <p:cNvSpPr txBox="1"/>
          <p:nvPr/>
        </p:nvSpPr>
        <p:spPr>
          <a:xfrm>
            <a:off x="5801687" y="2852895"/>
            <a:ext cx="60960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rgbClr val="DB9E0A"/>
                </a:solidFill>
                <a:latin typeface="Gotham Black"/>
              </a:rPr>
              <a:t>VOYO</a:t>
            </a: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 LEADS WHEN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Delivering the streaming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Offering early access, full seasons or exclusives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Enabling continuation beyond broadcast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 is the only visible brand</a:t>
            </a:r>
            <a:br>
              <a:rPr lang="en-US" sz="1600" dirty="0">
                <a:solidFill>
                  <a:schemeClr val="bg1"/>
                </a:solidFill>
                <a:latin typeface="Gotham Black"/>
              </a:rPr>
            </a:br>
            <a:r>
              <a:rPr lang="en-US" sz="1600" b="1" dirty="0">
                <a:solidFill>
                  <a:schemeClr val="bg1"/>
                </a:solidFill>
                <a:latin typeface="Gotham Black"/>
              </a:rPr>
              <a:t>Use:</a:t>
            </a:r>
          </a:p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“All episodes on 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”</a:t>
            </a:r>
          </a:p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“Keep watching, on your terms.”</a:t>
            </a: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BC8B8938-DA4B-2F1F-60B5-7EFB4754CF97}"/>
              </a:ext>
            </a:extLst>
          </p:cNvPr>
          <p:cNvSpPr txBox="1"/>
          <p:nvPr/>
        </p:nvSpPr>
        <p:spPr>
          <a:xfrm>
            <a:off x="1533524" y="5595257"/>
            <a:ext cx="93154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BB1"/>
                </a:solidFill>
                <a:latin typeface="Gotham Black"/>
              </a:rPr>
              <a:t>SIMPLE CHECK</a:t>
            </a:r>
            <a:br>
              <a:rPr lang="en-US" dirty="0">
                <a:solidFill>
                  <a:srgbClr val="FFFBB1"/>
                </a:solidFill>
                <a:latin typeface="Gotham Black"/>
              </a:rPr>
            </a:br>
            <a:r>
              <a:rPr lang="en-US" dirty="0">
                <a:solidFill>
                  <a:srgbClr val="FFFBB1"/>
                </a:solidFill>
                <a:latin typeface="Gotham Black"/>
              </a:rPr>
              <a:t>If it’s not immediately clear what is being promoted – the story or the platform – the hierarchy is wrong.</a:t>
            </a:r>
            <a:endParaRPr lang="sk-SK" dirty="0">
              <a:solidFill>
                <a:srgbClr val="FFFBB1"/>
              </a:solidFill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6DCF8CE-619E-1AF8-25F1-ADDAA0E0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>
                <a:latin typeface="Gotham Black"/>
              </a:rPr>
              <a:t>28</a:t>
            </a:fld>
            <a:endParaRPr lang="sk-SK">
              <a:latin typeface="Gotham Black"/>
            </a:endParaRPr>
          </a:p>
        </p:txBody>
      </p:sp>
      <p:pic>
        <p:nvPicPr>
          <p:cNvPr id="6" name="Picture 5" descr="Attention PNG transparent image download, size: 2400x2400px">
            <a:extLst>
              <a:ext uri="{FF2B5EF4-FFF2-40B4-BE49-F238E27FC236}">
                <a16:creationId xmlns:a16="http://schemas.microsoft.com/office/drawing/2014/main" id="{F72DD49E-91D3-588C-172E-A9C063E5A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96" y="5761510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5738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35F582-7142-E501-5FCE-8D9CA78B7473}"/>
              </a:ext>
            </a:extLst>
          </p:cNvPr>
          <p:cNvSpPr/>
          <p:nvPr/>
        </p:nvSpPr>
        <p:spPr>
          <a:xfrm rot="5400000">
            <a:off x="7562230" y="1209917"/>
            <a:ext cx="1587661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96EA76-1C09-F888-194A-0D91F6082DB0}"/>
              </a:ext>
            </a:extLst>
          </p:cNvPr>
          <p:cNvSpPr/>
          <p:nvPr/>
        </p:nvSpPr>
        <p:spPr>
          <a:xfrm rot="5400000">
            <a:off x="2194270" y="1209916"/>
            <a:ext cx="1587658" cy="475363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6673557-176C-DE3E-7D0F-02940BC3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0505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>
                <a:latin typeface="Gotham Black"/>
              </a:rPr>
              <a:t>Relationship</a:t>
            </a:r>
            <a:r>
              <a:rPr lang="sk-SK" dirty="0">
                <a:latin typeface="Gotham Black"/>
              </a:rPr>
              <a:t> to News Brands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7B52DC3-3A73-A620-80D9-1F9F80E9F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559052"/>
            <a:ext cx="11277600" cy="9704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Gotham Black"/>
              </a:rPr>
              <a:t>Core principle</a:t>
            </a:r>
          </a:p>
          <a:p>
            <a:pPr marL="0" indent="0">
              <a:buNone/>
            </a:pPr>
            <a:r>
              <a:rPr lang="en-US" dirty="0">
                <a:latin typeface="Gotham Black"/>
              </a:rPr>
              <a:t>News brands lead trust. VOYO leads access.</a:t>
            </a:r>
          </a:p>
          <a:p>
            <a:pPr marL="0" indent="0">
              <a:buNone/>
            </a:pPr>
            <a:endParaRPr lang="sk-SK" dirty="0">
              <a:latin typeface="Montserrat" panose="00000500000000000000" pitchFamily="2" charset="0"/>
            </a:endParaRPr>
          </a:p>
          <a:p>
            <a:endParaRPr lang="sk-SK" dirty="0">
              <a:latin typeface="Montserrat" panose="00000500000000000000" pitchFamily="2" charset="0"/>
            </a:endParaRP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0B6EC194-C8E0-19B0-1588-5E9DB885A21B}"/>
              </a:ext>
            </a:extLst>
          </p:cNvPr>
          <p:cNvSpPr txBox="1"/>
          <p:nvPr/>
        </p:nvSpPr>
        <p:spPr>
          <a:xfrm>
            <a:off x="1423842" y="5793271"/>
            <a:ext cx="91108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BB1"/>
                </a:solidFill>
                <a:latin typeface="Gotham Black"/>
              </a:rPr>
              <a:t>Simple check</a:t>
            </a:r>
          </a:p>
          <a:p>
            <a:pPr>
              <a:buNone/>
            </a:pPr>
            <a:r>
              <a:rPr lang="en-US" dirty="0">
                <a:solidFill>
                  <a:srgbClr val="FFFBB1"/>
                </a:solidFill>
                <a:latin typeface="Gotham Black"/>
              </a:rPr>
              <a:t>If it sounds like </a:t>
            </a:r>
            <a:r>
              <a:rPr lang="en-US" dirty="0" err="1">
                <a:solidFill>
                  <a:srgbClr val="FFFBB1"/>
                </a:solidFill>
                <a:latin typeface="Gotham Black"/>
              </a:rPr>
              <a:t>VOYO</a:t>
            </a:r>
            <a:r>
              <a:rPr lang="en-US" dirty="0">
                <a:solidFill>
                  <a:srgbClr val="FFFBB1"/>
                </a:solidFill>
                <a:latin typeface="Gotham Black"/>
              </a:rPr>
              <a:t> is </a:t>
            </a:r>
            <a:r>
              <a:rPr lang="en-US" i="1" dirty="0">
                <a:solidFill>
                  <a:srgbClr val="FFFBB1"/>
                </a:solidFill>
                <a:latin typeface="Gotham Black"/>
              </a:rPr>
              <a:t>speaking the news</a:t>
            </a:r>
            <a:r>
              <a:rPr lang="en-US" dirty="0">
                <a:solidFill>
                  <a:srgbClr val="FFFBB1"/>
                </a:solidFill>
                <a:latin typeface="Gotham Black"/>
              </a:rPr>
              <a:t>, the execution is wrong.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AE5C80CA-5C05-1F6A-F168-B0639F6F9025}"/>
              </a:ext>
            </a:extLst>
          </p:cNvPr>
          <p:cNvSpPr txBox="1"/>
          <p:nvPr/>
        </p:nvSpPr>
        <p:spPr>
          <a:xfrm>
            <a:off x="611281" y="444845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DB9E0A"/>
                </a:solidFill>
                <a:latin typeface="Gotham Black"/>
              </a:rPr>
              <a:t>HOW </a:t>
            </a:r>
            <a:r>
              <a:rPr lang="en-US" b="1" dirty="0" err="1">
                <a:solidFill>
                  <a:srgbClr val="DB9E0A"/>
                </a:solidFill>
                <a:latin typeface="Gotham Black"/>
              </a:rPr>
              <a:t>VOYO</a:t>
            </a:r>
            <a:r>
              <a:rPr lang="en-US" b="1" dirty="0">
                <a:solidFill>
                  <a:srgbClr val="DB9E0A"/>
                </a:solidFill>
                <a:latin typeface="Gotham Black"/>
              </a:rPr>
              <a:t> SUPPORTS NEWS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Full episodes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Longer interviews &amp; explainers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Archives, watched anytime</a:t>
            </a:r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C5448199-D772-53B4-8AE6-CF118247508D}"/>
              </a:ext>
            </a:extLst>
          </p:cNvPr>
          <p:cNvSpPr txBox="1"/>
          <p:nvPr/>
        </p:nvSpPr>
        <p:spPr>
          <a:xfrm>
            <a:off x="6194443" y="3048699"/>
            <a:ext cx="4005118" cy="1021556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 err="1">
                <a:latin typeface="Gotham Black"/>
              </a:rPr>
              <a:t>VOYO</a:t>
            </a:r>
            <a:br>
              <a:rPr lang="en-US" dirty="0">
                <a:latin typeface="Gotham Black"/>
              </a:rPr>
            </a:br>
            <a:r>
              <a:rPr lang="en-US" b="0" dirty="0">
                <a:latin typeface="Gotham Black"/>
              </a:rPr>
              <a:t>A platform for access and viewing – not a news brand.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DFDD7F6-1D56-F773-2B95-CF57D5A20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>
                <a:latin typeface="Gotham Black"/>
              </a:rPr>
              <a:t>29</a:t>
            </a:fld>
            <a:endParaRPr lang="sk-SK">
              <a:latin typeface="Gotham Black"/>
            </a:endParaRP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27F916E3-92BE-D206-B0C9-5E139223A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96" y="5869859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BlokTextu 14">
            <a:extLst>
              <a:ext uri="{FF2B5EF4-FFF2-40B4-BE49-F238E27FC236}">
                <a16:creationId xmlns:a16="http://schemas.microsoft.com/office/drawing/2014/main" id="{95CE06A5-B958-308B-908E-80E2E7531664}"/>
              </a:ext>
            </a:extLst>
          </p:cNvPr>
          <p:cNvSpPr txBox="1"/>
          <p:nvPr/>
        </p:nvSpPr>
        <p:spPr>
          <a:xfrm>
            <a:off x="683491" y="2959711"/>
            <a:ext cx="4005118" cy="1021556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tham Black"/>
              </a:rPr>
              <a:t>News brands</a:t>
            </a:r>
            <a:br>
              <a:rPr lang="en-US" dirty="0">
                <a:solidFill>
                  <a:schemeClr val="bg1"/>
                </a:solidFill>
                <a:latin typeface="Gotham Black"/>
              </a:rPr>
            </a:br>
            <a:r>
              <a:rPr lang="en-US" dirty="0">
                <a:solidFill>
                  <a:schemeClr val="bg1"/>
                </a:solidFill>
                <a:latin typeface="Gotham Black"/>
              </a:rPr>
              <a:t>Independent editorial voices. Full responsibility for content and trust.</a:t>
            </a:r>
          </a:p>
        </p:txBody>
      </p:sp>
    </p:spTree>
    <p:extLst>
      <p:ext uri="{BB962C8B-B14F-4D97-AF65-F5344CB8AC3E}">
        <p14:creationId xmlns:p14="http://schemas.microsoft.com/office/powerpoint/2010/main" val="2959816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C90C8-F7FE-2A76-7712-B944FA41F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9E9545-B594-4B76-0DB9-B86E8D34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2439"/>
            <a:ext cx="9901382" cy="656164"/>
          </a:xfrm>
        </p:spPr>
        <p:txBody>
          <a:bodyPr>
            <a:normAutofit/>
          </a:bodyPr>
          <a:lstStyle/>
          <a:p>
            <a:r>
              <a:rPr lang="sk-SK" sz="4000" b="1" dirty="0">
                <a:latin typeface="Gotham Black"/>
              </a:rPr>
              <a:t>Content &amp; Windowing Principles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6122590-1FF8-8DB6-4480-77FD5D2DE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889"/>
            <a:ext cx="11277600" cy="527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Gotham Black"/>
              </a:rPr>
              <a:t>Content leads. Windowing defines the experience.</a:t>
            </a:r>
            <a:endParaRPr lang="en-US" dirty="0">
              <a:latin typeface="Gotham Black"/>
            </a:endParaRPr>
          </a:p>
          <a:p>
            <a:endParaRPr lang="sk-SK" dirty="0">
              <a:latin typeface="Gotham Black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BA52C2DC-EE51-587E-EF91-A34E1D6354DB}"/>
              </a:ext>
            </a:extLst>
          </p:cNvPr>
          <p:cNvSpPr txBox="1"/>
          <p:nvPr/>
        </p:nvSpPr>
        <p:spPr>
          <a:xfrm>
            <a:off x="461818" y="2481282"/>
            <a:ext cx="563418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LIVE &amp; EVENT CONTENT </a:t>
            </a:r>
            <a:endParaRPr lang="sk-SK" sz="1600" b="1" dirty="0">
              <a:solidFill>
                <a:srgbClr val="DB9E0A"/>
              </a:solidFill>
              <a:latin typeface="Gotham Black"/>
            </a:endParaRPr>
          </a:p>
          <a:p>
            <a:pPr>
              <a:buNone/>
            </a:pP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(ESPECIALLY SPORT, BIG REALITY MOMENTS)</a:t>
            </a:r>
            <a:endParaRPr lang="cs-CZ" sz="1600" b="1" dirty="0">
              <a:solidFill>
                <a:srgbClr val="DB9E0A"/>
              </a:solidFill>
              <a:latin typeface="Gotham Black"/>
            </a:endParaRPr>
          </a:p>
          <a:p>
            <a:pPr>
              <a:buNone/>
            </a:pPr>
            <a:endParaRPr lang="en-US" sz="1600" b="1" dirty="0">
              <a:solidFill>
                <a:srgbClr val="DB9E0A"/>
              </a:solidFill>
              <a:latin typeface="Gotham Black"/>
            </a:endParaRPr>
          </a:p>
          <a:p>
            <a:r>
              <a:rPr lang="en-US" sz="1600" b="1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b="1" dirty="0">
                <a:solidFill>
                  <a:schemeClr val="bg1"/>
                </a:solidFill>
                <a:latin typeface="Gotham Black"/>
              </a:rPr>
              <a:t> and TV can both be live</a:t>
            </a:r>
            <a:endParaRPr lang="sk-SK" sz="1600" b="1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Gotham Black"/>
              </a:rPr>
              <a:t>TV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 amplifies national moments and mass reach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 enables: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more live content than linear can carry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choice of matches, angles, streams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immediate access for highly engaged fans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pPr lvl="1"/>
            <a:endParaRPr lang="en-US" sz="1600" dirty="0">
              <a:solidFill>
                <a:schemeClr val="bg1"/>
              </a:solidFill>
              <a:latin typeface="Gotham Black"/>
            </a:endParaRP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Gotham Black"/>
              </a:rPr>
              <a:t>Rule:</a:t>
            </a:r>
            <a:br>
              <a:rPr lang="en-US" sz="1600" dirty="0">
                <a:solidFill>
                  <a:schemeClr val="bg1"/>
                </a:solidFill>
                <a:latin typeface="Gotham Black"/>
              </a:rPr>
            </a:br>
            <a:r>
              <a:rPr lang="en-US" sz="1600" dirty="0">
                <a:solidFill>
                  <a:schemeClr val="bg1"/>
                </a:solidFill>
                <a:latin typeface="Gotham Black"/>
              </a:rPr>
              <a:t>If it’s about </a:t>
            </a:r>
            <a:r>
              <a:rPr lang="en-US" sz="1600" b="1" dirty="0">
                <a:solidFill>
                  <a:schemeClr val="bg1"/>
                </a:solidFill>
                <a:latin typeface="Gotham Black"/>
              </a:rPr>
              <a:t>breadth and shared national attention → TV leads</a:t>
            </a:r>
            <a:br>
              <a:rPr lang="en-US" sz="1600" dirty="0">
                <a:solidFill>
                  <a:schemeClr val="bg1"/>
                </a:solidFill>
                <a:latin typeface="Gotham Black"/>
              </a:rPr>
            </a:br>
            <a:r>
              <a:rPr lang="en-US" sz="1600" dirty="0">
                <a:solidFill>
                  <a:schemeClr val="bg1"/>
                </a:solidFill>
                <a:latin typeface="Gotham Black"/>
              </a:rPr>
              <a:t>If it’s about </a:t>
            </a:r>
            <a:r>
              <a:rPr lang="en-US" sz="1600" b="1" dirty="0">
                <a:solidFill>
                  <a:schemeClr val="bg1"/>
                </a:solidFill>
                <a:latin typeface="Gotham Black"/>
              </a:rPr>
              <a:t>depth, volume, or choice → </a:t>
            </a:r>
            <a:r>
              <a:rPr lang="en-US" sz="1600" b="1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b="1" dirty="0">
                <a:solidFill>
                  <a:schemeClr val="bg1"/>
                </a:solidFill>
                <a:latin typeface="Gotham Black"/>
              </a:rPr>
              <a:t> leads</a:t>
            </a:r>
            <a:endParaRPr lang="en-US" sz="16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9FA3DB30-74BF-8943-43D7-4A68E90ACD8B}"/>
              </a:ext>
            </a:extLst>
          </p:cNvPr>
          <p:cNvSpPr txBox="1"/>
          <p:nvPr/>
        </p:nvSpPr>
        <p:spPr>
          <a:xfrm>
            <a:off x="6324600" y="2451606"/>
            <a:ext cx="564341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SCHEDULED SHOWS &amp; REALITY FORMATS</a:t>
            </a:r>
          </a:p>
          <a:p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Viewing 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behaviour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 depends on </a:t>
            </a:r>
            <a:r>
              <a:rPr lang="en-US" sz="1600" b="1" dirty="0">
                <a:solidFill>
                  <a:schemeClr val="bg1"/>
                </a:solidFill>
                <a:latin typeface="Gotham Black"/>
              </a:rPr>
              <a:t>audience, not schedule</a:t>
            </a:r>
            <a:endParaRPr lang="en-US" sz="16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Younger and digitally native audiences often: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watch </a:t>
            </a:r>
            <a:r>
              <a:rPr lang="en-US" sz="1600" b="1" dirty="0">
                <a:solidFill>
                  <a:schemeClr val="bg1"/>
                </a:solidFill>
                <a:latin typeface="Gotham Black"/>
              </a:rPr>
              <a:t>on VOYO first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, even for “Thursday night shows”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expect </a:t>
            </a:r>
            <a:r>
              <a:rPr lang="en-US" sz="1600" b="1" dirty="0">
                <a:solidFill>
                  <a:schemeClr val="bg1"/>
                </a:solidFill>
                <a:latin typeface="Gotham Black"/>
              </a:rPr>
              <a:t>instant access to avoid spoilers</a:t>
            </a:r>
            <a:endParaRPr lang="en-US" sz="16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TV still creates awareness and rhythm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VOYO captures </a:t>
            </a:r>
            <a:r>
              <a:rPr lang="en-US" sz="1600" b="1" dirty="0">
                <a:solidFill>
                  <a:schemeClr val="bg1"/>
                </a:solidFill>
                <a:latin typeface="Gotham Black"/>
              </a:rPr>
              <a:t>the core fan viewing</a:t>
            </a:r>
            <a:endParaRPr lang="en-US" sz="1600" dirty="0">
              <a:solidFill>
                <a:schemeClr val="bg1"/>
              </a:solidFill>
              <a:latin typeface="Gotham Black"/>
            </a:endParaRPr>
          </a:p>
          <a:p>
            <a:pPr>
              <a:buNone/>
            </a:pPr>
            <a:endParaRPr lang="sk-SK" sz="1600" b="1" dirty="0">
              <a:solidFill>
                <a:schemeClr val="bg1"/>
              </a:solidFill>
              <a:latin typeface="Gotham Black"/>
            </a:endParaRPr>
          </a:p>
          <a:p>
            <a:pPr>
              <a:buNone/>
            </a:pPr>
            <a:endParaRPr lang="sk-SK" sz="1600" b="1" dirty="0">
              <a:solidFill>
                <a:schemeClr val="bg1"/>
              </a:solidFill>
              <a:latin typeface="Gotham Black"/>
            </a:endParaRP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Gotham Black"/>
              </a:rPr>
              <a:t>Rule:</a:t>
            </a:r>
            <a:br>
              <a:rPr lang="en-US" sz="1600" dirty="0">
                <a:solidFill>
                  <a:schemeClr val="bg1"/>
                </a:solidFill>
                <a:latin typeface="Gotham Black"/>
              </a:rPr>
            </a:br>
            <a:r>
              <a:rPr lang="en-US" sz="1600" dirty="0">
                <a:solidFill>
                  <a:schemeClr val="bg1"/>
                </a:solidFill>
                <a:latin typeface="Gotham Black"/>
              </a:rPr>
              <a:t>If spoilers matter and fandom is digital → </a:t>
            </a:r>
            <a:r>
              <a:rPr lang="en-US" sz="1600" b="1" dirty="0">
                <a:solidFill>
                  <a:schemeClr val="bg1"/>
                </a:solidFill>
                <a:latin typeface="Gotham Black"/>
              </a:rPr>
              <a:t>VOYO must lead access</a:t>
            </a:r>
            <a:endParaRPr lang="en-US" sz="16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98EB374-240B-A88F-469B-445EFBAD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30</a:t>
            </a:fld>
            <a:endParaRPr lang="sk-SK"/>
          </a:p>
        </p:txBody>
      </p:sp>
      <p:cxnSp>
        <p:nvCxnSpPr>
          <p:cNvPr id="6" name="Rovná spojnica 4">
            <a:extLst>
              <a:ext uri="{FF2B5EF4-FFF2-40B4-BE49-F238E27FC236}">
                <a16:creationId xmlns:a16="http://schemas.microsoft.com/office/drawing/2014/main" id="{89ECEF61-AB2D-5F10-B615-C1587DE3DF55}"/>
              </a:ext>
            </a:extLst>
          </p:cNvPr>
          <p:cNvCxnSpPr>
            <a:cxnSpLocks/>
          </p:cNvCxnSpPr>
          <p:nvPr/>
        </p:nvCxnSpPr>
        <p:spPr>
          <a:xfrm>
            <a:off x="5698477" y="3317506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993287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1CD9D4-2720-878A-4875-25A0442E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6497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Content &amp; Windowing Principles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CB13A2E-DDFC-42D8-A56C-681ECA463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863" y="2727854"/>
            <a:ext cx="7154762" cy="32591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Gotham Black"/>
              </a:rPr>
              <a:t>Simple decision check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Gotham Black"/>
              </a:rPr>
              <a:t>Ask first:</a:t>
            </a:r>
            <a:r>
              <a:rPr lang="sk-SK" sz="2400" dirty="0">
                <a:latin typeface="Gotham Black"/>
              </a:rPr>
              <a:t> </a:t>
            </a:r>
            <a:r>
              <a:rPr lang="en-US" sz="2400" b="1" dirty="0">
                <a:latin typeface="Gotham Black"/>
              </a:rPr>
              <a:t>“Why would someone watch this right now?”</a:t>
            </a:r>
            <a:endParaRPr lang="en-US" sz="2400" dirty="0">
              <a:latin typeface="Gotham Black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Gotham Black"/>
              </a:rPr>
              <a:t>Because it’s </a:t>
            </a:r>
            <a:r>
              <a:rPr lang="en-US" sz="2000" b="1" dirty="0">
                <a:latin typeface="Gotham Black"/>
              </a:rPr>
              <a:t>happening now / big shared moment</a:t>
            </a:r>
            <a:r>
              <a:rPr lang="en-US" sz="2000" dirty="0">
                <a:latin typeface="Gotham Black"/>
              </a:rPr>
              <a:t> → lean TV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Gotham Black"/>
              </a:rPr>
              <a:t>Because they </a:t>
            </a:r>
            <a:r>
              <a:rPr lang="en-US" sz="2000" b="1" dirty="0">
                <a:latin typeface="Gotham Black"/>
              </a:rPr>
              <a:t>don’t want to miss out / be spoiled / choose freely</a:t>
            </a:r>
            <a:r>
              <a:rPr lang="en-US" sz="2000" dirty="0">
                <a:latin typeface="Gotham Black"/>
              </a:rPr>
              <a:t> → lean VOYO</a:t>
            </a:r>
          </a:p>
          <a:p>
            <a:pPr>
              <a:lnSpc>
                <a:spcPct val="100000"/>
              </a:lnSpc>
            </a:pPr>
            <a:endParaRPr lang="sk-SK" sz="24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CABFA05-8B5B-0B4D-CD39-494C3206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31</a:t>
            </a:fld>
            <a:endParaRPr lang="sk-S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D434E6-C97B-C194-B17E-D0F2EBFAB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93" y="2910415"/>
            <a:ext cx="2108041" cy="2108041"/>
          </a:xfrm>
          <a:prstGeom prst="rect">
            <a:avLst/>
          </a:prstGeom>
        </p:spPr>
      </p:pic>
      <p:cxnSp>
        <p:nvCxnSpPr>
          <p:cNvPr id="7" name="Rovná spojnica 4">
            <a:extLst>
              <a:ext uri="{FF2B5EF4-FFF2-40B4-BE49-F238E27FC236}">
                <a16:creationId xmlns:a16="http://schemas.microsoft.com/office/drawing/2014/main" id="{6651A00B-8C0E-7723-3A7F-DC1F5F460A8B}"/>
              </a:ext>
            </a:extLst>
          </p:cNvPr>
          <p:cNvCxnSpPr>
            <a:cxnSpLocks/>
          </p:cNvCxnSpPr>
          <p:nvPr/>
        </p:nvCxnSpPr>
        <p:spPr>
          <a:xfrm>
            <a:off x="3452598" y="3424807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866846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594FD6-20EA-7078-9406-8D24DAAF9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554290"/>
            <a:ext cx="11277599" cy="715882"/>
          </a:xfrm>
        </p:spPr>
        <p:txBody>
          <a:bodyPr>
            <a:noAutofit/>
          </a:bodyPr>
          <a:lstStyle/>
          <a:p>
            <a:r>
              <a:rPr lang="sk-SK" sz="3200" b="1" dirty="0" err="1">
                <a:latin typeface="Gotham Black"/>
              </a:rPr>
              <a:t>Communication</a:t>
            </a:r>
            <a:r>
              <a:rPr lang="sk-SK" sz="3200" b="1" dirty="0">
                <a:latin typeface="Gotham Black"/>
              </a:rPr>
              <a:t> </a:t>
            </a:r>
            <a:r>
              <a:rPr lang="sk-SK" sz="3200" b="1" dirty="0" err="1">
                <a:latin typeface="Gotham Black"/>
              </a:rPr>
              <a:t>Architecture</a:t>
            </a:r>
            <a:r>
              <a:rPr lang="sk-SK" sz="3200" b="1" dirty="0">
                <a:latin typeface="Gotham Black"/>
              </a:rPr>
              <a:t>: </a:t>
            </a:r>
            <a:br>
              <a:rPr lang="sk-SK" sz="3200" b="1" dirty="0">
                <a:latin typeface="Gotham Black"/>
              </a:rPr>
            </a:br>
            <a:r>
              <a:rPr lang="sk-SK" sz="3200" dirty="0" err="1">
                <a:latin typeface="Gotham Black"/>
              </a:rPr>
              <a:t>Brand</a:t>
            </a:r>
            <a:r>
              <a:rPr lang="sk-SK" sz="3200" dirty="0">
                <a:latin typeface="Gotham Black"/>
              </a:rPr>
              <a:t> </a:t>
            </a:r>
            <a:r>
              <a:rPr lang="sk-SK" sz="3200" dirty="0" err="1">
                <a:latin typeface="Gotham Black"/>
              </a:rPr>
              <a:t>vs</a:t>
            </a:r>
            <a:r>
              <a:rPr lang="sk-SK" sz="3200" dirty="0">
                <a:latin typeface="Gotham Black"/>
              </a:rPr>
              <a:t> </a:t>
            </a:r>
            <a:r>
              <a:rPr lang="sk-SK" sz="3200" dirty="0" err="1">
                <a:latin typeface="Gotham Black"/>
              </a:rPr>
              <a:t>Platform</a:t>
            </a:r>
            <a:r>
              <a:rPr lang="sk-SK" sz="3200" dirty="0">
                <a:latin typeface="Gotham Black"/>
              </a:rPr>
              <a:t> </a:t>
            </a:r>
            <a:r>
              <a:rPr lang="sk-SK" sz="3200" dirty="0" err="1">
                <a:latin typeface="Gotham Black"/>
              </a:rPr>
              <a:t>vs</a:t>
            </a:r>
            <a:r>
              <a:rPr lang="sk-SK" sz="3200" dirty="0">
                <a:latin typeface="Gotham Black"/>
              </a:rPr>
              <a:t> </a:t>
            </a:r>
            <a:r>
              <a:rPr lang="sk-SK" sz="3200" dirty="0" err="1">
                <a:latin typeface="Gotham Black"/>
              </a:rPr>
              <a:t>Content</a:t>
            </a:r>
            <a:endParaRPr lang="sk-SK" sz="3200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7384249-872B-329A-CEC2-4EAB72F1B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760800"/>
            <a:ext cx="11277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Every touchpoint contains all three layers — but one layer always leads.</a:t>
            </a:r>
            <a:endParaRPr lang="sk-SK" sz="1800" dirty="0">
              <a:latin typeface="Gotham Black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EE31E627-7E39-4B2A-DBD4-AD2682ECF4BE}"/>
              </a:ext>
            </a:extLst>
          </p:cNvPr>
          <p:cNvSpPr/>
          <p:nvPr/>
        </p:nvSpPr>
        <p:spPr>
          <a:xfrm>
            <a:off x="452582" y="3505522"/>
            <a:ext cx="11268365" cy="131412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68A847C-6ACA-6A73-D2BB-EF6B356C6551}"/>
              </a:ext>
            </a:extLst>
          </p:cNvPr>
          <p:cNvSpPr/>
          <p:nvPr/>
        </p:nvSpPr>
        <p:spPr>
          <a:xfrm>
            <a:off x="628650" y="3642682"/>
            <a:ext cx="10564092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PLATFORM</a:t>
            </a:r>
            <a:r>
              <a:rPr lang="sk-SK" sz="1400" b="1" dirty="0">
                <a:solidFill>
                  <a:schemeClr val="bg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 </a:t>
            </a:r>
            <a:r>
              <a:rPr lang="sk-SK" sz="1400" dirty="0">
                <a:solidFill>
                  <a:schemeClr val="bg1"/>
                </a:solidFill>
                <a:latin typeface="Gotham Black"/>
              </a:rPr>
              <a:t>(when VOYO leads)</a:t>
            </a:r>
            <a:endParaRPr lang="en-US" sz="14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9E6534DA-C11A-0F97-7CC3-99DF3D142CBD}"/>
              </a:ext>
            </a:extLst>
          </p:cNvPr>
          <p:cNvSpPr/>
          <p:nvPr/>
        </p:nvSpPr>
        <p:spPr>
          <a:xfrm>
            <a:off x="628650" y="3918435"/>
            <a:ext cx="2527836" cy="777240"/>
          </a:xfrm>
          <a:prstGeom prst="roundRect">
            <a:avLst/>
          </a:prstGeom>
          <a:noFill/>
          <a:ln w="25400">
            <a:noFill/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Gotham Black"/>
              </a:rPr>
              <a:t>Watch first</a:t>
            </a:r>
            <a:br>
              <a:rPr lang="en-US" sz="1200" dirty="0">
                <a:solidFill>
                  <a:schemeClr val="bg1"/>
                </a:solidFill>
                <a:latin typeface="Gotham Black"/>
              </a:rPr>
            </a:br>
            <a:r>
              <a:rPr lang="en-US" sz="1200" dirty="0">
                <a:solidFill>
                  <a:schemeClr val="bg1"/>
                </a:solidFill>
                <a:latin typeface="Gotham Black"/>
              </a:rPr>
              <a:t>Early access, being ahead of the conversation, spoiler </a:t>
            </a:r>
            <a:r>
              <a:rPr lang="en-US" sz="1200" dirty="0" err="1">
                <a:solidFill>
                  <a:schemeClr val="bg1"/>
                </a:solidFill>
                <a:latin typeface="Gotham Black"/>
              </a:rPr>
              <a:t>dvantage</a:t>
            </a:r>
            <a:endParaRPr lang="en-GB" sz="12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D4C47E6-E33F-45CA-1D38-8108A0F75592}"/>
              </a:ext>
            </a:extLst>
          </p:cNvPr>
          <p:cNvSpPr/>
          <p:nvPr/>
        </p:nvSpPr>
        <p:spPr>
          <a:xfrm>
            <a:off x="3348491" y="3924381"/>
            <a:ext cx="2527836" cy="777240"/>
          </a:xfrm>
          <a:prstGeom prst="roundRect">
            <a:avLst/>
          </a:prstGeom>
          <a:noFill/>
          <a:ln w="28575">
            <a:noFill/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Gotham Black"/>
              </a:rPr>
              <a:t>Watch more</a:t>
            </a:r>
            <a:br>
              <a:rPr lang="en-US" sz="1200" b="1" dirty="0">
                <a:solidFill>
                  <a:schemeClr val="bg1"/>
                </a:solidFill>
                <a:latin typeface="Gotham Black"/>
              </a:rPr>
            </a:br>
            <a:r>
              <a:rPr lang="en-US" sz="1200" dirty="0">
                <a:solidFill>
                  <a:schemeClr val="bg1"/>
                </a:solidFill>
                <a:latin typeface="Gotham Black"/>
              </a:rPr>
              <a:t>Full seasons, depth, continuity beyond a single moment</a:t>
            </a:r>
            <a:endParaRPr lang="en-GB" sz="12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C3A7188-8BEF-5331-11AA-1DCC7A903C16}"/>
              </a:ext>
            </a:extLst>
          </p:cNvPr>
          <p:cNvSpPr/>
          <p:nvPr/>
        </p:nvSpPr>
        <p:spPr>
          <a:xfrm>
            <a:off x="6096599" y="3918435"/>
            <a:ext cx="2527836" cy="777240"/>
          </a:xfrm>
          <a:prstGeom prst="roundRect">
            <a:avLst/>
          </a:prstGeom>
          <a:noFill/>
          <a:ln w="25400">
            <a:noFill/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Gotham Black"/>
              </a:rPr>
              <a:t>Watch anytime</a:t>
            </a:r>
            <a:br>
              <a:rPr lang="en-US" sz="1200" b="1" dirty="0">
                <a:solidFill>
                  <a:schemeClr val="bg1"/>
                </a:solidFill>
                <a:latin typeface="Gotham Black"/>
              </a:rPr>
            </a:br>
            <a:r>
              <a:rPr lang="en-US" sz="1200" dirty="0">
                <a:solidFill>
                  <a:schemeClr val="bg1"/>
                </a:solidFill>
                <a:latin typeface="Gotham Black"/>
              </a:rPr>
              <a:t>Fits real life and real rhythms — live or on demand</a:t>
            </a:r>
            <a:endParaRPr lang="en-GB" sz="12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0C01D11D-43A7-3D4B-3B99-177A33CA550B}"/>
              </a:ext>
            </a:extLst>
          </p:cNvPr>
          <p:cNvSpPr/>
          <p:nvPr/>
        </p:nvSpPr>
        <p:spPr>
          <a:xfrm>
            <a:off x="8883116" y="3918435"/>
            <a:ext cx="2527836" cy="777240"/>
          </a:xfrm>
          <a:prstGeom prst="roundRect">
            <a:avLst/>
          </a:prstGeom>
          <a:noFill/>
          <a:ln w="25400">
            <a:noFill/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Gotham Black"/>
              </a:rPr>
              <a:t>Fair value</a:t>
            </a:r>
            <a:br>
              <a:rPr lang="en-US" sz="1200" b="1" dirty="0">
                <a:solidFill>
                  <a:schemeClr val="bg1"/>
                </a:solidFill>
                <a:latin typeface="Gotham Black"/>
              </a:rPr>
            </a:br>
            <a:r>
              <a:rPr lang="en-US" sz="1200" dirty="0">
                <a:solidFill>
                  <a:schemeClr val="bg1"/>
                </a:solidFill>
                <a:latin typeface="Gotham Black"/>
              </a:rPr>
              <a:t>Clear pricing, no tricks, worth paying for</a:t>
            </a:r>
            <a:endParaRPr lang="en-GB" sz="12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8603E449-1B44-8BA6-A567-455AA26730AB}"/>
              </a:ext>
            </a:extLst>
          </p:cNvPr>
          <p:cNvSpPr/>
          <p:nvPr/>
        </p:nvSpPr>
        <p:spPr>
          <a:xfrm>
            <a:off x="452582" y="4968563"/>
            <a:ext cx="11286834" cy="131412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A00A64A-0B7A-1AEC-E2C1-36303DFE0D4C}"/>
              </a:ext>
            </a:extLst>
          </p:cNvPr>
          <p:cNvSpPr/>
          <p:nvPr/>
        </p:nvSpPr>
        <p:spPr>
          <a:xfrm>
            <a:off x="628650" y="5151130"/>
            <a:ext cx="10708065" cy="71679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CONTENT </a:t>
            </a:r>
            <a:r>
              <a:rPr lang="en-US" sz="1400" dirty="0">
                <a:solidFill>
                  <a:schemeClr val="bg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(shows / IP) </a:t>
            </a:r>
            <a:r>
              <a:rPr lang="sk-SK" sz="1400" dirty="0">
                <a:solidFill>
                  <a:schemeClr val="bg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–</a:t>
            </a:r>
            <a:r>
              <a:rPr lang="en-US" sz="1400" dirty="0">
                <a:solidFill>
                  <a:schemeClr val="bg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 the</a:t>
            </a:r>
            <a:r>
              <a:rPr lang="sk-SK" sz="1400" dirty="0">
                <a:solidFill>
                  <a:schemeClr val="bg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 hero</a:t>
            </a:r>
            <a:endParaRPr lang="sk-SK" sz="1400" dirty="0">
              <a:solidFill>
                <a:schemeClr val="bg1"/>
              </a:solidFill>
              <a:latin typeface="Gotham Black"/>
              <a:cs typeface="Segoe UI" pitchFamily="34" charset="-120"/>
            </a:endParaRPr>
          </a:p>
          <a:p>
            <a:r>
              <a:rPr lang="en-US" sz="1400" dirty="0">
                <a:solidFill>
                  <a:schemeClr val="bg1"/>
                </a:solidFill>
                <a:latin typeface="Gotham Black"/>
              </a:rPr>
              <a:t>Content is always the main message.</a:t>
            </a:r>
            <a:br>
              <a:rPr lang="en-US" sz="1400" dirty="0">
                <a:solidFill>
                  <a:schemeClr val="bg1"/>
                </a:solidFill>
                <a:latin typeface="Gotham Black"/>
              </a:rPr>
            </a:br>
            <a:r>
              <a:rPr lang="en-US" sz="1400" dirty="0">
                <a:solidFill>
                  <a:schemeClr val="bg1"/>
                </a:solidFill>
                <a:latin typeface="Gotham Black"/>
              </a:rPr>
              <a:t>Platform benefits </a:t>
            </a:r>
            <a:r>
              <a:rPr lang="en-US" sz="1400" b="1" dirty="0">
                <a:solidFill>
                  <a:schemeClr val="bg1"/>
                </a:solidFill>
                <a:latin typeface="Gotham Black"/>
              </a:rPr>
              <a:t>never replace the story</a:t>
            </a:r>
            <a:r>
              <a:rPr lang="sk-SK" sz="1400" b="1" dirty="0">
                <a:solidFill>
                  <a:schemeClr val="bg1"/>
                </a:solidFill>
                <a:latin typeface="Gotham Black"/>
              </a:rPr>
              <a:t>,</a:t>
            </a:r>
            <a:r>
              <a:rPr lang="en-US" sz="1400" dirty="0">
                <a:solidFill>
                  <a:schemeClr val="bg1"/>
                </a:solidFill>
                <a:latin typeface="Gotham Black"/>
              </a:rPr>
              <a:t> they frame how it is accessed</a:t>
            </a:r>
          </a:p>
        </p:txBody>
      </p:sp>
      <p:sp>
        <p:nvSpPr>
          <p:cNvPr id="5" name="Text 41">
            <a:extLst>
              <a:ext uri="{FF2B5EF4-FFF2-40B4-BE49-F238E27FC236}">
                <a16:creationId xmlns:a16="http://schemas.microsoft.com/office/drawing/2014/main" id="{858A6E21-5FEB-AE85-DFA5-EE55CE844205}"/>
              </a:ext>
            </a:extLst>
          </p:cNvPr>
          <p:cNvSpPr/>
          <p:nvPr/>
        </p:nvSpPr>
        <p:spPr>
          <a:xfrm>
            <a:off x="7753350" y="2373537"/>
            <a:ext cx="3326823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sz="1400" b="1" dirty="0">
                <a:solidFill>
                  <a:schemeClr val="bg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KEY RULE</a:t>
            </a:r>
          </a:p>
          <a:p>
            <a:r>
              <a:rPr lang="en-US" sz="1400" dirty="0">
                <a:solidFill>
                  <a:schemeClr val="bg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Same show, same world</a:t>
            </a:r>
            <a:r>
              <a:rPr lang="sk-SK" sz="1400" dirty="0">
                <a:solidFill>
                  <a:schemeClr val="bg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400" dirty="0">
                <a:solidFill>
                  <a:schemeClr val="bg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but different benefits &amp; CTAs for TV vs VOYO</a:t>
            </a:r>
            <a:endParaRPr lang="en-US" sz="14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961C899F-64BD-C0BC-BFAD-F225054DA705}"/>
              </a:ext>
            </a:extLst>
          </p:cNvPr>
          <p:cNvSpPr txBox="1"/>
          <p:nvPr/>
        </p:nvSpPr>
        <p:spPr>
          <a:xfrm>
            <a:off x="628650" y="2193839"/>
            <a:ext cx="6094476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sk-SK" sz="1400" b="1" dirty="0">
                <a:solidFill>
                  <a:schemeClr val="bg1"/>
                </a:solidFill>
                <a:latin typeface="Gotham Black"/>
              </a:rPr>
              <a:t>BRAND</a:t>
            </a:r>
          </a:p>
          <a:p>
            <a:r>
              <a:rPr lang="sk-SK" sz="1400" i="1" dirty="0" err="1">
                <a:solidFill>
                  <a:schemeClr val="bg1"/>
                </a:solidFill>
                <a:latin typeface="Gotham Black"/>
              </a:rPr>
              <a:t>The</a:t>
            </a:r>
            <a:r>
              <a:rPr lang="sk-SK" sz="1400" i="1" dirty="0">
                <a:solidFill>
                  <a:schemeClr val="bg1"/>
                </a:solidFill>
                <a:latin typeface="Gotham Black"/>
              </a:rPr>
              <a:t> </a:t>
            </a:r>
            <a:r>
              <a:rPr lang="sk-SK" sz="1400" i="1" dirty="0" err="1">
                <a:solidFill>
                  <a:schemeClr val="bg1"/>
                </a:solidFill>
                <a:latin typeface="Gotham Black"/>
              </a:rPr>
              <a:t>constant</a:t>
            </a:r>
            <a:r>
              <a:rPr lang="sk-SK" sz="1400" i="1" dirty="0">
                <a:solidFill>
                  <a:schemeClr val="bg1"/>
                </a:solidFill>
                <a:latin typeface="Gotham Black"/>
              </a:rPr>
              <a:t> </a:t>
            </a:r>
            <a:r>
              <a:rPr lang="sk-SK" sz="1400" i="1" dirty="0" err="1">
                <a:solidFill>
                  <a:schemeClr val="bg1"/>
                </a:solidFill>
                <a:latin typeface="Gotham Black"/>
              </a:rPr>
              <a:t>frame</a:t>
            </a:r>
            <a:endParaRPr lang="sk-SK" sz="1400" i="1" dirty="0">
              <a:solidFill>
                <a:schemeClr val="bg1"/>
              </a:solidFill>
              <a:latin typeface="Gotham Black"/>
            </a:endParaRPr>
          </a:p>
          <a:p>
            <a:r>
              <a:rPr lang="en-US" sz="1400" b="1" dirty="0">
                <a:solidFill>
                  <a:schemeClr val="bg1"/>
                </a:solidFill>
                <a:latin typeface="Gotham Black"/>
              </a:rPr>
              <a:t>Promise • Personality • Emotions • Local relevance</a:t>
            </a:r>
            <a:endParaRPr lang="en-US" sz="14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400" dirty="0">
                <a:solidFill>
                  <a:schemeClr val="bg1"/>
                </a:solidFill>
                <a:latin typeface="Gotham Black"/>
              </a:rPr>
              <a:t>Brand sets the tone, not the topic</a:t>
            </a:r>
            <a:endParaRPr lang="sk-SK" sz="14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8" name="Zástupný objekt pre číslo snímky 7">
            <a:extLst>
              <a:ext uri="{FF2B5EF4-FFF2-40B4-BE49-F238E27FC236}">
                <a16:creationId xmlns:a16="http://schemas.microsoft.com/office/drawing/2014/main" id="{B9F02EEC-9AF9-8594-141B-AE90CE16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32</a:t>
            </a:fld>
            <a:endParaRPr lang="sk-SK"/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BE8A457F-3583-952E-C52D-90A3C44D532B}"/>
              </a:ext>
            </a:extLst>
          </p:cNvPr>
          <p:cNvSpPr/>
          <p:nvPr/>
        </p:nvSpPr>
        <p:spPr>
          <a:xfrm>
            <a:off x="433533" y="2100111"/>
            <a:ext cx="11286834" cy="131412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>
              <a:solidFill>
                <a:schemeClr val="bg1"/>
              </a:solidFill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1574927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5323D3-367A-E871-E392-AD3445348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82" y="619894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What</a:t>
            </a:r>
            <a:r>
              <a:rPr lang="sk-SK" b="1" dirty="0">
                <a:latin typeface="Gotham Black"/>
              </a:rPr>
              <a:t> </a:t>
            </a:r>
            <a:r>
              <a:rPr lang="sk-SK" b="1" dirty="0" err="1">
                <a:latin typeface="Gotham Black"/>
              </a:rPr>
              <a:t>leads</a:t>
            </a:r>
            <a:r>
              <a:rPr lang="sk-SK" dirty="0">
                <a:latin typeface="Gotham Black"/>
              </a:rPr>
              <a:t>, and </a:t>
            </a:r>
            <a:r>
              <a:rPr lang="sk-SK" dirty="0" err="1">
                <a:latin typeface="Gotham Black"/>
              </a:rPr>
              <a:t>why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F585E30-A682-2AF6-1B42-8F78AECEE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582" y="1624031"/>
            <a:ext cx="11277600" cy="421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Every touchpoint contains brand, platform and content.</a:t>
            </a:r>
            <a:r>
              <a:rPr lang="sk-SK" sz="1800" dirty="0">
                <a:latin typeface="Gotham Black"/>
              </a:rPr>
              <a:t> </a:t>
            </a:r>
            <a:r>
              <a:rPr lang="en-US" sz="1800" dirty="0">
                <a:latin typeface="Gotham Black"/>
              </a:rPr>
              <a:t>But one must lead.</a:t>
            </a:r>
            <a:endParaRPr lang="sk-SK" sz="1800" dirty="0">
              <a:latin typeface="Gotham Black"/>
            </a:endParaRPr>
          </a:p>
        </p:txBody>
      </p:sp>
      <p:sp>
        <p:nvSpPr>
          <p:cNvPr id="4" name="Shape 21">
            <a:extLst>
              <a:ext uri="{FF2B5EF4-FFF2-40B4-BE49-F238E27FC236}">
                <a16:creationId xmlns:a16="http://schemas.microsoft.com/office/drawing/2014/main" id="{62F11288-0028-7A62-F0B7-90A9CAAAD37C}"/>
              </a:ext>
            </a:extLst>
          </p:cNvPr>
          <p:cNvSpPr/>
          <p:nvPr/>
        </p:nvSpPr>
        <p:spPr>
          <a:xfrm>
            <a:off x="433533" y="2147264"/>
            <a:ext cx="11286834" cy="918781"/>
          </a:xfrm>
          <a:prstGeom prst="round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k-SK">
                <a:solidFill>
                  <a:schemeClr val="lt1"/>
                </a:solidFill>
                <a:latin typeface="Gotham Black"/>
              </a:rPr>
              <a:t>Non-negociables</a:t>
            </a:r>
            <a:endParaRPr lang="sk-SK" dirty="0">
              <a:solidFill>
                <a:schemeClr val="lt1"/>
              </a:solidFill>
              <a:latin typeface="Gotham Black"/>
            </a:endParaRPr>
          </a:p>
          <a:p>
            <a:pPr algn="ctr"/>
            <a:endParaRPr lang="sk-SK" dirty="0">
              <a:solidFill>
                <a:schemeClr val="lt1"/>
              </a:solidFill>
              <a:latin typeface="Gotham Black"/>
            </a:endParaRPr>
          </a:p>
        </p:txBody>
      </p:sp>
      <p:graphicFrame>
        <p:nvGraphicFramePr>
          <p:cNvPr id="7" name="Tabuľka 6">
            <a:extLst>
              <a:ext uri="{FF2B5EF4-FFF2-40B4-BE49-F238E27FC236}">
                <a16:creationId xmlns:a16="http://schemas.microsoft.com/office/drawing/2014/main" id="{FA8D43CF-52B4-E1C8-AAAF-5087C13D6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167780"/>
              </p:ext>
            </p:extLst>
          </p:nvPr>
        </p:nvGraphicFramePr>
        <p:xfrm>
          <a:off x="443348" y="2653320"/>
          <a:ext cx="1128683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2278">
                  <a:extLst>
                    <a:ext uri="{9D8B030D-6E8A-4147-A177-3AD203B41FA5}">
                      <a16:colId xmlns:a16="http://schemas.microsoft.com/office/drawing/2014/main" val="3498321507"/>
                    </a:ext>
                  </a:extLst>
                </a:gridCol>
                <a:gridCol w="3762278">
                  <a:extLst>
                    <a:ext uri="{9D8B030D-6E8A-4147-A177-3AD203B41FA5}">
                      <a16:colId xmlns:a16="http://schemas.microsoft.com/office/drawing/2014/main" val="1425191936"/>
                    </a:ext>
                  </a:extLst>
                </a:gridCol>
                <a:gridCol w="3762278">
                  <a:extLst>
                    <a:ext uri="{9D8B030D-6E8A-4147-A177-3AD203B41FA5}">
                      <a16:colId xmlns:a16="http://schemas.microsoft.com/office/drawing/2014/main" val="395784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1.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Content is the hero.</a:t>
                      </a:r>
                      <a:r>
                        <a:rPr lang="sk-SK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 		</a:t>
                      </a:r>
                      <a:endParaRPr lang="sk-SK" sz="12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2.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TV builds reach and shared moments.</a:t>
                      </a:r>
                      <a:r>
                        <a:rPr lang="sk-SK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endParaRPr lang="sk-SK" sz="12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3.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VOYO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 extends access, continuity and flex</a:t>
                      </a:r>
                      <a:endParaRPr lang="sk-SK" sz="12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512731"/>
                  </a:ext>
                </a:extLst>
              </a:tr>
            </a:tbl>
          </a:graphicData>
        </a:graphic>
      </p:graphicFrame>
      <p:sp>
        <p:nvSpPr>
          <p:cNvPr id="8" name="Shape 21">
            <a:extLst>
              <a:ext uri="{FF2B5EF4-FFF2-40B4-BE49-F238E27FC236}">
                <a16:creationId xmlns:a16="http://schemas.microsoft.com/office/drawing/2014/main" id="{163FE6BA-FE06-83B0-43D0-FB1701325D7F}"/>
              </a:ext>
            </a:extLst>
          </p:cNvPr>
          <p:cNvSpPr/>
          <p:nvPr/>
        </p:nvSpPr>
        <p:spPr>
          <a:xfrm>
            <a:off x="443348" y="3229584"/>
            <a:ext cx="2679231" cy="316148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>
                <a:solidFill>
                  <a:schemeClr val="bg1"/>
                </a:solidFill>
                <a:latin typeface="Gotham Black"/>
              </a:rPr>
              <a:t>OBJECTIVE</a:t>
            </a:r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3E4F9EFF-1693-D40E-6406-F0E957575256}"/>
              </a:ext>
            </a:extLst>
          </p:cNvPr>
          <p:cNvSpPr/>
          <p:nvPr/>
        </p:nvSpPr>
        <p:spPr>
          <a:xfrm>
            <a:off x="3318463" y="3229584"/>
            <a:ext cx="2679231" cy="316148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>
                <a:solidFill>
                  <a:schemeClr val="bg1"/>
                </a:solidFill>
                <a:latin typeface="Gotham Black"/>
              </a:rPr>
              <a:t>LEAD LAYER</a:t>
            </a:r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A083956F-A2A6-1303-CD32-B17C868F9F54}"/>
              </a:ext>
            </a:extLst>
          </p:cNvPr>
          <p:cNvSpPr/>
          <p:nvPr/>
        </p:nvSpPr>
        <p:spPr>
          <a:xfrm>
            <a:off x="6185072" y="3229584"/>
            <a:ext cx="2679231" cy="316148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>
                <a:solidFill>
                  <a:schemeClr val="bg1"/>
                </a:solidFill>
                <a:latin typeface="Gotham Black"/>
              </a:rPr>
              <a:t>SUPPORTING LAYER</a:t>
            </a:r>
          </a:p>
        </p:txBody>
      </p:sp>
      <p:sp>
        <p:nvSpPr>
          <p:cNvPr id="11" name="Shape 21">
            <a:extLst>
              <a:ext uri="{FF2B5EF4-FFF2-40B4-BE49-F238E27FC236}">
                <a16:creationId xmlns:a16="http://schemas.microsoft.com/office/drawing/2014/main" id="{DED2B991-C365-1873-8A45-12FF5CEE6C0B}"/>
              </a:ext>
            </a:extLst>
          </p:cNvPr>
          <p:cNvSpPr/>
          <p:nvPr/>
        </p:nvSpPr>
        <p:spPr>
          <a:xfrm>
            <a:off x="9060187" y="3229584"/>
            <a:ext cx="2679231" cy="3161488"/>
          </a:xfrm>
          <a:prstGeom prst="rect">
            <a:avLst/>
          </a:prstGeom>
          <a:noFill/>
          <a:ln w="3175">
            <a:solidFill>
              <a:srgbClr val="FFFBB1"/>
            </a:solidFill>
            <a:prstDash val="solid"/>
          </a:ln>
        </p:spPr>
        <p:txBody>
          <a:bodyPr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>
                <a:solidFill>
                  <a:schemeClr val="bg1"/>
                </a:solidFill>
                <a:latin typeface="Gotham Black"/>
              </a:rPr>
              <a:t>EXAMPLE OUTPUT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09489A68-4B20-47C4-BCF8-272C6E7DF6EC}"/>
              </a:ext>
            </a:extLst>
          </p:cNvPr>
          <p:cNvSpPr txBox="1"/>
          <p:nvPr/>
        </p:nvSpPr>
        <p:spPr>
          <a:xfrm>
            <a:off x="605546" y="4296863"/>
            <a:ext cx="234193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400" dirty="0">
                <a:solidFill>
                  <a:schemeClr val="bg1"/>
                </a:solidFill>
                <a:latin typeface="Gotham Black"/>
              </a:rPr>
              <a:t>Build long-term trust</a:t>
            </a:r>
          </a:p>
          <a:p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r>
              <a:rPr lang="sk-SK" sz="1400" dirty="0">
                <a:solidFill>
                  <a:schemeClr val="bg1"/>
                </a:solidFill>
                <a:latin typeface="Gotham Black"/>
              </a:rPr>
              <a:t>Drive subscriptions</a:t>
            </a:r>
          </a:p>
          <a:p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400" dirty="0">
                <a:solidFill>
                  <a:schemeClr val="bg1"/>
                </a:solidFill>
                <a:latin typeface="Gotham Black"/>
              </a:rPr>
              <a:t>Launch a show or event</a:t>
            </a:r>
            <a:endParaRPr lang="sk-SK" sz="14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7EABA7B3-8F0D-8F05-429A-6897D1C87742}"/>
              </a:ext>
            </a:extLst>
          </p:cNvPr>
          <p:cNvSpPr txBox="1"/>
          <p:nvPr/>
        </p:nvSpPr>
        <p:spPr>
          <a:xfrm>
            <a:off x="3555204" y="4296863"/>
            <a:ext cx="234193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defRPr sz="14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sk-SK" dirty="0">
                <a:latin typeface="Gotham Black"/>
              </a:rPr>
              <a:t>Brand leads</a:t>
            </a:r>
          </a:p>
          <a:p>
            <a:endParaRPr lang="sk-SK" dirty="0">
              <a:latin typeface="Gotham Black"/>
            </a:endParaRPr>
          </a:p>
          <a:p>
            <a:endParaRPr lang="sk-SK" dirty="0">
              <a:latin typeface="Gotham Black"/>
            </a:endParaRPr>
          </a:p>
          <a:p>
            <a:r>
              <a:rPr lang="sk-SK" dirty="0">
                <a:latin typeface="Gotham Black"/>
              </a:rPr>
              <a:t>Platform leads</a:t>
            </a:r>
          </a:p>
          <a:p>
            <a:endParaRPr lang="sk-SK" dirty="0">
              <a:latin typeface="Gotham Black"/>
            </a:endParaRPr>
          </a:p>
          <a:p>
            <a:endParaRPr lang="sk-SK" dirty="0">
              <a:latin typeface="Gotham Black"/>
            </a:endParaRPr>
          </a:p>
          <a:p>
            <a:r>
              <a:rPr lang="sk-SK" dirty="0">
                <a:latin typeface="Gotham Black"/>
              </a:rPr>
              <a:t>Content leads</a:t>
            </a:r>
          </a:p>
        </p:txBody>
      </p:sp>
      <p:sp>
        <p:nvSpPr>
          <p:cNvPr id="16" name="BlokTextu 15">
            <a:extLst>
              <a:ext uri="{FF2B5EF4-FFF2-40B4-BE49-F238E27FC236}">
                <a16:creationId xmlns:a16="http://schemas.microsoft.com/office/drawing/2014/main" id="{BE4662FA-F754-E679-C9A1-832FB22C86F2}"/>
              </a:ext>
            </a:extLst>
          </p:cNvPr>
          <p:cNvSpPr txBox="1"/>
          <p:nvPr/>
        </p:nvSpPr>
        <p:spPr>
          <a:xfrm>
            <a:off x="6367430" y="4296863"/>
            <a:ext cx="249687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Gotham Black"/>
              </a:rPr>
              <a:t>platform value + stories as proof</a:t>
            </a:r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r>
              <a:rPr lang="sk-SK" sz="1400" dirty="0">
                <a:solidFill>
                  <a:schemeClr val="bg1"/>
                </a:solidFill>
                <a:latin typeface="Gotham Black"/>
              </a:rPr>
              <a:t>hero title + VOYO voice</a:t>
            </a:r>
          </a:p>
          <a:p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r>
              <a:rPr lang="sk-SK" sz="1400" dirty="0">
                <a:solidFill>
                  <a:schemeClr val="bg1"/>
                </a:solidFill>
                <a:latin typeface="Gotham Black"/>
              </a:rPr>
              <a:t>VOYO access + brand signature</a:t>
            </a: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F6D8BAEC-8A9A-6557-D98B-A3F94E25FC31}"/>
              </a:ext>
            </a:extLst>
          </p:cNvPr>
          <p:cNvSpPr txBox="1"/>
          <p:nvPr/>
        </p:nvSpPr>
        <p:spPr>
          <a:xfrm>
            <a:off x="9226279" y="4250138"/>
            <a:ext cx="25880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400" dirty="0">
                <a:solidFill>
                  <a:schemeClr val="bg1"/>
                </a:solidFill>
                <a:latin typeface="Gotham Black"/>
              </a:rPr>
              <a:t>umbrella campaign, always-on tone</a:t>
            </a:r>
          </a:p>
          <a:p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r>
              <a:rPr lang="sk-SK" sz="1400" dirty="0">
                <a:solidFill>
                  <a:schemeClr val="bg1"/>
                </a:solidFill>
                <a:latin typeface="Gotham Black"/>
              </a:rPr>
              <a:t>performance video, landing page, CRM</a:t>
            </a:r>
          </a:p>
          <a:p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400" dirty="0">
                <a:solidFill>
                  <a:schemeClr val="bg1"/>
                </a:solidFill>
                <a:latin typeface="Gotham Black"/>
              </a:rPr>
              <a:t>trailer, PR story, “Available now on </a:t>
            </a:r>
            <a:r>
              <a:rPr lang="en-US" sz="14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400" dirty="0">
                <a:solidFill>
                  <a:schemeClr val="bg1"/>
                </a:solidFill>
                <a:latin typeface="Gotham Black"/>
              </a:rPr>
              <a:t>”</a:t>
            </a:r>
            <a:endParaRPr lang="sk-SK" sz="14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5775E86B-3955-D0F3-035C-83EDB2DC5A49}"/>
              </a:ext>
            </a:extLst>
          </p:cNvPr>
          <p:cNvSpPr/>
          <p:nvPr/>
        </p:nvSpPr>
        <p:spPr>
          <a:xfrm>
            <a:off x="443348" y="6403331"/>
            <a:ext cx="6701589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>
                <a:solidFill>
                  <a:srgbClr val="FFFBB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Practical check: </a:t>
            </a:r>
            <a:r>
              <a:rPr lang="en-US" sz="1000">
                <a:solidFill>
                  <a:srgbClr val="FFFBB1"/>
                </a:solidFill>
                <a:latin typeface="Gotham Black"/>
                <a:ea typeface="Segoe UI" pitchFamily="34" charset="-122"/>
                <a:cs typeface="Segoe UI" pitchFamily="34" charset="-120"/>
              </a:rPr>
              <a:t>If we only say “On VOYO”, we may be missing the deeper reason to choose it.</a:t>
            </a:r>
            <a:endParaRPr lang="en-US" sz="1000">
              <a:solidFill>
                <a:srgbClr val="FFFBB1"/>
              </a:solidFill>
              <a:latin typeface="Gotham Black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152EA05-520E-430E-9B21-3E01229C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>
                <a:latin typeface="Gotham Black"/>
              </a:rPr>
              <a:t>33</a:t>
            </a:fld>
            <a:endParaRPr lang="sk-SK"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2945768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245B05F-CB71-8079-55CA-F1ADBA94B9C2}"/>
              </a:ext>
            </a:extLst>
          </p:cNvPr>
          <p:cNvSpPr/>
          <p:nvPr/>
        </p:nvSpPr>
        <p:spPr>
          <a:xfrm>
            <a:off x="8134061" y="3317816"/>
            <a:ext cx="3605357" cy="2225733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EF81D7-22D1-2AAD-F7CC-20D19C3C9C39}"/>
              </a:ext>
            </a:extLst>
          </p:cNvPr>
          <p:cNvSpPr/>
          <p:nvPr/>
        </p:nvSpPr>
        <p:spPr>
          <a:xfrm>
            <a:off x="4293321" y="3317816"/>
            <a:ext cx="3605357" cy="2225733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4BECD3-4597-3E5A-41D2-2D35D8D00898}"/>
              </a:ext>
            </a:extLst>
          </p:cNvPr>
          <p:cNvSpPr/>
          <p:nvPr/>
        </p:nvSpPr>
        <p:spPr>
          <a:xfrm>
            <a:off x="461818" y="3317817"/>
            <a:ext cx="3605357" cy="2225733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FFE994A-4970-E067-16CD-C5DE526F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7614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Preview access</a:t>
            </a:r>
            <a:r>
              <a:rPr lang="en-US" dirty="0">
                <a:latin typeface="Gotham Black"/>
              </a:rPr>
              <a:t>, spoilers &amp; viewer experience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9FC588-F6B7-FFB4-5367-A753E5393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2174330"/>
            <a:ext cx="11277600" cy="878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Gotham Black"/>
              </a:rPr>
              <a:t>When </a:t>
            </a:r>
            <a:r>
              <a:rPr lang="en-US" sz="2000" dirty="0" err="1">
                <a:latin typeface="Gotham Black"/>
              </a:rPr>
              <a:t>VOYO</a:t>
            </a:r>
            <a:r>
              <a:rPr lang="en-US" sz="2000" dirty="0">
                <a:latin typeface="Gotham Black"/>
              </a:rPr>
              <a:t> offers earlier access than TV, we must grow </a:t>
            </a:r>
            <a:r>
              <a:rPr lang="en-US" sz="2000" dirty="0" err="1">
                <a:latin typeface="Gotham Black"/>
              </a:rPr>
              <a:t>VOYO</a:t>
            </a:r>
            <a:r>
              <a:rPr lang="en-US" sz="2000" dirty="0">
                <a:latin typeface="Gotham Black"/>
              </a:rPr>
              <a:t> without breaking the TV </a:t>
            </a:r>
            <a:r>
              <a:rPr lang="en-US" sz="2000" dirty="0" err="1">
                <a:latin typeface="Gotham Black"/>
              </a:rPr>
              <a:t>experienc</a:t>
            </a:r>
            <a:r>
              <a:rPr lang="sk-SK" sz="2000" dirty="0">
                <a:latin typeface="Gotham Black"/>
              </a:rPr>
              <a:t>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FDE4CE-F5ED-F7EE-1477-B4533324B753}"/>
              </a:ext>
            </a:extLst>
          </p:cNvPr>
          <p:cNvSpPr/>
          <p:nvPr/>
        </p:nvSpPr>
        <p:spPr>
          <a:xfrm>
            <a:off x="1149180" y="379602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761970">
              <a:lnSpc>
                <a:spcPts val="2000"/>
              </a:lnSpc>
              <a:defRPr/>
            </a:pPr>
            <a:r>
              <a:rPr lang="en-US" sz="1625" b="1" dirty="0">
                <a:solidFill>
                  <a:srgbClr val="DB9E0A"/>
                </a:solidFill>
                <a:latin typeface="Gotham Black"/>
                <a:ea typeface="Raleway" pitchFamily="34" charset="-122"/>
                <a:cs typeface="Raleway" pitchFamily="34" charset="-120"/>
              </a:rPr>
              <a:t>PROTECT VIEWERS</a:t>
            </a:r>
            <a:endParaRPr lang="en-US" sz="1625" b="1" dirty="0">
              <a:solidFill>
                <a:srgbClr val="DB9E0A"/>
              </a:solidFill>
              <a:latin typeface="Gotham Black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AB15A1-7347-6334-0661-95D40C9541C8}"/>
              </a:ext>
            </a:extLst>
          </p:cNvPr>
          <p:cNvSpPr/>
          <p:nvPr/>
        </p:nvSpPr>
        <p:spPr>
          <a:xfrm>
            <a:off x="574476" y="4153712"/>
            <a:ext cx="31440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761970">
              <a:lnSpc>
                <a:spcPts val="2083"/>
              </a:lnSpc>
              <a:defRPr/>
            </a:pPr>
            <a:r>
              <a:rPr lang="en-US" sz="1292" dirty="0">
                <a:solidFill>
                  <a:schemeClr val="bg1"/>
                </a:solidFill>
                <a:latin typeface="Gotham Black"/>
                <a:ea typeface="Roboto" pitchFamily="34" charset="-122"/>
                <a:cs typeface="Roboto" pitchFamily="34" charset="-120"/>
              </a:rPr>
              <a:t>Use clear labels and warnings on shared pages/apps to protect viewers who do not want spoilers.</a:t>
            </a:r>
            <a:endParaRPr lang="en-US" sz="1292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A76964B-2F71-BC83-9BE7-6602E939524F}"/>
              </a:ext>
            </a:extLst>
          </p:cNvPr>
          <p:cNvSpPr/>
          <p:nvPr/>
        </p:nvSpPr>
        <p:spPr>
          <a:xfrm>
            <a:off x="4915238" y="379602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761970">
              <a:lnSpc>
                <a:spcPts val="2000"/>
              </a:lnSpc>
            </a:pPr>
            <a:r>
              <a:rPr lang="en-US" sz="1625" b="1" dirty="0">
                <a:solidFill>
                  <a:srgbClr val="DB9E0A"/>
                </a:solidFill>
                <a:latin typeface="Gotham Black"/>
              </a:rPr>
              <a:t>CREATE FOMO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C96EE22-E386-4393-6640-5E0B8FC29141}"/>
              </a:ext>
            </a:extLst>
          </p:cNvPr>
          <p:cNvSpPr/>
          <p:nvPr/>
        </p:nvSpPr>
        <p:spPr>
          <a:xfrm>
            <a:off x="4523928" y="4153712"/>
            <a:ext cx="314414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761970">
              <a:lnSpc>
                <a:spcPts val="2083"/>
              </a:lnSpc>
              <a:defRPr/>
            </a:pPr>
            <a:r>
              <a:rPr lang="en-US" sz="1292" dirty="0" err="1">
                <a:solidFill>
                  <a:schemeClr val="bg1"/>
                </a:solidFill>
                <a:latin typeface="Gotham Black"/>
                <a:ea typeface="Roboto" pitchFamily="34" charset="-122"/>
                <a:cs typeface="Roboto" pitchFamily="34" charset="-120"/>
              </a:rPr>
              <a:t>VOYO</a:t>
            </a:r>
            <a:r>
              <a:rPr lang="en-US" sz="1292" dirty="0">
                <a:solidFill>
                  <a:schemeClr val="bg1"/>
                </a:solidFill>
                <a:latin typeface="Gotham Black"/>
                <a:ea typeface="Roboto" pitchFamily="34" charset="-122"/>
                <a:cs typeface="Roboto" pitchFamily="34" charset="-120"/>
              </a:rPr>
              <a:t> promo and social: create FOMO without spoilers – focus on emotions, tension and questions, not </a:t>
            </a:r>
            <a:r>
              <a:rPr lang="sk-SK" sz="1292" dirty="0">
                <a:solidFill>
                  <a:schemeClr val="bg1"/>
                </a:solidFill>
                <a:latin typeface="Gotham Black"/>
                <a:ea typeface="Roboto" pitchFamily="34" charset="-122"/>
                <a:cs typeface="Roboto" pitchFamily="34" charset="-120"/>
              </a:rPr>
              <a:t>outcomes</a:t>
            </a:r>
            <a:r>
              <a:rPr lang="en-US" sz="1292" dirty="0">
                <a:solidFill>
                  <a:schemeClr val="bg1"/>
                </a:solidFill>
                <a:latin typeface="Gotham Black"/>
                <a:ea typeface="Roboto" pitchFamily="34" charset="-122"/>
                <a:cs typeface="Roboto" pitchFamily="34" charset="-120"/>
              </a:rPr>
              <a:t> or key twists.</a:t>
            </a:r>
            <a:endParaRPr lang="en-US" sz="1292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5BDB9B6-4938-2D22-D1A3-DEE0E747FB36}"/>
              </a:ext>
            </a:extLst>
          </p:cNvPr>
          <p:cNvSpPr/>
          <p:nvPr/>
        </p:nvSpPr>
        <p:spPr>
          <a:xfrm>
            <a:off x="8857567" y="379602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761970">
              <a:lnSpc>
                <a:spcPts val="2000"/>
              </a:lnSpc>
              <a:defRPr/>
            </a:pPr>
            <a:r>
              <a:rPr lang="en-US" sz="1625" b="1" dirty="0">
                <a:solidFill>
                  <a:srgbClr val="DB9E0A"/>
                </a:solidFill>
                <a:latin typeface="Gotham Black"/>
                <a:ea typeface="Raleway" pitchFamily="34" charset="-122"/>
                <a:cs typeface="Raleway" pitchFamily="34" charset="-120"/>
              </a:rPr>
              <a:t>ALIGN TEAMS</a:t>
            </a:r>
            <a:endParaRPr lang="en-US" sz="1625" b="1" dirty="0">
              <a:solidFill>
                <a:srgbClr val="DB9E0A"/>
              </a:solidFill>
              <a:latin typeface="Gotham Black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0D45030-A3BF-C79F-7EB3-78091531B2CB}"/>
              </a:ext>
            </a:extLst>
          </p:cNvPr>
          <p:cNvSpPr/>
          <p:nvPr/>
        </p:nvSpPr>
        <p:spPr>
          <a:xfrm>
            <a:off x="8364717" y="4153712"/>
            <a:ext cx="31440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761970">
              <a:lnSpc>
                <a:spcPts val="2083"/>
              </a:lnSpc>
              <a:defRPr/>
            </a:pPr>
            <a:r>
              <a:rPr lang="en-US" sz="1292" dirty="0">
                <a:solidFill>
                  <a:schemeClr val="bg1"/>
                </a:solidFill>
                <a:latin typeface="Gotham Black"/>
                <a:ea typeface="Roboto" pitchFamily="34" charset="-122"/>
                <a:cs typeface="Roboto" pitchFamily="34" charset="-120"/>
              </a:rPr>
              <a:t>For finales released earlier on </a:t>
            </a:r>
            <a:r>
              <a:rPr lang="en-US" sz="1292" dirty="0" err="1">
                <a:solidFill>
                  <a:schemeClr val="bg1"/>
                </a:solidFill>
                <a:latin typeface="Gotham Black"/>
                <a:ea typeface="Roboto" pitchFamily="34" charset="-122"/>
                <a:cs typeface="Roboto" pitchFamily="34" charset="-120"/>
              </a:rPr>
              <a:t>VOYO</a:t>
            </a:r>
            <a:r>
              <a:rPr lang="en-US" sz="1292" dirty="0">
                <a:solidFill>
                  <a:schemeClr val="bg1"/>
                </a:solidFill>
                <a:latin typeface="Gotham Black"/>
                <a:ea typeface="Roboto" pitchFamily="34" charset="-122"/>
                <a:cs typeface="Roboto" pitchFamily="34" charset="-120"/>
              </a:rPr>
              <a:t>, align station, </a:t>
            </a:r>
            <a:r>
              <a:rPr lang="en-US" sz="1292" dirty="0" err="1">
                <a:solidFill>
                  <a:schemeClr val="bg1"/>
                </a:solidFill>
                <a:latin typeface="Gotham Black"/>
                <a:ea typeface="Roboto" pitchFamily="34" charset="-122"/>
                <a:cs typeface="Roboto" pitchFamily="34" charset="-120"/>
              </a:rPr>
              <a:t>VOYO</a:t>
            </a:r>
            <a:r>
              <a:rPr lang="en-US" sz="1292" dirty="0">
                <a:solidFill>
                  <a:schemeClr val="bg1"/>
                </a:solidFill>
                <a:latin typeface="Gotham Black"/>
                <a:ea typeface="Roboto" pitchFamily="34" charset="-122"/>
                <a:cs typeface="Roboto" pitchFamily="34" charset="-120"/>
              </a:rPr>
              <a:t> and social teams on timing, messaging and CTAs.</a:t>
            </a:r>
            <a:endParaRPr lang="en-US" sz="1292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3" name="Zástupný objekt pre číslo snímky 12">
            <a:extLst>
              <a:ext uri="{FF2B5EF4-FFF2-40B4-BE49-F238E27FC236}">
                <a16:creationId xmlns:a16="http://schemas.microsoft.com/office/drawing/2014/main" id="{3DECF03B-B65F-C45D-20A1-957EC37C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34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653412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3C86-DA5A-825F-1D5E-CCB21871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D32EFCF4-B455-534B-3603-368CCC9C2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4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2080E3A8-472D-F9A1-A562-7EF891995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>
            <a:normAutofit fontScale="92500" lnSpcReduction="20000"/>
          </a:bodyPr>
          <a:lstStyle/>
          <a:p>
            <a:endParaRPr lang="en-US" sz="6100" b="1" dirty="0">
              <a:latin typeface="Gotham Black"/>
            </a:endParaRPr>
          </a:p>
          <a:p>
            <a:r>
              <a:rPr lang="en-US" sz="6100" dirty="0">
                <a:latin typeface="Gotham Black"/>
              </a:rPr>
              <a:t>VIEWER</a:t>
            </a:r>
            <a:r>
              <a:rPr lang="en-US" sz="6100" b="1" dirty="0">
                <a:latin typeface="Gotham Black"/>
              </a:rPr>
              <a:t> EXPERIENCE</a:t>
            </a:r>
            <a:endParaRPr lang="sk-SK" sz="61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6825BD63-4964-AEC4-65E5-DBD32945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35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379472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B010A-FB6A-6780-5FB1-5E7114BC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46E8BAC8-27FF-2653-AF68-13AF78C37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4.1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5CF5F8BA-5583-70A8-AA39-E2040FA80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>
            <a:normAutofit fontScale="92500" lnSpcReduction="20000"/>
          </a:bodyPr>
          <a:lstStyle/>
          <a:p>
            <a:endParaRPr lang="en-US" sz="6100" b="1" dirty="0">
              <a:latin typeface="Gotham Black"/>
            </a:endParaRPr>
          </a:p>
          <a:p>
            <a:r>
              <a:rPr lang="sk-SK" sz="6600" b="1" dirty="0">
                <a:latin typeface="Gotham Black"/>
              </a:rPr>
              <a:t>CRM</a:t>
            </a:r>
            <a:r>
              <a:rPr lang="sk-SK" sz="6600" dirty="0">
                <a:latin typeface="Gotham Black"/>
              </a:rPr>
              <a:t> &amp; Lifecycle</a:t>
            </a:r>
            <a:endParaRPr lang="en-US" sz="66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5B281E80-4C75-38A0-38E4-01B47E82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36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502255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1101737-F037-23EB-D242-719208A03EFB}"/>
              </a:ext>
            </a:extLst>
          </p:cNvPr>
          <p:cNvSpPr/>
          <p:nvPr/>
        </p:nvSpPr>
        <p:spPr>
          <a:xfrm>
            <a:off x="9926128" y="4362414"/>
            <a:ext cx="1997510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985A75-B1FD-07F0-DF50-77DCE406F948}"/>
              </a:ext>
            </a:extLst>
          </p:cNvPr>
          <p:cNvSpPr/>
          <p:nvPr/>
        </p:nvSpPr>
        <p:spPr>
          <a:xfrm>
            <a:off x="7636880" y="4352035"/>
            <a:ext cx="1997510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2850E6-3654-22C2-99F3-56894EE9EB41}"/>
              </a:ext>
            </a:extLst>
          </p:cNvPr>
          <p:cNvSpPr/>
          <p:nvPr/>
        </p:nvSpPr>
        <p:spPr>
          <a:xfrm>
            <a:off x="5344892" y="4362414"/>
            <a:ext cx="1997510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88E45C-2070-8B92-A1F4-FF97EB701220}"/>
              </a:ext>
            </a:extLst>
          </p:cNvPr>
          <p:cNvSpPr/>
          <p:nvPr/>
        </p:nvSpPr>
        <p:spPr>
          <a:xfrm>
            <a:off x="3053193" y="4362414"/>
            <a:ext cx="1997510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54D542-5F4B-5967-9C9C-ED24270382EA}"/>
              </a:ext>
            </a:extLst>
          </p:cNvPr>
          <p:cNvSpPr/>
          <p:nvPr/>
        </p:nvSpPr>
        <p:spPr>
          <a:xfrm>
            <a:off x="560101" y="4327858"/>
            <a:ext cx="1997510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FF83566-3389-7783-666B-950B399B8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3426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Present</a:t>
            </a:r>
            <a:r>
              <a:rPr lang="en-US" dirty="0">
                <a:latin typeface="Gotham Black"/>
              </a:rPr>
              <a:t> in the moments that matter</a:t>
            </a:r>
            <a:endParaRPr lang="sk-SK" dirty="0">
              <a:latin typeface="Gotham Black"/>
            </a:endParaRP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7D20163F-5638-37EF-0457-6B4DEC6EE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508997"/>
            <a:ext cx="11277600" cy="26035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Gotham Black"/>
              </a:rPr>
              <a:t>VOYO stays part of everyday viewing</a:t>
            </a:r>
            <a:r>
              <a:rPr lang="sk-SK" sz="2000" dirty="0">
                <a:latin typeface="Gotham Black"/>
              </a:rPr>
              <a:t>, </a:t>
            </a:r>
            <a:r>
              <a:rPr lang="en-US" sz="2000" dirty="0">
                <a:latin typeface="Gotham Black"/>
              </a:rPr>
              <a:t>not just the subscription moment</a:t>
            </a:r>
            <a:r>
              <a:rPr lang="sk-SK" sz="2000" dirty="0">
                <a:latin typeface="Gotham Black"/>
              </a:rPr>
              <a:t>.</a:t>
            </a:r>
          </a:p>
          <a:p>
            <a:pPr marL="0" indent="0">
              <a:buNone/>
            </a:pPr>
            <a:endParaRPr lang="sk-SK" sz="1400" dirty="0">
              <a:latin typeface="Gotham Black"/>
            </a:endParaRPr>
          </a:p>
          <a:p>
            <a:pPr marL="0" indent="0">
              <a:buNone/>
            </a:pPr>
            <a:r>
              <a:rPr lang="en-US" sz="1400" b="1" dirty="0">
                <a:latin typeface="Gotham Black"/>
              </a:rPr>
              <a:t>WHY IT MATTERS</a:t>
            </a:r>
          </a:p>
          <a:p>
            <a:r>
              <a:rPr lang="en-US" sz="1400" dirty="0">
                <a:latin typeface="Gotham Black"/>
              </a:rPr>
              <a:t>VOYO stays relevant between big premieres and shared TV moments</a:t>
            </a:r>
          </a:p>
          <a:p>
            <a:r>
              <a:rPr lang="en-US" sz="1400" dirty="0">
                <a:latin typeface="Gotham Black"/>
              </a:rPr>
              <a:t>Communication reflects real viewing rhythms, not marketing pressure</a:t>
            </a:r>
          </a:p>
          <a:p>
            <a:r>
              <a:rPr lang="en-US" sz="1400" dirty="0">
                <a:latin typeface="Gotham Black"/>
              </a:rPr>
              <a:t>Each interaction reinforces continuity, trust and everyday value</a:t>
            </a:r>
            <a:endParaRPr lang="sk-SK" sz="1400" dirty="0">
              <a:latin typeface="Gotham Black"/>
            </a:endParaRPr>
          </a:p>
          <a:p>
            <a:pPr marL="0" indent="0">
              <a:buNone/>
            </a:pPr>
            <a:endParaRPr lang="sk-SK" sz="1400" dirty="0">
              <a:latin typeface="Gotham Black"/>
            </a:endParaRPr>
          </a:p>
          <a:p>
            <a:pPr marL="0" indent="0">
              <a:buNone/>
            </a:pPr>
            <a:r>
              <a:rPr lang="sk-SK" sz="1400" b="1" dirty="0">
                <a:latin typeface="Gotham Black"/>
              </a:rPr>
              <a:t>CORE PRINCIPLES</a:t>
            </a:r>
          </a:p>
          <a:p>
            <a:pPr marL="0" indent="0">
              <a:buNone/>
            </a:pPr>
            <a:br>
              <a:rPr lang="en-US" sz="1400" dirty="0">
                <a:latin typeface="Gotham Black"/>
              </a:rPr>
            </a:br>
            <a:endParaRPr lang="sk-SK" sz="14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2B1A36E-E1D2-79D4-5971-B61A80AA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37</a:t>
            </a:fld>
            <a:endParaRPr lang="sk-SK" dirty="0"/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99D448F6-2921-FD45-A833-55D74E3A439F}"/>
              </a:ext>
            </a:extLst>
          </p:cNvPr>
          <p:cNvSpPr txBox="1"/>
          <p:nvPr/>
        </p:nvSpPr>
        <p:spPr>
          <a:xfrm>
            <a:off x="7634140" y="4429124"/>
            <a:ext cx="2000250" cy="1293971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r>
              <a:rPr lang="en-US" sz="1400" dirty="0">
                <a:latin typeface="Gotham Black"/>
              </a:rPr>
              <a:t>CONTINUITY OVER INTERRUPTION</a:t>
            </a:r>
            <a:endParaRPr lang="sk-SK" sz="1400" dirty="0">
              <a:latin typeface="Gotham Black"/>
            </a:endParaRPr>
          </a:p>
          <a:p>
            <a:br>
              <a:rPr lang="en-US" sz="1400" dirty="0">
                <a:latin typeface="Gotham Black"/>
              </a:rPr>
            </a:br>
            <a:r>
              <a:rPr lang="en-US" sz="1400" b="0" dirty="0">
                <a:latin typeface="Gotham Black"/>
              </a:rPr>
              <a:t>We help viewers continue and return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D2BA2029-10B3-0396-EBD4-ACCB99CB6E86}"/>
              </a:ext>
            </a:extLst>
          </p:cNvPr>
          <p:cNvSpPr txBox="1"/>
          <p:nvPr/>
        </p:nvSpPr>
        <p:spPr>
          <a:xfrm>
            <a:off x="461818" y="4429125"/>
            <a:ext cx="2200563" cy="1293971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Gotham Black"/>
              </a:rPr>
              <a:t>STORIES KEEP VOYO PRESENT</a:t>
            </a:r>
            <a:endParaRPr lang="sk-SK" sz="1400" b="1" dirty="0">
              <a:solidFill>
                <a:schemeClr val="bg1"/>
              </a:solidFill>
              <a:latin typeface="Gotham Black"/>
            </a:endParaRPr>
          </a:p>
          <a:p>
            <a:pPr algn="ctr"/>
            <a:br>
              <a:rPr lang="en-US" sz="1400" dirty="0">
                <a:solidFill>
                  <a:schemeClr val="bg1"/>
                </a:solidFill>
                <a:latin typeface="Gotham Black"/>
              </a:rPr>
            </a:br>
            <a:r>
              <a:rPr lang="en-US" sz="1400" dirty="0">
                <a:solidFill>
                  <a:schemeClr val="bg1"/>
                </a:solidFill>
                <a:latin typeface="Gotham Black"/>
              </a:rPr>
              <a:t>We lead with content people care about</a:t>
            </a:r>
            <a:endParaRPr lang="sk-SK" sz="14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5A7AE269-E461-3B3F-38A0-0784AA0C82B4}"/>
              </a:ext>
            </a:extLst>
          </p:cNvPr>
          <p:cNvSpPr txBox="1"/>
          <p:nvPr/>
        </p:nvSpPr>
        <p:spPr>
          <a:xfrm>
            <a:off x="2852592" y="4429125"/>
            <a:ext cx="2200563" cy="1293971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r>
              <a:rPr lang="en-US" sz="1400" dirty="0">
                <a:latin typeface="Gotham Black"/>
              </a:rPr>
              <a:t>BUILT AROUND REAL VIEWING BEHAVIOUR</a:t>
            </a:r>
            <a:endParaRPr lang="sk-SK" sz="1400" dirty="0">
              <a:latin typeface="Gotham Black"/>
            </a:endParaRPr>
          </a:p>
          <a:p>
            <a:br>
              <a:rPr lang="en-US" sz="1400" dirty="0">
                <a:latin typeface="Gotham Black"/>
              </a:rPr>
            </a:br>
            <a:r>
              <a:rPr lang="en-US" sz="1400" b="0" dirty="0">
                <a:latin typeface="Gotham Black"/>
              </a:rPr>
              <a:t>We respond to how people actually watch</a:t>
            </a:r>
            <a:endParaRPr lang="sk-SK" sz="1400" b="0" dirty="0">
              <a:latin typeface="Gotham Black"/>
            </a:endParaRP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2BA65475-387E-E571-05E0-C670BF591B84}"/>
              </a:ext>
            </a:extLst>
          </p:cNvPr>
          <p:cNvSpPr txBox="1"/>
          <p:nvPr/>
        </p:nvSpPr>
        <p:spPr>
          <a:xfrm>
            <a:off x="5243366" y="4429125"/>
            <a:ext cx="2200563" cy="1293971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r>
              <a:rPr lang="en-US" sz="1400" dirty="0">
                <a:latin typeface="Gotham Black"/>
              </a:rPr>
              <a:t>PERSONAL AND LOCALLY FLUENT</a:t>
            </a:r>
            <a:endParaRPr lang="sk-SK" sz="1400" dirty="0">
              <a:latin typeface="Gotham Black"/>
            </a:endParaRPr>
          </a:p>
          <a:p>
            <a:br>
              <a:rPr lang="en-US" sz="1400" dirty="0">
                <a:latin typeface="Gotham Black"/>
              </a:rPr>
            </a:br>
            <a:r>
              <a:rPr lang="sk-SK" sz="1400" b="0" dirty="0">
                <a:latin typeface="Gotham Black"/>
              </a:rPr>
              <a:t>R</a:t>
            </a:r>
            <a:r>
              <a:rPr lang="en-US" sz="1400" b="0" dirty="0" err="1">
                <a:latin typeface="Gotham Black"/>
              </a:rPr>
              <a:t>ecommendations</a:t>
            </a:r>
            <a:r>
              <a:rPr lang="en-US" sz="1400" b="0" dirty="0">
                <a:latin typeface="Gotham Black"/>
              </a:rPr>
              <a:t> feel culturally close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F28CA470-FDCF-E7C0-2886-001BD6525B9C}"/>
              </a:ext>
            </a:extLst>
          </p:cNvPr>
          <p:cNvSpPr txBox="1"/>
          <p:nvPr/>
        </p:nvSpPr>
        <p:spPr>
          <a:xfrm>
            <a:off x="10027655" y="4429125"/>
            <a:ext cx="1802394" cy="1770698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r>
              <a:rPr lang="en-US" sz="1400" dirty="0">
                <a:latin typeface="Gotham Black"/>
              </a:rPr>
              <a:t>TRUST OVER TACTICS</a:t>
            </a:r>
            <a:endParaRPr lang="sk-SK" sz="1400" dirty="0">
              <a:latin typeface="Gotham Black"/>
            </a:endParaRPr>
          </a:p>
          <a:p>
            <a:endParaRPr lang="sk-SK" sz="1400" dirty="0">
              <a:latin typeface="Gotham Black"/>
            </a:endParaRPr>
          </a:p>
          <a:p>
            <a:br>
              <a:rPr lang="en-US" sz="1400" dirty="0">
                <a:latin typeface="Gotham Black"/>
              </a:rPr>
            </a:br>
            <a:r>
              <a:rPr lang="en-US" sz="1400" b="0" dirty="0">
                <a:latin typeface="Gotham Black"/>
              </a:rPr>
              <a:t>Clear value</a:t>
            </a:r>
            <a:r>
              <a:rPr lang="sk-SK" sz="1400" b="0" dirty="0">
                <a:latin typeface="Gotham Black"/>
              </a:rPr>
              <a:t>, e</a:t>
            </a:r>
            <a:r>
              <a:rPr lang="en-US" sz="1400" b="0" dirty="0" err="1">
                <a:latin typeface="Gotham Black"/>
              </a:rPr>
              <a:t>asy</a:t>
            </a:r>
            <a:r>
              <a:rPr lang="en-US" sz="1400" b="0" dirty="0">
                <a:latin typeface="Gotham Black"/>
              </a:rPr>
              <a:t> control</a:t>
            </a:r>
            <a:r>
              <a:rPr lang="sk-SK" sz="1400" b="0" dirty="0">
                <a:latin typeface="Gotham Black"/>
              </a:rPr>
              <a:t>, n</a:t>
            </a:r>
            <a:r>
              <a:rPr lang="en-US" sz="1400" b="0" dirty="0">
                <a:latin typeface="Gotham Black"/>
              </a:rPr>
              <a:t>o pressure</a:t>
            </a:r>
            <a:endParaRPr lang="sk-SK" sz="1400" b="0" dirty="0"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3864379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752142-C367-3A00-BE8A-D6A4C7401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28" y="614020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Responsive</a:t>
            </a:r>
            <a:r>
              <a:rPr lang="en-US" dirty="0">
                <a:latin typeface="Gotham Black"/>
              </a:rPr>
              <a:t> to how people watch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6692AA6-78D1-31FF-2859-B714B3753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4"/>
            <a:ext cx="11277600" cy="73660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Gotham Black"/>
              </a:rPr>
              <a:t>VOYO communication responds to behavior signals and content moments to support everyday viewing.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A9AA883-5043-65DA-4B60-93C5CA420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38</a:t>
            </a:fld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009592EC-537F-999E-FE16-3FF99619943B}"/>
              </a:ext>
            </a:extLst>
          </p:cNvPr>
          <p:cNvSpPr txBox="1"/>
          <p:nvPr/>
        </p:nvSpPr>
        <p:spPr>
          <a:xfrm>
            <a:off x="1357168" y="5710019"/>
            <a:ext cx="9006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BB1"/>
                </a:solidFill>
                <a:latin typeface="Gotham Black"/>
              </a:rPr>
              <a:t>GUIDING PRINCIPLE</a:t>
            </a:r>
          </a:p>
          <a:p>
            <a:pPr>
              <a:buNone/>
            </a:pPr>
            <a:r>
              <a:rPr lang="en-US" dirty="0">
                <a:solidFill>
                  <a:srgbClr val="FFFBB1"/>
                </a:solidFill>
                <a:latin typeface="Gotham Black"/>
              </a:rPr>
              <a:t>Communication supports watching </a:t>
            </a:r>
            <a:r>
              <a:rPr lang="en-US" dirty="0" err="1">
                <a:solidFill>
                  <a:srgbClr val="FFFBB1"/>
                </a:solidFill>
                <a:latin typeface="Gotham Black"/>
              </a:rPr>
              <a:t>behaviour</a:t>
            </a:r>
            <a:r>
              <a:rPr lang="en-US" dirty="0">
                <a:solidFill>
                  <a:srgbClr val="FFFBB1"/>
                </a:solidFill>
                <a:latin typeface="Gotham Black"/>
              </a:rPr>
              <a:t> — not marketing pressure.</a:t>
            </a: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4B2F103B-E71D-1084-A463-FD6689B2B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816066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ástupný objekt pre obsah 2">
            <a:extLst>
              <a:ext uri="{FF2B5EF4-FFF2-40B4-BE49-F238E27FC236}">
                <a16:creationId xmlns:a16="http://schemas.microsoft.com/office/drawing/2014/main" id="{BD0A3030-1ABC-CA12-0031-38605117A80C}"/>
              </a:ext>
            </a:extLst>
          </p:cNvPr>
          <p:cNvSpPr txBox="1">
            <a:spLocks/>
          </p:cNvSpPr>
          <p:nvPr/>
        </p:nvSpPr>
        <p:spPr>
          <a:xfrm>
            <a:off x="4029074" y="2708958"/>
            <a:ext cx="7691293" cy="2854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DB9E0A"/>
                </a:solidFill>
                <a:latin typeface="Gotham Black"/>
              </a:rPr>
              <a:t>THREE LAYERS WORK TOGETHER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DB9E0A"/>
                </a:solidFill>
                <a:latin typeface="Gotham Black"/>
              </a:rPr>
              <a:t>LIFECYCLE FLOWS</a:t>
            </a:r>
            <a:br>
              <a:rPr lang="en-US" sz="1800" dirty="0">
                <a:latin typeface="Gotham Black"/>
              </a:rPr>
            </a:br>
            <a:r>
              <a:rPr lang="en-US" sz="1800" dirty="0">
                <a:latin typeface="Gotham Black"/>
              </a:rPr>
              <a:t>Guide viewers through starting, continuing and returning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rgbClr val="DB9E0A"/>
                </a:solidFill>
                <a:latin typeface="Gotham Black"/>
              </a:rPr>
              <a:t>BEHAVIOUR</a:t>
            </a:r>
            <a:r>
              <a:rPr lang="en-US" sz="1400" b="1" dirty="0">
                <a:solidFill>
                  <a:srgbClr val="DB9E0A"/>
                </a:solidFill>
                <a:latin typeface="Gotham Black"/>
              </a:rPr>
              <a:t> TRIGGERS</a:t>
            </a:r>
            <a:br>
              <a:rPr lang="en-US" sz="1800" dirty="0">
                <a:latin typeface="Gotham Black"/>
              </a:rPr>
            </a:br>
            <a:r>
              <a:rPr lang="en-US" sz="1800" dirty="0">
                <a:latin typeface="Gotham Black"/>
              </a:rPr>
              <a:t>Respond to real actions: starting, finishing, pausing or exploring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 err="1">
                <a:solidFill>
                  <a:srgbClr val="DB9E0A"/>
                </a:solidFill>
                <a:latin typeface="Gotham Black"/>
              </a:rPr>
              <a:t>PERSONALISED</a:t>
            </a:r>
            <a:r>
              <a:rPr lang="en-US" sz="1400" b="1" dirty="0">
                <a:solidFill>
                  <a:srgbClr val="DB9E0A"/>
                </a:solidFill>
                <a:latin typeface="Gotham Black"/>
              </a:rPr>
              <a:t> CONTENT MOMENTS</a:t>
            </a:r>
            <a:br>
              <a:rPr lang="en-US" sz="1800" dirty="0">
                <a:latin typeface="Gotham Black"/>
              </a:rPr>
            </a:br>
            <a:r>
              <a:rPr lang="en-US" sz="1800" dirty="0">
                <a:latin typeface="Gotham Black"/>
              </a:rPr>
              <a:t>Recommendations and messages reflect what each viewer watches and cares about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C0E7C2-087A-5266-8826-1762870F6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168" y="3185585"/>
            <a:ext cx="1579042" cy="157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02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CA814E-BFCB-8627-B0AC-65B21ECE9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70" y="614673"/>
            <a:ext cx="9901382" cy="656164"/>
          </a:xfrm>
        </p:spPr>
        <p:txBody>
          <a:bodyPr>
            <a:noAutofit/>
          </a:bodyPr>
          <a:lstStyle/>
          <a:p>
            <a:r>
              <a:rPr lang="en-US" dirty="0">
                <a:latin typeface="Gotham Black"/>
              </a:rPr>
              <a:t>Familiar, personal</a:t>
            </a:r>
            <a:r>
              <a:rPr lang="sk-SK" dirty="0">
                <a:latin typeface="Gotham Black"/>
              </a:rPr>
              <a:t> and</a:t>
            </a:r>
            <a:r>
              <a:rPr lang="en-US" dirty="0">
                <a:latin typeface="Gotham Black"/>
              </a:rPr>
              <a:t> </a:t>
            </a:r>
            <a:r>
              <a:rPr lang="en-US" b="1" dirty="0">
                <a:latin typeface="Gotham Black"/>
              </a:rPr>
              <a:t>easy to engage </a:t>
            </a:r>
            <a:r>
              <a:rPr lang="en-US" dirty="0">
                <a:latin typeface="Gotham Black"/>
              </a:rPr>
              <a:t>with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3E71663-6941-DC1D-0447-C35421392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4"/>
            <a:ext cx="11277600" cy="4663665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sk-SK" dirty="0">
                <a:latin typeface="Gotham Black"/>
              </a:rPr>
              <a:t>V</a:t>
            </a:r>
            <a:r>
              <a:rPr lang="en-US" dirty="0">
                <a:latin typeface="Gotham Black"/>
              </a:rPr>
              <a:t>OYO service communication feels familiar, clear and worth opening.</a:t>
            </a:r>
          </a:p>
          <a:p>
            <a:pPr marL="0" indent="0">
              <a:lnSpc>
                <a:spcPct val="120000"/>
              </a:lnSpc>
              <a:buNone/>
            </a:pP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PRINCIPLES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Gotham Black"/>
              </a:rPr>
              <a:t>RECOGNISABLE AND CONSISTENT</a:t>
            </a:r>
            <a:br>
              <a:rPr lang="en-US" dirty="0">
                <a:latin typeface="Gotham Black"/>
              </a:rPr>
            </a:br>
            <a:r>
              <a:rPr lang="en-US" dirty="0" err="1">
                <a:latin typeface="Gotham Black"/>
              </a:rPr>
              <a:t>Consistent</a:t>
            </a:r>
            <a:r>
              <a:rPr lang="en-US" dirty="0">
                <a:latin typeface="Gotham Black"/>
              </a:rPr>
              <a:t> VOYO presence builds immediate trust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Gotham Black"/>
              </a:rPr>
              <a:t>CONTENT FIRST, MESSAGE SECOND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Stories and viewing value lead every communication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Gotham Black"/>
              </a:rPr>
              <a:t>PERSONAL AND HUMAN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Language feels direct, natural and locally fluent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Gotham Black"/>
              </a:rPr>
              <a:t>VISUAL AND EASY TO SCAN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Clear structure helps viewers decide in seconds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Gotham Black"/>
              </a:rPr>
              <a:t>RELEVANT, NEVER OVERWHELMING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We communicate when it adds value</a:t>
            </a:r>
          </a:p>
          <a:p>
            <a:pPr>
              <a:lnSpc>
                <a:spcPct val="120000"/>
              </a:lnSpc>
            </a:pP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078D83D-CAE8-A662-D814-5E097E9FD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39</a:t>
            </a:fld>
            <a:endParaRPr lang="sk-S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302B5A-F5F6-AFA4-4E63-E07518A1D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780" y="3363101"/>
            <a:ext cx="1904695" cy="190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678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283227-877C-C964-DB3B-FD64544E4A30}"/>
              </a:ext>
            </a:extLst>
          </p:cNvPr>
          <p:cNvSpPr/>
          <p:nvPr/>
        </p:nvSpPr>
        <p:spPr>
          <a:xfrm>
            <a:off x="7335619" y="3004326"/>
            <a:ext cx="2103655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EF444C-3378-C5C3-B5E9-A0B988AA4631}"/>
              </a:ext>
            </a:extLst>
          </p:cNvPr>
          <p:cNvSpPr/>
          <p:nvPr/>
        </p:nvSpPr>
        <p:spPr>
          <a:xfrm>
            <a:off x="9583519" y="3004326"/>
            <a:ext cx="2103655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C85227-9A65-213C-487A-CB8DAE193A9C}"/>
              </a:ext>
            </a:extLst>
          </p:cNvPr>
          <p:cNvSpPr/>
          <p:nvPr/>
        </p:nvSpPr>
        <p:spPr>
          <a:xfrm>
            <a:off x="5068669" y="3004326"/>
            <a:ext cx="2103655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FB66D4-BCAC-4D19-D789-97B7159BA039}"/>
              </a:ext>
            </a:extLst>
          </p:cNvPr>
          <p:cNvSpPr/>
          <p:nvPr/>
        </p:nvSpPr>
        <p:spPr>
          <a:xfrm>
            <a:off x="2782669" y="3004326"/>
            <a:ext cx="2122705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8A3196-534A-98A6-7C3E-A2C5C0204E67}"/>
              </a:ext>
            </a:extLst>
          </p:cNvPr>
          <p:cNvSpPr/>
          <p:nvPr/>
        </p:nvSpPr>
        <p:spPr>
          <a:xfrm>
            <a:off x="515719" y="3004326"/>
            <a:ext cx="2103655" cy="1993936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5F12C96-DFA6-7BD4-76CD-DA1784E76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696" y="646924"/>
            <a:ext cx="11277599" cy="612750"/>
          </a:xfrm>
        </p:spPr>
        <p:txBody>
          <a:bodyPr>
            <a:noAutofit/>
          </a:bodyPr>
          <a:lstStyle/>
          <a:p>
            <a:r>
              <a:rPr lang="en-US" dirty="0">
                <a:latin typeface="Gotham Black"/>
              </a:rPr>
              <a:t>VOYO </a:t>
            </a:r>
            <a:r>
              <a:rPr lang="en-US" b="1" dirty="0">
                <a:latin typeface="Gotham Black"/>
              </a:rPr>
              <a:t>across everyday </a:t>
            </a:r>
            <a:r>
              <a:rPr lang="en-US" dirty="0">
                <a:latin typeface="Gotham Black"/>
              </a:rPr>
              <a:t>viewing moments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5268E26-9044-8458-1E33-071EA621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40</a:t>
            </a:fld>
            <a:endParaRPr lang="sk-SK"/>
          </a:p>
        </p:txBody>
      </p:sp>
      <p:sp>
        <p:nvSpPr>
          <p:cNvPr id="13" name="Zástupný objekt pre obsah 2">
            <a:extLst>
              <a:ext uri="{FF2B5EF4-FFF2-40B4-BE49-F238E27FC236}">
                <a16:creationId xmlns:a16="http://schemas.microsoft.com/office/drawing/2014/main" id="{6931DFCF-8355-3B18-FC6B-B921E3B532F8}"/>
              </a:ext>
            </a:extLst>
          </p:cNvPr>
          <p:cNvSpPr txBox="1">
            <a:spLocks/>
          </p:cNvSpPr>
          <p:nvPr/>
        </p:nvSpPr>
        <p:spPr>
          <a:xfrm>
            <a:off x="461818" y="1825625"/>
            <a:ext cx="11277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Gotham Black"/>
              </a:rPr>
              <a:t>VOYO stays present across everyday viewing moments, helping viewers start, continue and return with ease.</a:t>
            </a:r>
            <a:endParaRPr lang="sk-SK" sz="2400" dirty="0">
              <a:latin typeface="Gotham Black"/>
            </a:endParaRP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BE95FDB0-148B-A619-139A-F9C299999F0D}"/>
              </a:ext>
            </a:extLst>
          </p:cNvPr>
          <p:cNvSpPr txBox="1"/>
          <p:nvPr/>
        </p:nvSpPr>
        <p:spPr>
          <a:xfrm>
            <a:off x="1514475" y="5710019"/>
            <a:ext cx="9344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BB1"/>
                </a:solidFill>
                <a:latin typeface="Gotham Black"/>
              </a:rPr>
              <a:t>EXPERIENCE PRINCIPLE</a:t>
            </a:r>
          </a:p>
          <a:p>
            <a:pPr>
              <a:buNone/>
            </a:pPr>
            <a:r>
              <a:rPr lang="en-US" dirty="0">
                <a:solidFill>
                  <a:srgbClr val="FFFBB1"/>
                </a:solidFill>
                <a:latin typeface="Gotham Black"/>
              </a:rPr>
              <a:t>Communication should feel as seamless as the viewing experience</a:t>
            </a: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DA0032C8-5985-7ADC-DA90-A1EEE681F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816066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" name="Zástupný objekt pre obsah 19">
            <a:extLst>
              <a:ext uri="{FF2B5EF4-FFF2-40B4-BE49-F238E27FC236}">
                <a16:creationId xmlns:a16="http://schemas.microsoft.com/office/drawing/2014/main" id="{66BFB67E-8CA2-BB29-F2F3-0BF3576524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270991"/>
              </p:ext>
            </p:extLst>
          </p:nvPr>
        </p:nvGraphicFramePr>
        <p:xfrm>
          <a:off x="481695" y="2926799"/>
          <a:ext cx="11277600" cy="1985119"/>
        </p:xfrm>
        <a:graphic>
          <a:graphicData uri="http://schemas.openxmlformats.org/drawingml/2006/table">
            <a:tbl>
              <a:tblPr/>
              <a:tblGrid>
                <a:gridCol w="2255520">
                  <a:extLst>
                    <a:ext uri="{9D8B030D-6E8A-4147-A177-3AD203B41FA5}">
                      <a16:colId xmlns:a16="http://schemas.microsoft.com/office/drawing/2014/main" val="3349938885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438466072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3943068806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774547010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1530103763"/>
                    </a:ext>
                  </a:extLst>
                </a:gridCol>
              </a:tblGrid>
              <a:tr h="700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▶▶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7451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Start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Setup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Continue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Relax &amp;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unwind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Return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693146"/>
                  </a:ext>
                </a:extLst>
              </a:tr>
              <a:tr h="84275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Show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what’s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worth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watching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Help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personalise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experience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Gotham Light"/>
                          <a:ea typeface="+mn-ea"/>
                          <a:cs typeface="Arial" panose="020B0604020202020204" pitchFamily="34" charset="0"/>
                        </a:rPr>
                        <a:t>Recommend what to watch next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Support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everyday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viewing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rituals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Gotham Light"/>
                          <a:ea typeface="+mn-ea"/>
                          <a:cs typeface="Arial" panose="020B0604020202020204" pitchFamily="34" charset="0"/>
                        </a:rPr>
                        <a:t>Bring new stories worth </a:t>
                      </a:r>
                      <a:r>
                        <a:rPr lang="sk-SK" sz="180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returning</a:t>
                      </a:r>
                      <a:r>
                        <a:rPr lang="sk-SK" sz="180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Gotham Light"/>
                          <a:ea typeface="+mn-ea"/>
                          <a:cs typeface="Arial" panose="020B0604020202020204" pitchFamily="34" charset="0"/>
                        </a:rPr>
                        <a:t>for</a:t>
                      </a:r>
                      <a:endParaRPr lang="sk-SK" sz="180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221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15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2331-07E2-EAB2-8C57-EF9FD297D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4AB1F2F0-FCA5-1573-D8F8-95DF9B21D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4.2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B27C307D-AD8F-C575-CB4E-F99BD153B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>
            <a:normAutofit fontScale="92500" lnSpcReduction="20000"/>
          </a:bodyPr>
          <a:lstStyle/>
          <a:p>
            <a:endParaRPr lang="en-US" sz="6100" b="1" dirty="0">
              <a:latin typeface="Gotham Black"/>
            </a:endParaRPr>
          </a:p>
          <a:p>
            <a:r>
              <a:rPr lang="sk-SK" sz="6600" b="1" dirty="0">
                <a:latin typeface="Gotham Black"/>
              </a:rPr>
              <a:t>Platform Experience </a:t>
            </a:r>
            <a:r>
              <a:rPr lang="sk-SK" sz="6600" dirty="0">
                <a:latin typeface="Gotham Black"/>
              </a:rPr>
              <a:t>&amp; UX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BE09C037-88FB-9084-6030-884070DC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41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608254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CE326D-F17D-129F-D6DF-45D41991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2439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Designed</a:t>
            </a:r>
            <a:r>
              <a:rPr lang="en-US" dirty="0">
                <a:latin typeface="Gotham Black"/>
              </a:rPr>
              <a:t> for effortless viewing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56E8196-9A07-0480-97C0-502FA8B7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42</a:t>
            </a:fld>
            <a:endParaRPr lang="sk-SK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4CF717E-F179-00E1-3860-1AF03BB1E38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35707" y="3159315"/>
            <a:ext cx="5484813" cy="2438400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latin typeface="Gotham Black"/>
              </a:rPr>
              <a:t>EASY TO CHOOSE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Reduce scrolling. Highlight what matters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latin typeface="Gotham Black"/>
              </a:rPr>
              <a:t>CONTINUE WITHOUT FRICTION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Seamless resume across devices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latin typeface="Gotham Black"/>
              </a:rPr>
              <a:t>FLEXIBLE CONTROL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Watch anytime. Pause, return, manage easily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dirty="0">
              <a:latin typeface="Gotham Black"/>
            </a:endParaRP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6D2A3401-23ED-115A-DC0A-A5357BC07EF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707188" y="3159315"/>
            <a:ext cx="5484812" cy="2525713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latin typeface="Gotham Black"/>
              </a:rPr>
              <a:t>DISCOVERY WITHOUT OVERLOAD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Relevant recommendations over endless browsing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latin typeface="Gotham Black"/>
              </a:rPr>
              <a:t>PROTECT THE VIEWING FLOW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Avoid interruptions and unnecessary steps</a:t>
            </a: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b="1" dirty="0">
                <a:latin typeface="Gotham Black"/>
              </a:rPr>
              <a:t>COMFORTABLE VIEWING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Stable playback, clear navigation, minimal distraction</a:t>
            </a:r>
            <a:endParaRPr lang="sk-SK" dirty="0"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067572F4-5242-3EEE-1731-6245E67D0715}"/>
              </a:ext>
            </a:extLst>
          </p:cNvPr>
          <p:cNvSpPr txBox="1"/>
          <p:nvPr/>
        </p:nvSpPr>
        <p:spPr>
          <a:xfrm>
            <a:off x="535707" y="1828580"/>
            <a:ext cx="1112058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Gotham Black"/>
              </a:rPr>
              <a:t>VOYO is built to make choosing, watching and continuing simple.</a:t>
            </a:r>
            <a:endParaRPr lang="sk-SK" sz="2400" dirty="0">
              <a:solidFill>
                <a:schemeClr val="bg1"/>
              </a:solidFill>
              <a:latin typeface="Gotham Black"/>
            </a:endParaRPr>
          </a:p>
          <a:p>
            <a:pPr marL="0" indent="0">
              <a:spcBef>
                <a:spcPts val="600"/>
              </a:spcBef>
              <a:buNone/>
            </a:pPr>
            <a:endParaRPr lang="sk-SK" sz="2400" dirty="0">
              <a:solidFill>
                <a:schemeClr val="bg1"/>
              </a:solidFill>
              <a:latin typeface="Gotham Black"/>
            </a:endParaRP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DB9E0A"/>
                </a:solidFill>
                <a:latin typeface="Gotham Black"/>
              </a:rPr>
              <a:t>CORE EXPERIENCE PRINCIPLES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92449586-44AB-3B56-40FD-2E9E5852D3F6}"/>
              </a:ext>
            </a:extLst>
          </p:cNvPr>
          <p:cNvSpPr txBox="1"/>
          <p:nvPr/>
        </p:nvSpPr>
        <p:spPr>
          <a:xfrm>
            <a:off x="1643025" y="5678487"/>
            <a:ext cx="98182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b="1" dirty="0">
                <a:solidFill>
                  <a:srgbClr val="FFFBB1"/>
                </a:solidFill>
                <a:latin typeface="Gotham Black"/>
              </a:rPr>
              <a:t>EXPERIENCE CHECK:</a:t>
            </a:r>
          </a:p>
          <a:p>
            <a:r>
              <a:rPr lang="en-US" dirty="0">
                <a:solidFill>
                  <a:srgbClr val="FFFBB1"/>
                </a:solidFill>
                <a:latin typeface="Gotham Black"/>
              </a:rPr>
              <a:t>Does this make watching easier and more comfortable?</a:t>
            </a:r>
            <a:endParaRPr lang="sk-SK" dirty="0">
              <a:solidFill>
                <a:srgbClr val="FFFBB1"/>
              </a:solidFill>
              <a:latin typeface="Gotham Black"/>
            </a:endParaRP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7F803B78-1A99-16DC-A308-D1A47B1F3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816066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Rovná spojnica 4">
            <a:extLst>
              <a:ext uri="{FF2B5EF4-FFF2-40B4-BE49-F238E27FC236}">
                <a16:creationId xmlns:a16="http://schemas.microsoft.com/office/drawing/2014/main" id="{4DABAD44-09F9-988A-9C6D-367EAB42B0CB}"/>
              </a:ext>
            </a:extLst>
          </p:cNvPr>
          <p:cNvCxnSpPr>
            <a:cxnSpLocks/>
          </p:cNvCxnSpPr>
          <p:nvPr/>
        </p:nvCxnSpPr>
        <p:spPr>
          <a:xfrm>
            <a:off x="5570323" y="3639730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4264488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510F4-21F9-DD7D-6934-200F3A3D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E0D91FA4-8194-0E0D-CA60-873CB0087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5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77379FE5-E843-144F-F9E4-FFCF92084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 anchor="ctr">
            <a:normAutofit/>
          </a:bodyPr>
          <a:lstStyle/>
          <a:p>
            <a:r>
              <a:rPr lang="sk-SK" sz="6000" b="1" dirty="0">
                <a:latin typeface="Gotham Black"/>
              </a:rPr>
              <a:t>BRAND</a:t>
            </a:r>
            <a:r>
              <a:rPr lang="sk-SK" sz="6000" dirty="0">
                <a:latin typeface="Gotham Black"/>
              </a:rPr>
              <a:t> EXPRESSION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382A4B7F-8F96-920E-D5F9-5C27987C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43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8748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F05E-C809-747C-94BF-B7F7BE307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6F9AA9DD-415A-0D8A-094E-888A186B0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5.1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EAFB3BB8-D21D-31F6-944E-5A8551CAF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902441"/>
            <a:ext cx="11068493" cy="1520260"/>
          </a:xfrm>
        </p:spPr>
        <p:txBody>
          <a:bodyPr anchor="ctr">
            <a:noAutofit/>
          </a:bodyPr>
          <a:lstStyle/>
          <a:p>
            <a:r>
              <a:rPr lang="en-US" sz="6000" b="1" dirty="0">
                <a:latin typeface="Gotham Black"/>
              </a:rPr>
              <a:t>Speaking</a:t>
            </a:r>
            <a:r>
              <a:rPr lang="en-US" sz="6000" dirty="0">
                <a:latin typeface="Gotham Black"/>
              </a:rPr>
              <a:t> in the VOYO Way</a:t>
            </a:r>
            <a:endParaRPr lang="sk-SK" sz="60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81E4C0F8-0D02-6EC2-8E8E-3F1BB16A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44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183848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A44DB3-9FE9-742D-CF0A-96B90A7A9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39" y="612847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>
                <a:latin typeface="Gotham Black"/>
              </a:rPr>
              <a:t>Brand Personality </a:t>
            </a:r>
            <a:r>
              <a:rPr lang="sk-SK" dirty="0">
                <a:latin typeface="Gotham Black"/>
              </a:rPr>
              <a:t>and Voice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023E81C-F04F-2F8F-1D8F-996360144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4916" y="1548245"/>
            <a:ext cx="7326420" cy="499066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Gotham Black"/>
              </a:rPr>
              <a:t>VOYO communicates as a familiar local presence, a streaming service that feels close to the viewer’s world. </a:t>
            </a:r>
            <a:endParaRPr lang="sk-SK" sz="1600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Gotham Black"/>
              </a:rPr>
              <a:t>We speak with warmth, energy, and emotional relevance, creating entertainment moments people want to share.</a:t>
            </a:r>
          </a:p>
          <a:p>
            <a:pPr marL="0" indent="0">
              <a:buNone/>
            </a:pPr>
            <a:endParaRPr lang="en-US" sz="1400" dirty="0">
              <a:latin typeface="Gotham Black"/>
            </a:endParaRPr>
          </a:p>
          <a:p>
            <a:pPr marL="0" indent="0">
              <a:buNone/>
            </a:pPr>
            <a:r>
              <a:rPr lang="en-US" sz="1400" dirty="0">
                <a:latin typeface="Gotham Black"/>
              </a:rPr>
              <a:t>Our communication is:</a:t>
            </a:r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FRIENDLY AND DIRECT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Clear, everyday language, without corporate tone</a:t>
            </a:r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LIVELY, NEVER OVERDONE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Energetic and present, but never loud or forced</a:t>
            </a:r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PLAYFUL AND EMOTIONALLY CLOSE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Real emotions, </a:t>
            </a:r>
            <a:r>
              <a:rPr lang="en-US" sz="1400" dirty="0" err="1">
                <a:latin typeface="Gotham Black"/>
              </a:rPr>
              <a:t>humour</a:t>
            </a:r>
            <a:r>
              <a:rPr lang="en-US" sz="1400" dirty="0">
                <a:latin typeface="Gotham Black"/>
              </a:rPr>
              <a:t>, and moments that feel natural and shared</a:t>
            </a:r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AUTHENTIC AND LOCALLY FLUENT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A voice that feels culturally “from here”, not generic</a:t>
            </a:r>
          </a:p>
          <a:p>
            <a:endParaRPr lang="sk-SK" sz="1400" dirty="0">
              <a:latin typeface="Gotham Black"/>
            </a:endParaRPr>
          </a:p>
        </p:txBody>
      </p:sp>
      <p:pic>
        <p:nvPicPr>
          <p:cNvPr id="14" name="Obrázok 13">
            <a:extLst>
              <a:ext uri="{FF2B5EF4-FFF2-40B4-BE49-F238E27FC236}">
                <a16:creationId xmlns:a16="http://schemas.microsoft.com/office/drawing/2014/main" id="{CA48E373-5F78-77B5-3DA7-8690CCF40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" r="146"/>
          <a:stretch/>
        </p:blipFill>
        <p:spPr>
          <a:xfrm>
            <a:off x="622434" y="2328333"/>
            <a:ext cx="3210238" cy="3578228"/>
          </a:xfrm>
          <a:prstGeom prst="rect">
            <a:avLst/>
          </a:prstGeom>
        </p:spPr>
      </p:pic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F049C2F-07A8-24C8-3245-8CE32BA6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45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858279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345C4-010F-B8DF-15AE-8B2CE2074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D52E98-EE11-6EA9-5687-06A36102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08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solidFill>
                  <a:srgbClr val="FFFFFF"/>
                </a:solidFill>
                <a:latin typeface="Gotham Black"/>
              </a:rPr>
              <a:t>Communication Principles</a:t>
            </a: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FFAF21C3-BACD-D52E-38E3-7C74E08F0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456107"/>
            <a:ext cx="11277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Gotham Black"/>
              </a:rPr>
              <a:t>VOYO is local streaming, fully in tune with your world, with premium entertainment at its heart.</a:t>
            </a:r>
          </a:p>
          <a:p>
            <a:pPr marL="0" indent="0">
              <a:buNone/>
            </a:pPr>
            <a:endParaRPr lang="sk-SK" sz="2000" dirty="0">
              <a:latin typeface="Gotham Black"/>
            </a:endParaRPr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B5CF2298-0EBE-2182-852B-AF4C1462C78A}"/>
              </a:ext>
            </a:extLst>
          </p:cNvPr>
          <p:cNvSpPr/>
          <p:nvPr/>
        </p:nvSpPr>
        <p:spPr>
          <a:xfrm>
            <a:off x="461818" y="2327493"/>
            <a:ext cx="5556123" cy="2699075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latin typeface="Gotham Black"/>
            </a:endParaRPr>
          </a:p>
        </p:txBody>
      </p:sp>
      <p:sp>
        <p:nvSpPr>
          <p:cNvPr id="12" name="Obdĺžnik 11">
            <a:extLst>
              <a:ext uri="{FF2B5EF4-FFF2-40B4-BE49-F238E27FC236}">
                <a16:creationId xmlns:a16="http://schemas.microsoft.com/office/drawing/2014/main" id="{3A4E7CA1-8421-74ED-9835-3D0187D49726}"/>
              </a:ext>
            </a:extLst>
          </p:cNvPr>
          <p:cNvSpPr/>
          <p:nvPr/>
        </p:nvSpPr>
        <p:spPr>
          <a:xfrm>
            <a:off x="6174059" y="2327493"/>
            <a:ext cx="5565359" cy="2699075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latin typeface="Gotham Black"/>
            </a:endParaRP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67EB2754-0FE1-0032-1B65-9DF5CBEBE53A}"/>
              </a:ext>
            </a:extLst>
          </p:cNvPr>
          <p:cNvSpPr txBox="1"/>
          <p:nvPr/>
        </p:nvSpPr>
        <p:spPr>
          <a:xfrm>
            <a:off x="560140" y="2404360"/>
            <a:ext cx="5201563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Gotham Black"/>
              </a:rPr>
              <a:t>WHAT WE SAY</a:t>
            </a:r>
            <a:r>
              <a:rPr lang="sk-SK" sz="1600" b="1" dirty="0">
                <a:solidFill>
                  <a:schemeClr val="bg1"/>
                </a:solidFill>
                <a:latin typeface="Gotham Black"/>
              </a:rPr>
              <a:t>:</a:t>
            </a:r>
          </a:p>
          <a:p>
            <a:endParaRPr lang="en-US" sz="1600" dirty="0">
              <a:solidFill>
                <a:schemeClr val="bg1"/>
              </a:solidFill>
              <a:latin typeface="Gotham Black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We highlight local entertainment that fits the viewer’s world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We position VOYO as the easiest choice for familiar stories and big moments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We communicate clear reasons to subscribe: first access, full seasons, shared events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BFCC24D5-074F-3DAA-3E81-E43A7D9342BD}"/>
              </a:ext>
            </a:extLst>
          </p:cNvPr>
          <p:cNvSpPr txBox="1"/>
          <p:nvPr/>
        </p:nvSpPr>
        <p:spPr>
          <a:xfrm>
            <a:off x="6336592" y="2404360"/>
            <a:ext cx="5167149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Gotham Black"/>
              </a:rPr>
              <a:t>HOW WE SAY IT</a:t>
            </a:r>
            <a:r>
              <a:rPr lang="sk-SK" sz="1600" b="1" dirty="0">
                <a:solidFill>
                  <a:schemeClr val="bg1"/>
                </a:solidFill>
                <a:latin typeface="Gotham Black"/>
              </a:rPr>
              <a:t>: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Gotham Black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We use simple, direct language that feels human and close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We sound lively and real - never exaggerated or clickbait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We keep messaging emotional, clear, and easy to choose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A1331579-FCE1-D0B3-74D2-205F43EA11BF}"/>
              </a:ext>
            </a:extLst>
          </p:cNvPr>
          <p:cNvSpPr txBox="1"/>
          <p:nvPr/>
        </p:nvSpPr>
        <p:spPr>
          <a:xfrm>
            <a:off x="1474066" y="5503778"/>
            <a:ext cx="92438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61970"/>
            <a:r>
              <a:rPr lang="en-US" sz="1600" b="1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Example</a:t>
            </a:r>
          </a:p>
          <a:p>
            <a:pPr defTabSz="761970"/>
            <a:r>
              <a:rPr lang="en-US" sz="1600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We don’t say: “We have a new series.”</a:t>
            </a:r>
            <a:br>
              <a:rPr lang="en-US" sz="1600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600" dirty="0">
                <a:solidFill>
                  <a:srgbClr val="FFFBB1"/>
                </a:solidFill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We say: “A new local story, ready whenever you are. Only on VOYO.”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4FD1AD2D-A9BC-ADEE-7BBC-644E25661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46</a:t>
            </a:fld>
            <a:endParaRPr lang="sk-SK"/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D53AB977-C647-89E2-3A33-3286EB7FE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705560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3788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54BC4-68D8-E691-3077-6484A0F8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026E29-2B04-178A-DE6B-6FEBF912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662" y="613867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Tone for Various Content Genres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73A5E681-C1F7-04B7-081C-1152289C5637}"/>
              </a:ext>
            </a:extLst>
          </p:cNvPr>
          <p:cNvSpPr/>
          <p:nvPr/>
        </p:nvSpPr>
        <p:spPr>
          <a:xfrm>
            <a:off x="471352" y="2367564"/>
            <a:ext cx="2737879" cy="4034045"/>
          </a:xfrm>
          <a:prstGeom prst="roundRect">
            <a:avLst>
              <a:gd name="adj" fmla="val 4647"/>
            </a:avLst>
          </a:prstGeom>
          <a:noFill/>
          <a:ln w="12700">
            <a:solidFill>
              <a:srgbClr val="FFF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Gotham Black"/>
              </a:rPr>
              <a:t> </a:t>
            </a:r>
            <a:r>
              <a:rPr lang="en-US" sz="1400" b="1" dirty="0">
                <a:solidFill>
                  <a:srgbClr val="DB9E0A"/>
                </a:solidFill>
                <a:latin typeface="Gotham Black"/>
              </a:rPr>
              <a:t>LOCAL SERIES &amp; FILMS</a:t>
            </a:r>
            <a:endParaRPr lang="sk-SK" sz="1400" b="1" dirty="0">
              <a:solidFill>
                <a:srgbClr val="DB9E0A"/>
              </a:solidFill>
              <a:latin typeface="Gotham Black"/>
            </a:endParaRPr>
          </a:p>
          <a:p>
            <a:pPr algn="ctr"/>
            <a:endParaRPr lang="en-US" sz="1400" dirty="0">
              <a:solidFill>
                <a:srgbClr val="DB9E0A"/>
              </a:solidFill>
              <a:latin typeface="Gotham Black"/>
            </a:endParaRP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bg1"/>
                </a:solidFill>
                <a:latin typeface="Gotham Black"/>
              </a:rPr>
              <a:t>Familiar, emotionally close, culturally grounded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bg1"/>
                </a:solidFill>
                <a:latin typeface="Gotham Black"/>
              </a:rPr>
              <a:t>Stories that feel instantly ours - local faces, real emotions, everyday life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bg1"/>
                </a:solidFill>
                <a:latin typeface="Gotham Black"/>
              </a:rPr>
              <a:t>Warm, human, never overdone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02D06E4-55AA-067F-3AB2-7D22C3511B49}"/>
              </a:ext>
            </a:extLst>
          </p:cNvPr>
          <p:cNvSpPr/>
          <p:nvPr/>
        </p:nvSpPr>
        <p:spPr>
          <a:xfrm>
            <a:off x="3358121" y="2375349"/>
            <a:ext cx="2737879" cy="4034045"/>
          </a:xfrm>
          <a:prstGeom prst="roundRect">
            <a:avLst>
              <a:gd name="adj" fmla="val 4647"/>
            </a:avLst>
          </a:prstGeom>
          <a:noFill/>
          <a:ln w="12700">
            <a:solidFill>
              <a:srgbClr val="FFF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Gotham Black"/>
              </a:rPr>
              <a:t> </a:t>
            </a:r>
            <a:r>
              <a:rPr lang="en-US" sz="1400" b="1" dirty="0">
                <a:solidFill>
                  <a:srgbClr val="DB9E0A"/>
                </a:solidFill>
                <a:latin typeface="Gotham Black"/>
              </a:rPr>
              <a:t>REALITY &amp; ENTERTAINMENT</a:t>
            </a:r>
            <a:endParaRPr lang="sk-SK" sz="1400" b="1" dirty="0">
              <a:solidFill>
                <a:srgbClr val="DB9E0A"/>
              </a:solidFill>
              <a:latin typeface="Gotham Black"/>
            </a:endParaRPr>
          </a:p>
          <a:p>
            <a:pPr algn="ctr"/>
            <a:endParaRPr lang="en-US" sz="1400" dirty="0">
              <a:solidFill>
                <a:schemeClr val="bg1"/>
              </a:solidFill>
              <a:latin typeface="Gotham Black"/>
            </a:endParaRP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bg1"/>
                </a:solidFill>
                <a:latin typeface="Gotham Black"/>
              </a:rPr>
              <a:t>High emotion, big moments, instantly shareable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bg1"/>
                </a:solidFill>
                <a:latin typeface="Gotham Black"/>
              </a:rPr>
              <a:t>VOYO is most lively here - playful, bold, built for reactions and conversation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E990B0F-70EB-28C8-CD72-3279DE2D473E}"/>
              </a:ext>
            </a:extLst>
          </p:cNvPr>
          <p:cNvSpPr/>
          <p:nvPr/>
        </p:nvSpPr>
        <p:spPr>
          <a:xfrm>
            <a:off x="6212781" y="2375349"/>
            <a:ext cx="2737879" cy="4034045"/>
          </a:xfrm>
          <a:prstGeom prst="roundRect">
            <a:avLst>
              <a:gd name="adj" fmla="val 4647"/>
            </a:avLst>
          </a:prstGeom>
          <a:noFill/>
          <a:ln w="12700">
            <a:solidFill>
              <a:srgbClr val="FFF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k-SK" sz="1400" b="1" dirty="0">
                <a:solidFill>
                  <a:srgbClr val="DB9E0A"/>
                </a:solidFill>
                <a:latin typeface="Gotham Black"/>
              </a:rPr>
              <a:t>SPORT</a:t>
            </a:r>
          </a:p>
          <a:p>
            <a:pPr algn="ctr"/>
            <a:endParaRPr lang="sk-SK" sz="1400" dirty="0">
              <a:solidFill>
                <a:srgbClr val="DB9E0A"/>
              </a:solidFill>
              <a:latin typeface="Gotham Black"/>
            </a:endParaRP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bg1"/>
                </a:solidFill>
                <a:latin typeface="Gotham Black"/>
              </a:rPr>
              <a:t>High energy, premium excitement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bg1"/>
                </a:solidFill>
                <a:latin typeface="Gotham Black"/>
              </a:rPr>
              <a:t>Immediate, high-stakes moments - bold, clear, never chaotic</a:t>
            </a:r>
          </a:p>
          <a:p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pPr>
              <a:spcBef>
                <a:spcPts val="600"/>
              </a:spcBef>
            </a:pPr>
            <a:endParaRPr lang="sk-SK" sz="1400" dirty="0">
              <a:solidFill>
                <a:schemeClr val="bg1"/>
              </a:solidFill>
              <a:latin typeface="Gotham Black"/>
            </a:endParaRPr>
          </a:p>
          <a:p>
            <a:pPr>
              <a:spcBef>
                <a:spcPts val="600"/>
              </a:spcBef>
            </a:pPr>
            <a:endParaRPr lang="en-US" sz="1400" dirty="0">
              <a:solidFill>
                <a:schemeClr val="bg1"/>
              </a:solidFill>
              <a:latin typeface="Gotham Black"/>
            </a:endParaRPr>
          </a:p>
          <a:p>
            <a:pPr algn="ctr"/>
            <a:endParaRPr lang="en-US" sz="14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DDEF06C0-82DD-6910-0E23-36C8F3CB5E01}"/>
              </a:ext>
            </a:extLst>
          </p:cNvPr>
          <p:cNvSpPr/>
          <p:nvPr/>
        </p:nvSpPr>
        <p:spPr>
          <a:xfrm>
            <a:off x="9067441" y="2343807"/>
            <a:ext cx="2737879" cy="4034044"/>
          </a:xfrm>
          <a:prstGeom prst="roundRect">
            <a:avLst>
              <a:gd name="adj" fmla="val 4647"/>
            </a:avLst>
          </a:prstGeom>
          <a:noFill/>
          <a:ln w="12700">
            <a:solidFill>
              <a:srgbClr val="FFF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rgbClr val="DB9E0A"/>
                </a:solidFill>
                <a:latin typeface="Gotham Black"/>
              </a:rPr>
              <a:t>BLOCKBUSTERS &amp; ACQUIRED HITS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bg1"/>
                </a:solidFill>
                <a:latin typeface="Gotham Black"/>
              </a:rPr>
              <a:t>Big entertainment, clearly chosen for you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bg1"/>
                </a:solidFill>
                <a:latin typeface="Gotham Black"/>
              </a:rPr>
              <a:t>Global hits, presented through VOYO’s selection - not endless browsing</a:t>
            </a:r>
          </a:p>
        </p:txBody>
      </p: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5CF8F610-15DE-9EED-378E-E9B3D35F9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5" y="1521412"/>
            <a:ext cx="11419195" cy="413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</a:t>
            </a: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always sounds familiar and confident. The energy and emotional register adapt to the content.</a:t>
            </a:r>
          </a:p>
          <a:p>
            <a:endParaRPr lang="sk-SK" sz="1800" dirty="0"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34D21012-B9B7-1EE4-513C-860CB9354971}"/>
              </a:ext>
            </a:extLst>
          </p:cNvPr>
          <p:cNvSpPr txBox="1"/>
          <p:nvPr/>
        </p:nvSpPr>
        <p:spPr>
          <a:xfrm>
            <a:off x="471352" y="5480905"/>
            <a:ext cx="26220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100" b="1" dirty="0">
                <a:solidFill>
                  <a:srgbClr val="FFFBB1"/>
                </a:solidFill>
                <a:latin typeface="Gotham Black"/>
              </a:rPr>
              <a:t>Example: </a:t>
            </a:r>
          </a:p>
          <a:p>
            <a:pPr>
              <a:spcBef>
                <a:spcPts val="600"/>
              </a:spcBef>
            </a:pPr>
            <a:r>
              <a:rPr lang="en-US" sz="1100" dirty="0">
                <a:solidFill>
                  <a:srgbClr val="FFFBB1"/>
                </a:solidFill>
                <a:latin typeface="Gotham Black"/>
              </a:rPr>
              <a:t>“A local story that feels instantly yours. Ready on </a:t>
            </a:r>
            <a:r>
              <a:rPr lang="en-US" sz="1100" dirty="0" err="1">
                <a:solidFill>
                  <a:srgbClr val="FFFBB1"/>
                </a:solidFill>
                <a:latin typeface="Gotham Black"/>
              </a:rPr>
              <a:t>VOYO</a:t>
            </a:r>
            <a:r>
              <a:rPr lang="en-US" sz="1100" dirty="0">
                <a:solidFill>
                  <a:srgbClr val="FFFBB1"/>
                </a:solidFill>
                <a:latin typeface="Gotham Black"/>
              </a:rPr>
              <a:t>.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CDC69996-F81A-AEE1-7E2B-6AE14796EAFE}"/>
              </a:ext>
            </a:extLst>
          </p:cNvPr>
          <p:cNvSpPr txBox="1"/>
          <p:nvPr/>
        </p:nvSpPr>
        <p:spPr>
          <a:xfrm>
            <a:off x="3373705" y="5480905"/>
            <a:ext cx="270670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spcBef>
                <a:spcPts val="600"/>
              </a:spcBef>
              <a:defRPr sz="1400" b="1">
                <a:solidFill>
                  <a:srgbClr val="FFFBB1"/>
                </a:solidFill>
                <a:latin typeface="Gotham Book" panose="02000604040000020004"/>
              </a:defRPr>
            </a:lvl1pPr>
          </a:lstStyle>
          <a:p>
            <a:r>
              <a:rPr lang="en-US" sz="1100">
                <a:latin typeface="Gotham Black"/>
              </a:rPr>
              <a:t>Example:</a:t>
            </a:r>
            <a:endParaRPr lang="sk-SK" sz="1100">
              <a:latin typeface="Gotham Black"/>
            </a:endParaRPr>
          </a:p>
          <a:p>
            <a:r>
              <a:rPr lang="en-US" sz="1100" b="0">
                <a:latin typeface="Gotham Black"/>
              </a:rPr>
              <a:t>“The moments everyone will be talking about. Watch it first on VOYO.”</a:t>
            </a:r>
          </a:p>
        </p:txBody>
      </p:sp>
      <p:sp>
        <p:nvSpPr>
          <p:cNvPr id="16" name="BlokTextu 15">
            <a:extLst>
              <a:ext uri="{FF2B5EF4-FFF2-40B4-BE49-F238E27FC236}">
                <a16:creationId xmlns:a16="http://schemas.microsoft.com/office/drawing/2014/main" id="{E2064A56-69F7-541F-10D1-2AA23A06A21D}"/>
              </a:ext>
            </a:extLst>
          </p:cNvPr>
          <p:cNvSpPr txBox="1"/>
          <p:nvPr/>
        </p:nvSpPr>
        <p:spPr>
          <a:xfrm>
            <a:off x="6244890" y="5480905"/>
            <a:ext cx="266159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spcBef>
                <a:spcPts val="600"/>
              </a:spcBef>
              <a:defRPr sz="1400" b="1">
                <a:solidFill>
                  <a:srgbClr val="FFFBB1"/>
                </a:solidFill>
                <a:latin typeface="Gotham Book" panose="02000604040000020004"/>
              </a:defRPr>
            </a:lvl1pPr>
          </a:lstStyle>
          <a:p>
            <a:r>
              <a:rPr lang="en-US" sz="1100">
                <a:latin typeface="Gotham Black"/>
              </a:rPr>
              <a:t>Example: </a:t>
            </a:r>
          </a:p>
          <a:p>
            <a:r>
              <a:rPr lang="en-US" sz="1100" b="0">
                <a:latin typeface="Gotham Black"/>
              </a:rPr>
              <a:t>“Kick-off is live on VOYO. Every moment, ready when you are.”</a:t>
            </a: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55FB74AE-91B6-C6E4-2D7D-0DB06776FB1C}"/>
              </a:ext>
            </a:extLst>
          </p:cNvPr>
          <p:cNvSpPr txBox="1"/>
          <p:nvPr/>
        </p:nvSpPr>
        <p:spPr>
          <a:xfrm>
            <a:off x="9067441" y="5480905"/>
            <a:ext cx="265320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spcBef>
                <a:spcPts val="600"/>
              </a:spcBef>
              <a:defRPr sz="1400" b="1">
                <a:solidFill>
                  <a:srgbClr val="FFFBB1"/>
                </a:solidFill>
                <a:latin typeface="Gotham Book" panose="02000604040000020004"/>
              </a:defRPr>
            </a:lvl1pPr>
          </a:lstStyle>
          <a:p>
            <a:r>
              <a:rPr lang="en-US" sz="1100">
                <a:latin typeface="Gotham Black"/>
              </a:rPr>
              <a:t>Example: </a:t>
            </a:r>
          </a:p>
          <a:p>
            <a:r>
              <a:rPr lang="en-US" sz="1100" b="0">
                <a:latin typeface="Gotham Black"/>
              </a:rPr>
              <a:t>“Tonight’s blockbuster pick, ready on VOYO.”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18D3A9C4-1F33-97E4-1F59-C6EAB019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47</a:t>
            </a:fld>
            <a:endParaRPr lang="sk-SK"/>
          </a:p>
        </p:txBody>
      </p: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7C4601CA-DD5B-6938-800D-7E5E8016EA6A}"/>
              </a:ext>
            </a:extLst>
          </p:cNvPr>
          <p:cNvCxnSpPr>
            <a:cxnSpLocks/>
          </p:cNvCxnSpPr>
          <p:nvPr/>
        </p:nvCxnSpPr>
        <p:spPr>
          <a:xfrm flipH="1">
            <a:off x="1162050" y="5106580"/>
            <a:ext cx="1303123" cy="0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Rovná spojnica 4">
            <a:extLst>
              <a:ext uri="{FF2B5EF4-FFF2-40B4-BE49-F238E27FC236}">
                <a16:creationId xmlns:a16="http://schemas.microsoft.com/office/drawing/2014/main" id="{0F579B2A-35F1-8628-2907-E9AA48D556AF}"/>
              </a:ext>
            </a:extLst>
          </p:cNvPr>
          <p:cNvCxnSpPr>
            <a:cxnSpLocks/>
          </p:cNvCxnSpPr>
          <p:nvPr/>
        </p:nvCxnSpPr>
        <p:spPr>
          <a:xfrm flipH="1">
            <a:off x="4095750" y="5098235"/>
            <a:ext cx="1303123" cy="0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Rovná spojnica 4">
            <a:extLst>
              <a:ext uri="{FF2B5EF4-FFF2-40B4-BE49-F238E27FC236}">
                <a16:creationId xmlns:a16="http://schemas.microsoft.com/office/drawing/2014/main" id="{E343DF2A-6698-24A0-3D6A-6049F5A31EBD}"/>
              </a:ext>
            </a:extLst>
          </p:cNvPr>
          <p:cNvCxnSpPr>
            <a:cxnSpLocks/>
          </p:cNvCxnSpPr>
          <p:nvPr/>
        </p:nvCxnSpPr>
        <p:spPr>
          <a:xfrm flipH="1">
            <a:off x="6934200" y="5091070"/>
            <a:ext cx="1303123" cy="0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Rovná spojnica 4">
            <a:extLst>
              <a:ext uri="{FF2B5EF4-FFF2-40B4-BE49-F238E27FC236}">
                <a16:creationId xmlns:a16="http://schemas.microsoft.com/office/drawing/2014/main" id="{8D65B530-D6F7-1876-3E41-8C396DA39BF0}"/>
              </a:ext>
            </a:extLst>
          </p:cNvPr>
          <p:cNvCxnSpPr>
            <a:cxnSpLocks/>
          </p:cNvCxnSpPr>
          <p:nvPr/>
        </p:nvCxnSpPr>
        <p:spPr>
          <a:xfrm flipH="1">
            <a:off x="9867900" y="5086265"/>
            <a:ext cx="1303123" cy="0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4864666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C05C8-FCD6-A5D8-4DDB-6D5D28D7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C9E30FD8-7481-DFCE-CE9B-228AD4D55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5.2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F8C942DC-A717-9778-B15D-A14FB1FDE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 anchor="ctr">
            <a:normAutofit/>
          </a:bodyPr>
          <a:lstStyle/>
          <a:p>
            <a:r>
              <a:rPr lang="en-US" sz="6600" b="1" dirty="0">
                <a:latin typeface="Gotham Black"/>
              </a:rPr>
              <a:t>Visual</a:t>
            </a:r>
            <a:r>
              <a:rPr lang="en-US" sz="6600" dirty="0">
                <a:latin typeface="Gotham Black"/>
              </a:rPr>
              <a:t> Identity</a:t>
            </a:r>
            <a:endParaRPr lang="sk-SK" sz="66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673888D2-015E-5CAD-8FFF-C51CA0D3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48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823847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96C3AD-9BC4-A029-DA87-821F1922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Logo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F0A953E-F3EC-6E98-7248-3DFEA0971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436164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The primary VOYO logo combines the original VOYO wordmark with the signature comet underline.</a:t>
            </a: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The comet extends from left to right and transitions into a transparent gradient, creating a sense of motion and continuity.</a:t>
            </a:r>
          </a:p>
          <a:p>
            <a:endParaRPr lang="sk-SK" sz="18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1CFEAAA-C50F-2E6C-D636-CF86D418C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49</a:t>
            </a:fld>
            <a:endParaRPr lang="sk-SK"/>
          </a:p>
        </p:txBody>
      </p:sp>
      <p:pic>
        <p:nvPicPr>
          <p:cNvPr id="5" name="Obrázok 4" descr="Obrázok, na ktorom je písmo, grafika, logo, snímka obrazovky&#10;&#10;Automaticky generovaný popis">
            <a:extLst>
              <a:ext uri="{FF2B5EF4-FFF2-40B4-BE49-F238E27FC236}">
                <a16:creationId xmlns:a16="http://schemas.microsoft.com/office/drawing/2014/main" id="{B80C38ED-F972-1413-35DC-88876EE66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8" t="16892" r="7581" b="14614"/>
          <a:stretch>
            <a:fillRect/>
          </a:stretch>
        </p:blipFill>
        <p:spPr>
          <a:xfrm>
            <a:off x="155449" y="3903345"/>
            <a:ext cx="5303520" cy="2660904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0FD9FDC7-14F9-4E2D-CFFF-9342F5C8B1F9}"/>
              </a:ext>
            </a:extLst>
          </p:cNvPr>
          <p:cNvSpPr txBox="1"/>
          <p:nvPr/>
        </p:nvSpPr>
        <p:spPr>
          <a:xfrm>
            <a:off x="1857327" y="4191406"/>
            <a:ext cx="13494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000" dirty="0" err="1">
                <a:solidFill>
                  <a:schemeClr val="bg1"/>
                </a:solidFill>
                <a:latin typeface="Gotham Black"/>
              </a:rPr>
              <a:t>Full-colour</a:t>
            </a:r>
            <a:r>
              <a:rPr lang="sk-SK" sz="1000" dirty="0">
                <a:solidFill>
                  <a:schemeClr val="bg1"/>
                </a:solidFill>
                <a:latin typeface="Gotham Black"/>
              </a:rPr>
              <a:t> logo</a:t>
            </a:r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734125C9-93C9-2158-CDA7-F2DE2406C9C4}"/>
              </a:ext>
            </a:extLst>
          </p:cNvPr>
          <p:cNvSpPr/>
          <p:nvPr/>
        </p:nvSpPr>
        <p:spPr>
          <a:xfrm>
            <a:off x="7690704" y="1885072"/>
            <a:ext cx="3988800" cy="22417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0" name="Obrázok 9" descr="Obrázok, na ktorom je písmo, grafika, čierno-biela, čierny&#10;&#10;Automaticky generovaný popis">
            <a:extLst>
              <a:ext uri="{FF2B5EF4-FFF2-40B4-BE49-F238E27FC236}">
                <a16:creationId xmlns:a16="http://schemas.microsoft.com/office/drawing/2014/main" id="{2F07C28D-75E5-77F9-A09E-23D59D058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7" t="21435" r="20794" b="21434"/>
          <a:stretch>
            <a:fillRect/>
          </a:stretch>
        </p:blipFill>
        <p:spPr>
          <a:xfrm>
            <a:off x="7690705" y="1885072"/>
            <a:ext cx="4039478" cy="2241798"/>
          </a:xfrm>
          <a:prstGeom prst="rect">
            <a:avLst/>
          </a:prstGeom>
        </p:spPr>
      </p:pic>
      <p:sp>
        <p:nvSpPr>
          <p:cNvPr id="11" name="Obdĺžnik 10">
            <a:extLst>
              <a:ext uri="{FF2B5EF4-FFF2-40B4-BE49-F238E27FC236}">
                <a16:creationId xmlns:a16="http://schemas.microsoft.com/office/drawing/2014/main" id="{AFFD898C-D590-0736-9F3A-2769AE018BDD}"/>
              </a:ext>
            </a:extLst>
          </p:cNvPr>
          <p:cNvSpPr/>
          <p:nvPr/>
        </p:nvSpPr>
        <p:spPr>
          <a:xfrm>
            <a:off x="7690704" y="4097205"/>
            <a:ext cx="3988800" cy="2241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pic>
        <p:nvPicPr>
          <p:cNvPr id="12" name="Obrázok 11" descr="Obrázok, na ktorom je čierny, čierno-biela, temnota, grafika&#10;&#10;Automaticky generovaný popis">
            <a:extLst>
              <a:ext uri="{FF2B5EF4-FFF2-40B4-BE49-F238E27FC236}">
                <a16:creationId xmlns:a16="http://schemas.microsoft.com/office/drawing/2014/main" id="{BCCEC2A4-8B3B-8BE0-FCE1-86724B439E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79" t="21892" r="24789" b="20948"/>
          <a:stretch>
            <a:fillRect/>
          </a:stretch>
        </p:blipFill>
        <p:spPr>
          <a:xfrm>
            <a:off x="7690704" y="4097204"/>
            <a:ext cx="3988800" cy="2241799"/>
          </a:xfrm>
          <a:prstGeom prst="rect">
            <a:avLst/>
          </a:prstGeom>
        </p:spPr>
      </p:pic>
      <p:sp>
        <p:nvSpPr>
          <p:cNvPr id="14" name="BlokTextu 13">
            <a:extLst>
              <a:ext uri="{FF2B5EF4-FFF2-40B4-BE49-F238E27FC236}">
                <a16:creationId xmlns:a16="http://schemas.microsoft.com/office/drawing/2014/main" id="{BAF6F223-49ED-D600-7830-24E1B854D13D}"/>
              </a:ext>
            </a:extLst>
          </p:cNvPr>
          <p:cNvSpPr txBox="1"/>
          <p:nvPr/>
        </p:nvSpPr>
        <p:spPr>
          <a:xfrm>
            <a:off x="5615942" y="2690500"/>
            <a:ext cx="2069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Gotham Black"/>
              </a:rPr>
              <a:t>White logo on dark backgrounds</a:t>
            </a:r>
            <a:endParaRPr lang="sk-SK" sz="10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68A1E28F-BB8D-30CA-6075-D751B0F39BFB}"/>
              </a:ext>
            </a:extLst>
          </p:cNvPr>
          <p:cNvSpPr txBox="1"/>
          <p:nvPr/>
        </p:nvSpPr>
        <p:spPr>
          <a:xfrm>
            <a:off x="5698259" y="4926317"/>
            <a:ext cx="2069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Gotham Black"/>
              </a:rPr>
              <a:t>Black logo on light backgrounds</a:t>
            </a:r>
            <a:endParaRPr lang="sk-SK" sz="10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F9867FE0-C2CA-A7E1-E77A-7074110DA276}"/>
              </a:ext>
            </a:extLst>
          </p:cNvPr>
          <p:cNvSpPr txBox="1"/>
          <p:nvPr/>
        </p:nvSpPr>
        <p:spPr>
          <a:xfrm>
            <a:off x="461818" y="6110129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 Black"/>
              </a:rPr>
              <a:t>Use only approved logo versions. Do not modify </a:t>
            </a:r>
            <a:r>
              <a:rPr lang="en-US" sz="1200" dirty="0" err="1">
                <a:solidFill>
                  <a:schemeClr val="bg1"/>
                </a:solidFill>
                <a:latin typeface="Gotham Black"/>
              </a:rPr>
              <a:t>colours</a:t>
            </a:r>
            <a:r>
              <a:rPr lang="en-US" sz="1200" dirty="0">
                <a:solidFill>
                  <a:schemeClr val="bg1"/>
                </a:solidFill>
                <a:latin typeface="Gotham Black"/>
              </a:rPr>
              <a:t>, proportions, or effects.</a:t>
            </a:r>
            <a:endParaRPr lang="sk-SK" sz="1200" dirty="0">
              <a:solidFill>
                <a:schemeClr val="bg1"/>
              </a:solidFill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5257315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5B4C-B06D-F902-E152-7384C104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F6A6EC-E71A-8F37-4AC9-34793857F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V </a:t>
            </a:r>
            <a:r>
              <a:rPr lang="sk-SK" dirty="0" err="1">
                <a:latin typeface="Gotham Black"/>
              </a:rPr>
              <a:t>Icon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2C1BFD8-08EE-B5BC-CCC2-C0D9F786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50</a:t>
            </a:fld>
            <a:endParaRPr lang="sk-SK"/>
          </a:p>
        </p:txBody>
      </p: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0B216525-B41B-CEA1-9137-2CC2F798E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52277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The V icon is created from the VOYO logotype symbol and paired with the signature comet underline.</a:t>
            </a: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The underline flows into a transparent gradient, preserving the sense of motion and continuity present in the full logo.</a:t>
            </a: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Use the V icon in app icons, favicons, and compact digital placements.</a:t>
            </a:r>
            <a:endParaRPr lang="sk-SK" sz="1800" dirty="0">
              <a:latin typeface="Gotham Black"/>
            </a:endParaRPr>
          </a:p>
          <a:p>
            <a:pPr marL="0" indent="0">
              <a:buNone/>
            </a:pPr>
            <a:endParaRPr lang="sk-SK" sz="1800" dirty="0"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2CCF6E2D-95A3-3721-8FE6-DF578D3339AE}"/>
              </a:ext>
            </a:extLst>
          </p:cNvPr>
          <p:cNvSpPr txBox="1"/>
          <p:nvPr/>
        </p:nvSpPr>
        <p:spPr>
          <a:xfrm>
            <a:off x="461818" y="6102434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defRPr sz="1050">
                <a:solidFill>
                  <a:schemeClr val="bg1"/>
                </a:solidFill>
                <a:latin typeface="Gotham Light"/>
              </a:defRPr>
            </a:lvl1pPr>
          </a:lstStyle>
          <a:p>
            <a:r>
              <a:rPr lang="sk-SK" sz="1200" dirty="0">
                <a:latin typeface="Gotham Black"/>
              </a:rPr>
              <a:t>T</a:t>
            </a:r>
            <a:r>
              <a:rPr lang="en-US" sz="1200" dirty="0">
                <a:latin typeface="Gotham Black"/>
              </a:rPr>
              <a:t>he V icon should not replace the primary logo in brand communication.</a:t>
            </a:r>
            <a:endParaRPr lang="sk-SK" sz="1200" dirty="0">
              <a:latin typeface="Gotham Black"/>
            </a:endParaRPr>
          </a:p>
        </p:txBody>
      </p:sp>
      <p:pic>
        <p:nvPicPr>
          <p:cNvPr id="3" name="Obrázok 2" descr="Obrázok, na ktorom je logo, grafika, dizajn&#10;&#10;Automaticky generovaný popis">
            <a:extLst>
              <a:ext uri="{FF2B5EF4-FFF2-40B4-BE49-F238E27FC236}">
                <a16:creationId xmlns:a16="http://schemas.microsoft.com/office/drawing/2014/main" id="{82638C6A-593C-B81F-8A8C-F09F73237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054" y="2542954"/>
            <a:ext cx="2979146" cy="297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611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AA04E1-188D-DCD2-EC51-F4690171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/>
              <a:t>Primary</a:t>
            </a:r>
            <a:r>
              <a:rPr lang="sk-SK" dirty="0"/>
              <a:t> </a:t>
            </a:r>
            <a:r>
              <a:rPr lang="sk-SK" dirty="0" err="1"/>
              <a:t>Typography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28326B0-4CFD-28EB-01D3-68EF2D1F6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9" y="1825625"/>
            <a:ext cx="3337774" cy="175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Gotham Black"/>
              </a:rPr>
              <a:t>Gotham</a:t>
            </a:r>
            <a:r>
              <a:rPr lang="en-US" sz="1800">
                <a:latin typeface="Gotham Black"/>
              </a:rPr>
              <a:t> is the primary typeface used across VOYO communications.</a:t>
            </a:r>
            <a:endParaRPr lang="sk-SK" sz="1800">
              <a:latin typeface="Montserrat" panose="00000500000000000000" pitchFamily="2" charset="0"/>
            </a:endParaRPr>
          </a:p>
          <a:p>
            <a:pPr marL="0" indent="0">
              <a:buNone/>
            </a:pPr>
            <a:endParaRPr lang="sk-SK" sz="1800" dirty="0">
              <a:latin typeface="Montserrat" panose="00000500000000000000" pitchFamily="2" charset="0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1BE6B96-03D9-3E7E-EC68-242B2FC25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51</a:t>
            </a:fld>
            <a:endParaRPr lang="sk-SK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957C2FB4-FADF-4B8E-EDDA-45BC39DA7CAE}"/>
              </a:ext>
            </a:extLst>
          </p:cNvPr>
          <p:cNvSpPr txBox="1"/>
          <p:nvPr/>
        </p:nvSpPr>
        <p:spPr>
          <a:xfrm>
            <a:off x="8165054" y="1985923"/>
            <a:ext cx="3320140" cy="4370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ABCDEFGHIJKLMN</a:t>
            </a:r>
            <a:endParaRPr lang="en-GB" sz="2500" b="0" i="0" u="none" strike="noStrike" baseline="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r>
              <a:rPr lang="sk-SK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OPQRSTUVWXYZ</a:t>
            </a:r>
            <a:endParaRPr lang="en-GB" sz="2500" b="0" i="0" u="none" strike="noStrike" baseline="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endParaRPr lang="en-GB" sz="250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r>
              <a:rPr lang="en-GB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a</a:t>
            </a:r>
            <a:r>
              <a:rPr lang="sk-SK" sz="2500" b="0" i="0" u="none" strike="noStrike" baseline="0" dirty="0" err="1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bcdefghijklmn</a:t>
            </a:r>
            <a:endParaRPr lang="en-GB" sz="250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r>
              <a:rPr lang="en-GB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o</a:t>
            </a:r>
            <a:r>
              <a:rPr lang="sk-SK" sz="2500" b="0" i="0" u="none" strike="noStrike" baseline="0" dirty="0" err="1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pqrstuvwxyz</a:t>
            </a:r>
            <a:endParaRPr lang="en-GB" sz="250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endParaRPr lang="en-GB" sz="2500" b="0" i="0" u="none" strike="noStrike" baseline="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r>
              <a:rPr lang="sk-SK" sz="2500" b="0" i="0" u="none" strike="noStrike" baseline="0" dirty="0" err="1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áãæčçćěéęĕğíł</a:t>
            </a:r>
            <a:r>
              <a:rPr lang="sk-SK" sz="2500" dirty="0" err="1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ňń</a:t>
            </a:r>
            <a:endParaRPr lang="sk-SK" sz="250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r>
              <a:rPr lang="sk-SK" sz="2500" b="0" i="0" u="none" strike="noStrike" baseline="0" dirty="0" err="1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ó</a:t>
            </a:r>
            <a:r>
              <a:rPr lang="sk-SK" sz="2500" b="1" i="0" dirty="0" err="1">
                <a:solidFill>
                  <a:schemeClr val="bg1"/>
                </a:solidFill>
                <a:effectLst/>
                <a:latin typeface="Gotham Medium" pitchFamily="50" charset="0"/>
                <a:cs typeface="Arial" panose="020B0604020202020204" pitchFamily="34" charset="0"/>
              </a:rPr>
              <a:t>ŏ</a:t>
            </a:r>
            <a:r>
              <a:rPr lang="sk-SK" sz="2500" b="0" i="0" u="none" strike="noStrike" baseline="0" dirty="0" err="1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ôřŕšśťțů</a:t>
            </a:r>
            <a:r>
              <a:rPr lang="hu-HU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ű</a:t>
            </a:r>
            <a:r>
              <a:rPr lang="sk-SK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ý</a:t>
            </a:r>
            <a:r>
              <a:rPr lang="cy-GB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ŷ</a:t>
            </a:r>
            <a:r>
              <a:rPr lang="sk-SK" sz="2500" b="0" i="0" u="none" strike="noStrike" baseline="0" dirty="0" err="1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žź</a:t>
            </a:r>
            <a:endParaRPr lang="en-GB" sz="2500" b="0" i="0" u="none" strike="noStrike" baseline="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endParaRPr lang="en-GB" sz="250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r>
              <a:rPr lang="sk-SK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0123456789</a:t>
            </a:r>
            <a:endParaRPr lang="en-GB" sz="2500" b="0" i="0" u="none" strike="noStrike" baseline="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r>
              <a:rPr lang="sk-SK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:;!?#$7£@%()[]</a:t>
            </a:r>
            <a:endParaRPr lang="sk-SK" sz="2500" dirty="0">
              <a:solidFill>
                <a:schemeClr val="bg1"/>
              </a:solidFill>
              <a:latin typeface="Gotham Medium" pitchFamily="50" charset="0"/>
              <a:cs typeface="Golos Text Medium" panose="020B0503020202020204" pitchFamily="34" charset="0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8D550BFA-3372-AFEB-D766-D3E5B6653F93}"/>
              </a:ext>
            </a:extLst>
          </p:cNvPr>
          <p:cNvSpPr txBox="1"/>
          <p:nvPr/>
        </p:nvSpPr>
        <p:spPr>
          <a:xfrm>
            <a:off x="4701433" y="2339037"/>
            <a:ext cx="3337773" cy="2785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3500" dirty="0" err="1">
                <a:solidFill>
                  <a:srgbClr val="FFFFFF"/>
                </a:solidFill>
                <a:latin typeface="Gotham Light" pitchFamily="50" charset="0"/>
                <a:cs typeface="Golos Text Medium" panose="020B0503020202020204" pitchFamily="34" charset="0"/>
              </a:rPr>
              <a:t>Light</a:t>
            </a:r>
            <a:r>
              <a:rPr lang="sk-SK" sz="3500" dirty="0">
                <a:solidFill>
                  <a:srgbClr val="FFFFFF"/>
                </a:solidFill>
                <a:latin typeface="Gotham Light" pitchFamily="50" charset="0"/>
                <a:cs typeface="Golos Text Medium" panose="020B0503020202020204" pitchFamily="34" charset="0"/>
              </a:rPr>
              <a:t>, </a:t>
            </a:r>
            <a:r>
              <a:rPr lang="sk-SK" sz="3500" i="1" dirty="0" err="1">
                <a:solidFill>
                  <a:srgbClr val="FFFFFF"/>
                </a:solidFill>
                <a:latin typeface="Gotham Light" pitchFamily="50" charset="0"/>
                <a:cs typeface="Golos Text Medium" panose="020B0503020202020204" pitchFamily="34" charset="0"/>
              </a:rPr>
              <a:t>Italic</a:t>
            </a:r>
            <a:endParaRPr lang="sk-SK" sz="3500" i="1" dirty="0">
              <a:solidFill>
                <a:srgbClr val="FFFFFF"/>
              </a:solidFill>
              <a:latin typeface="Gotham Light" pitchFamily="50" charset="0"/>
              <a:cs typeface="Golos Text Medium" panose="020B0503020202020204" pitchFamily="34" charset="0"/>
            </a:endParaRPr>
          </a:p>
          <a:p>
            <a:r>
              <a:rPr lang="sk-SK" sz="3500" dirty="0" err="1">
                <a:solidFill>
                  <a:srgbClr val="FFFFFF"/>
                </a:solidFill>
                <a:latin typeface="Gotham Book" pitchFamily="50" charset="0"/>
                <a:cs typeface="Golos Text Medium" panose="020B0503020202020204" pitchFamily="34" charset="0"/>
              </a:rPr>
              <a:t>Book</a:t>
            </a:r>
            <a:r>
              <a:rPr lang="sk-SK" sz="3500" dirty="0">
                <a:solidFill>
                  <a:srgbClr val="FFFFFF"/>
                </a:solidFill>
                <a:latin typeface="Gotham Book" pitchFamily="50" charset="0"/>
                <a:cs typeface="Golos Text Medium" panose="020B0503020202020204" pitchFamily="34" charset="0"/>
              </a:rPr>
              <a:t>, </a:t>
            </a:r>
            <a:r>
              <a:rPr lang="sk-SK" sz="3500" i="1" dirty="0" err="1">
                <a:solidFill>
                  <a:srgbClr val="FFFFFF"/>
                </a:solidFill>
                <a:latin typeface="Gotham Book" pitchFamily="50" charset="0"/>
                <a:cs typeface="Golos Text Medium" panose="020B0503020202020204" pitchFamily="34" charset="0"/>
              </a:rPr>
              <a:t>Italic</a:t>
            </a:r>
            <a:endParaRPr lang="sk-SK" sz="3500" i="1" dirty="0">
              <a:solidFill>
                <a:srgbClr val="FFFFFF"/>
              </a:solidFill>
              <a:latin typeface="Gotham Book" pitchFamily="50" charset="0"/>
              <a:cs typeface="Golos Text Medium" panose="020B0503020202020204" pitchFamily="34" charset="0"/>
            </a:endParaRPr>
          </a:p>
          <a:p>
            <a:r>
              <a:rPr lang="sk-SK" sz="3500" dirty="0" err="1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Medium</a:t>
            </a:r>
            <a:r>
              <a:rPr lang="sk-SK" sz="350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, </a:t>
            </a:r>
            <a:r>
              <a:rPr lang="sk-SK" sz="3500" i="1" dirty="0" err="1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Italic</a:t>
            </a:r>
            <a:endParaRPr lang="sk-SK" sz="3500" i="1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r>
              <a:rPr lang="sk-SK" sz="3500" dirty="0" err="1">
                <a:solidFill>
                  <a:srgbClr val="FFFFFF"/>
                </a:solidFill>
                <a:latin typeface="Gotham Bold" pitchFamily="50" charset="0"/>
                <a:cs typeface="Golos Text Medium" panose="020B0503020202020204" pitchFamily="34" charset="0"/>
              </a:rPr>
              <a:t>Bold</a:t>
            </a:r>
            <a:r>
              <a:rPr lang="sk-SK" sz="3500" dirty="0">
                <a:solidFill>
                  <a:srgbClr val="FFFFFF"/>
                </a:solidFill>
                <a:latin typeface="Gotham Bold" pitchFamily="50" charset="0"/>
                <a:cs typeface="Golos Text Medium" panose="020B0503020202020204" pitchFamily="34" charset="0"/>
              </a:rPr>
              <a:t>, </a:t>
            </a:r>
            <a:r>
              <a:rPr lang="sk-SK" sz="3500" i="1" dirty="0" err="1">
                <a:solidFill>
                  <a:srgbClr val="FFFFFF"/>
                </a:solidFill>
                <a:latin typeface="Gotham Bold" pitchFamily="50" charset="0"/>
                <a:cs typeface="Golos Text Medium" panose="020B0503020202020204" pitchFamily="34" charset="0"/>
              </a:rPr>
              <a:t>Italic</a:t>
            </a:r>
            <a:endParaRPr lang="sk-SK" sz="3500" i="1" dirty="0">
              <a:solidFill>
                <a:srgbClr val="FFFFFF"/>
              </a:solidFill>
              <a:latin typeface="Gotham Bold" pitchFamily="50" charset="0"/>
              <a:cs typeface="Golos Text Medium" panose="020B0503020202020204" pitchFamily="34" charset="0"/>
            </a:endParaRPr>
          </a:p>
          <a:p>
            <a:r>
              <a:rPr lang="sk-SK" sz="3500" dirty="0">
                <a:solidFill>
                  <a:srgbClr val="FFFFFF"/>
                </a:solidFill>
                <a:latin typeface="Gotham Black" pitchFamily="50" charset="0"/>
                <a:cs typeface="Golos Text Medium" panose="020B0503020202020204" pitchFamily="34" charset="0"/>
              </a:rPr>
              <a:t>Black, </a:t>
            </a:r>
            <a:r>
              <a:rPr lang="sk-SK" sz="3500" i="1" dirty="0" err="1">
                <a:solidFill>
                  <a:srgbClr val="FFFFFF"/>
                </a:solidFill>
                <a:latin typeface="Gotham Black" pitchFamily="50" charset="0"/>
                <a:cs typeface="Golos Text Medium" panose="020B0503020202020204" pitchFamily="34" charset="0"/>
              </a:rPr>
              <a:t>Italic</a:t>
            </a:r>
            <a:endParaRPr lang="sk-SK" sz="3500" i="1" dirty="0">
              <a:solidFill>
                <a:schemeClr val="bg1"/>
              </a:solidFill>
              <a:latin typeface="Gotham Black" pitchFamily="50" charset="0"/>
              <a:cs typeface="Golos Text Medium" panose="020B0503020202020204" pitchFamily="34" charset="0"/>
            </a:endParaRPr>
          </a:p>
        </p:txBody>
      </p:sp>
      <p:cxnSp>
        <p:nvCxnSpPr>
          <p:cNvPr id="7" name="Rovná spojnica 4">
            <a:extLst>
              <a:ext uri="{FF2B5EF4-FFF2-40B4-BE49-F238E27FC236}">
                <a16:creationId xmlns:a16="http://schemas.microsoft.com/office/drawing/2014/main" id="{0D3593F3-77CB-844B-998C-EEB8015B844D}"/>
              </a:ext>
            </a:extLst>
          </p:cNvPr>
          <p:cNvCxnSpPr>
            <a:cxnSpLocks/>
          </p:cNvCxnSpPr>
          <p:nvPr/>
        </p:nvCxnSpPr>
        <p:spPr>
          <a:xfrm>
            <a:off x="4189198" y="3230155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Rovná spojnica 4">
            <a:extLst>
              <a:ext uri="{FF2B5EF4-FFF2-40B4-BE49-F238E27FC236}">
                <a16:creationId xmlns:a16="http://schemas.microsoft.com/office/drawing/2014/main" id="{22296364-C709-0984-1281-3F6F53D8C9DF}"/>
              </a:ext>
            </a:extLst>
          </p:cNvPr>
          <p:cNvCxnSpPr>
            <a:cxnSpLocks/>
          </p:cNvCxnSpPr>
          <p:nvPr/>
        </p:nvCxnSpPr>
        <p:spPr>
          <a:xfrm>
            <a:off x="7808698" y="3325405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BlokTextu 9">
            <a:extLst>
              <a:ext uri="{FF2B5EF4-FFF2-40B4-BE49-F238E27FC236}">
                <a16:creationId xmlns:a16="http://schemas.microsoft.com/office/drawing/2014/main" id="{EF831674-ACD9-B896-E510-B9121B707D9F}"/>
              </a:ext>
            </a:extLst>
          </p:cNvPr>
          <p:cNvSpPr txBox="1"/>
          <p:nvPr/>
        </p:nvSpPr>
        <p:spPr>
          <a:xfrm>
            <a:off x="461818" y="6079351"/>
            <a:ext cx="60942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Gotham Black"/>
              </a:rPr>
              <a:t>Supports Central European characters and extended Latin set.</a:t>
            </a:r>
            <a:endParaRPr lang="sk-SK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1457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9AE273-9021-65A7-2F03-C73031DB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Alternative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Typography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648C694-AFD2-4FD3-33EF-78B0DFB0D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2196306"/>
            <a:ext cx="2738578" cy="3609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When </a:t>
            </a:r>
            <a:r>
              <a:rPr lang="en-US" sz="1800" b="1" dirty="0">
                <a:latin typeface="Gotham Black"/>
              </a:rPr>
              <a:t>Gotham</a:t>
            </a:r>
            <a:r>
              <a:rPr lang="en-US" sz="1800" dirty="0">
                <a:latin typeface="Gotham Black"/>
              </a:rPr>
              <a:t> is unavailable, </a:t>
            </a:r>
            <a:r>
              <a:rPr lang="en-US" sz="1800" b="1" dirty="0">
                <a:latin typeface="Gotham Black"/>
              </a:rPr>
              <a:t>Arial</a:t>
            </a:r>
            <a:r>
              <a:rPr lang="en-US" sz="1800" dirty="0">
                <a:latin typeface="Gotham Black"/>
              </a:rPr>
              <a:t> serves as the approved fallback typeface.</a:t>
            </a: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Use Arial only in environments where Gotham cannot be embedded or supported.</a:t>
            </a:r>
          </a:p>
          <a:p>
            <a:endParaRPr lang="sk-SK" sz="18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97CEEF3-930B-CFFC-F3F7-CD72BF11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52</a:t>
            </a:fld>
            <a:endParaRPr lang="sk-SK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D3393FFC-34BD-D097-BAE2-5FB4A3CC9167}"/>
              </a:ext>
            </a:extLst>
          </p:cNvPr>
          <p:cNvSpPr txBox="1"/>
          <p:nvPr/>
        </p:nvSpPr>
        <p:spPr>
          <a:xfrm>
            <a:off x="4396292" y="3578428"/>
            <a:ext cx="3320140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ABCDEFGHIJKLMN</a:t>
            </a:r>
            <a:endParaRPr lang="en-GB" sz="2500" b="0" i="0" u="none" strike="noStrike" baseline="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r>
              <a:rPr lang="sk-SK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OPQRSTUVWXYZ</a:t>
            </a:r>
            <a:endParaRPr lang="en-GB" sz="2500" b="0" i="0" u="none" strike="noStrike" baseline="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endParaRPr lang="en-GB" sz="250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r>
              <a:rPr lang="en-GB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a</a:t>
            </a:r>
            <a:r>
              <a:rPr lang="sk-SK" sz="2500" b="0" i="0" u="none" strike="noStrike" baseline="0" dirty="0" err="1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bcdefghijklmn</a:t>
            </a:r>
            <a:endParaRPr lang="en-GB" sz="250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  <a:p>
            <a:r>
              <a:rPr lang="en-GB" sz="2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o</a:t>
            </a:r>
            <a:r>
              <a:rPr lang="sk-SK" sz="2500" b="0" i="0" u="none" strike="noStrike" baseline="0" dirty="0" err="1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pqrstuvwxyz</a:t>
            </a:r>
            <a:endParaRPr lang="en-GB" sz="250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DCCD2E4A-FAED-F7FD-4A93-87DDE0414E06}"/>
              </a:ext>
            </a:extLst>
          </p:cNvPr>
          <p:cNvSpPr txBox="1"/>
          <p:nvPr/>
        </p:nvSpPr>
        <p:spPr>
          <a:xfrm>
            <a:off x="8628051" y="3578427"/>
            <a:ext cx="3102131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25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ABCDEFGHIJKLMN</a:t>
            </a:r>
            <a:endParaRPr lang="en-GB" sz="2500" b="0" i="0" u="none" strike="noStrike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sz="25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OPQRSTUVWXYZ</a:t>
            </a:r>
            <a:endParaRPr lang="en-GB" sz="2500" b="0" i="0" u="none" strike="noStrike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5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5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sk-SK" sz="2500" b="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bcdefghijklmn</a:t>
            </a:r>
            <a:endParaRPr lang="en-GB" sz="25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5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sk-SK" sz="2500" b="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pqrstuvwxyz</a:t>
            </a:r>
            <a:endParaRPr lang="en-GB" sz="25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B955BE82-7511-D6BF-06FF-9D4DDD725466}"/>
              </a:ext>
            </a:extLst>
          </p:cNvPr>
          <p:cNvSpPr txBox="1"/>
          <p:nvPr/>
        </p:nvSpPr>
        <p:spPr>
          <a:xfrm>
            <a:off x="4396292" y="1711760"/>
            <a:ext cx="198483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0" i="0" u="none" strike="noStrike" baseline="0" dirty="0">
                <a:solidFill>
                  <a:srgbClr val="FFFFFF"/>
                </a:solidFill>
                <a:latin typeface="Gotham Medium" pitchFamily="50" charset="0"/>
                <a:cs typeface="Golos Text Medium" panose="020B0503020202020204" pitchFamily="34" charset="0"/>
              </a:rPr>
              <a:t>Gotham</a:t>
            </a:r>
            <a:endParaRPr lang="en-GB" sz="3500" dirty="0">
              <a:solidFill>
                <a:srgbClr val="FFFFFF"/>
              </a:solidFill>
              <a:latin typeface="Gotham Medium" pitchFamily="50" charset="0"/>
              <a:cs typeface="Golos Text Medium" panose="020B0503020202020204" pitchFamily="34" charset="0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27A23D1E-77EB-375B-2500-DAEEB913E0FD}"/>
              </a:ext>
            </a:extLst>
          </p:cNvPr>
          <p:cNvSpPr txBox="1"/>
          <p:nvPr/>
        </p:nvSpPr>
        <p:spPr>
          <a:xfrm>
            <a:off x="8628051" y="1807254"/>
            <a:ext cx="108234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Arial</a:t>
            </a:r>
            <a:endParaRPr lang="en-GB" sz="35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Rovná spojnica 4">
            <a:extLst>
              <a:ext uri="{FF2B5EF4-FFF2-40B4-BE49-F238E27FC236}">
                <a16:creationId xmlns:a16="http://schemas.microsoft.com/office/drawing/2014/main" id="{B3C1855D-5241-2854-8576-0CA44B58721E}"/>
              </a:ext>
            </a:extLst>
          </p:cNvPr>
          <p:cNvCxnSpPr>
            <a:cxnSpLocks/>
          </p:cNvCxnSpPr>
          <p:nvPr/>
        </p:nvCxnSpPr>
        <p:spPr>
          <a:xfrm>
            <a:off x="4189198" y="3956662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Rovná spojnica 4">
            <a:extLst>
              <a:ext uri="{FF2B5EF4-FFF2-40B4-BE49-F238E27FC236}">
                <a16:creationId xmlns:a16="http://schemas.microsoft.com/office/drawing/2014/main" id="{E6610BFC-35D7-F060-1549-DD16C8195452}"/>
              </a:ext>
            </a:extLst>
          </p:cNvPr>
          <p:cNvCxnSpPr>
            <a:cxnSpLocks/>
          </p:cNvCxnSpPr>
          <p:nvPr/>
        </p:nvCxnSpPr>
        <p:spPr>
          <a:xfrm>
            <a:off x="7808698" y="4051912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0366572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0D7CE0-5DCE-20A3-16BE-2F6F4C787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Sub-brand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Logos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473EB7E-2B52-C149-5C23-7E39FB74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53</a:t>
            </a:fld>
            <a:endParaRPr lang="sk-SK"/>
          </a:p>
        </p:txBody>
      </p:sp>
      <p:pic>
        <p:nvPicPr>
          <p:cNvPr id="5" name="Obrázok 4" descr="Obrázok, na ktorom je text, snímka obrazovky, písmo, dizajn&#10;&#10;Automaticky generovaný popis">
            <a:extLst>
              <a:ext uri="{FF2B5EF4-FFF2-40B4-BE49-F238E27FC236}">
                <a16:creationId xmlns:a16="http://schemas.microsoft.com/office/drawing/2014/main" id="{11B02FA3-CD3A-5559-8E14-856A902A1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4" t="21887" r="17918" b="17185"/>
          <a:stretch>
            <a:fillRect/>
          </a:stretch>
        </p:blipFill>
        <p:spPr>
          <a:xfrm>
            <a:off x="4807670" y="1998482"/>
            <a:ext cx="6796726" cy="4178482"/>
          </a:xfrm>
          <a:prstGeom prst="rect">
            <a:avLst/>
          </a:prstGeom>
        </p:spPr>
      </p:pic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6C19FE74-2268-1D5E-79B6-FEB7F59F6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436164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Sub-brand logos are set in </a:t>
            </a:r>
            <a:r>
              <a:rPr lang="en-US" sz="1800" b="1" dirty="0">
                <a:latin typeface="Gotham Black"/>
              </a:rPr>
              <a:t>Gotham Medium</a:t>
            </a:r>
            <a:r>
              <a:rPr lang="en-US" sz="1800" dirty="0">
                <a:latin typeface="Gotham Black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The VOYO master logo is always used in its original form, followed by a descriptor that identifies the content category.</a:t>
            </a:r>
          </a:p>
          <a:p>
            <a:endParaRPr lang="sk-SK" sz="1800" dirty="0">
              <a:latin typeface="Gotham Black"/>
            </a:endParaRP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Descriptors may be </a:t>
            </a:r>
            <a:r>
              <a:rPr lang="en-US" sz="1800" dirty="0" err="1">
                <a:latin typeface="Gotham Black"/>
              </a:rPr>
              <a:t>localised</a:t>
            </a:r>
            <a:r>
              <a:rPr lang="en-US" sz="1800" dirty="0">
                <a:latin typeface="Gotham Black"/>
              </a:rPr>
              <a:t> to match market language.</a:t>
            </a:r>
            <a:endParaRPr lang="sk-SK" sz="1800" dirty="0">
              <a:latin typeface="Gotham Black"/>
            </a:endParaRPr>
          </a:p>
          <a:p>
            <a:pPr marL="0" indent="0">
              <a:buNone/>
            </a:pPr>
            <a:endParaRPr lang="sk-SK" sz="1800" dirty="0">
              <a:latin typeface="Gotham Black"/>
            </a:endParaRPr>
          </a:p>
          <a:p>
            <a:pPr marL="0" indent="0">
              <a:buNone/>
            </a:pPr>
            <a:endParaRPr lang="sk-SK" sz="1800" dirty="0"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E9DC9930-0174-1C7A-2E32-9EF02D0B2060}"/>
              </a:ext>
            </a:extLst>
          </p:cNvPr>
          <p:cNvSpPr txBox="1"/>
          <p:nvPr/>
        </p:nvSpPr>
        <p:spPr>
          <a:xfrm>
            <a:off x="461818" y="6079351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defRPr sz="1050">
                <a:solidFill>
                  <a:schemeClr val="bg1"/>
                </a:solidFill>
                <a:latin typeface="Gotham Light"/>
              </a:defRPr>
            </a:lvl1pPr>
          </a:lstStyle>
          <a:p>
            <a:r>
              <a:rPr lang="en-US" sz="1200" dirty="0">
                <a:latin typeface="Gotham Black"/>
              </a:rPr>
              <a:t>Do not alter typography, spacing, or proportions.</a:t>
            </a:r>
            <a:endParaRPr lang="sk-SK" sz="1200" dirty="0"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17410095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9B2DCE-5630-8792-5C6A-1FC225AA9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Primary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Colours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7861836-C0BC-A44E-759D-EAA22566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54</a:t>
            </a:fld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D48CBCAD-5310-DF5E-17CD-E2041D3EFF48}"/>
              </a:ext>
            </a:extLst>
          </p:cNvPr>
          <p:cNvSpPr txBox="1"/>
          <p:nvPr/>
        </p:nvSpPr>
        <p:spPr>
          <a:xfrm>
            <a:off x="461818" y="1862251"/>
            <a:ext cx="11436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lack"/>
              </a:rPr>
              <a:t>VOYO’s primary </a:t>
            </a:r>
            <a:r>
              <a:rPr lang="en-US" dirty="0" err="1">
                <a:solidFill>
                  <a:schemeClr val="bg1"/>
                </a:solidFill>
                <a:latin typeface="Gotham Black"/>
              </a:rPr>
              <a:t>colour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 palette consists of four core </a:t>
            </a:r>
            <a:r>
              <a:rPr lang="en-US" dirty="0" err="1">
                <a:solidFill>
                  <a:schemeClr val="bg1"/>
                </a:solidFill>
                <a:latin typeface="Gotham Black"/>
              </a:rPr>
              <a:t>colours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 that form the signature brand gradient.</a:t>
            </a:r>
            <a:endParaRPr lang="sk-SK" dirty="0">
              <a:solidFill>
                <a:schemeClr val="bg1"/>
              </a:solidFill>
              <a:latin typeface="Gotham Black"/>
            </a:endParaRPr>
          </a:p>
          <a:p>
            <a:r>
              <a:rPr lang="en-US" dirty="0">
                <a:solidFill>
                  <a:schemeClr val="bg1"/>
                </a:solidFill>
                <a:latin typeface="Gotham Black"/>
              </a:rPr>
              <a:t>The gradient should be used across backgrounds, key visuals, and digital environments.</a:t>
            </a:r>
            <a:endParaRPr lang="sk-SK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64E44B4A-43E7-15A2-5846-BFF18EE9A6BA}"/>
              </a:ext>
            </a:extLst>
          </p:cNvPr>
          <p:cNvSpPr/>
          <p:nvPr/>
        </p:nvSpPr>
        <p:spPr>
          <a:xfrm>
            <a:off x="0" y="3133060"/>
            <a:ext cx="12192000" cy="2835349"/>
          </a:xfrm>
          <a:prstGeom prst="rect">
            <a:avLst/>
          </a:prstGeom>
          <a:gradFill>
            <a:gsLst>
              <a:gs pos="917">
                <a:schemeClr val="tx1">
                  <a:alpha val="0"/>
                </a:schemeClr>
              </a:gs>
              <a:gs pos="58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5CF788F4-7575-1996-A737-9FD03B4B7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836" y="3572172"/>
            <a:ext cx="7726326" cy="804826"/>
          </a:xfrm>
          <a:prstGeom prst="rect">
            <a:avLst/>
          </a:prstGeom>
        </p:spPr>
      </p:pic>
      <p:pic>
        <p:nvPicPr>
          <p:cNvPr id="10" name="Obrázok 9">
            <a:extLst>
              <a:ext uri="{FF2B5EF4-FFF2-40B4-BE49-F238E27FC236}">
                <a16:creationId xmlns:a16="http://schemas.microsoft.com/office/drawing/2014/main" id="{BFF4B15B-5518-A9BC-0BCE-5EE3C56AF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2836" y="4759475"/>
            <a:ext cx="7726326" cy="804825"/>
          </a:xfrm>
          <a:prstGeom prst="rect">
            <a:avLst/>
          </a:prstGeom>
        </p:spPr>
      </p:pic>
      <p:sp>
        <p:nvSpPr>
          <p:cNvPr id="12" name="BlokTextu 11">
            <a:extLst>
              <a:ext uri="{FF2B5EF4-FFF2-40B4-BE49-F238E27FC236}">
                <a16:creationId xmlns:a16="http://schemas.microsoft.com/office/drawing/2014/main" id="{30418A37-042E-800C-B658-4D83E134E070}"/>
              </a:ext>
            </a:extLst>
          </p:cNvPr>
          <p:cNvSpPr txBox="1"/>
          <p:nvPr/>
        </p:nvSpPr>
        <p:spPr>
          <a:xfrm>
            <a:off x="461818" y="6096970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defRPr sz="1050">
                <a:solidFill>
                  <a:schemeClr val="bg1"/>
                </a:solidFill>
                <a:latin typeface="Gotham Light"/>
              </a:defRPr>
            </a:lvl1pPr>
          </a:lstStyle>
          <a:p>
            <a:r>
              <a:rPr lang="en-US" sz="1200" dirty="0">
                <a:latin typeface="Gotham Black"/>
              </a:rPr>
              <a:t>Do not alter the gradient </a:t>
            </a:r>
            <a:r>
              <a:rPr lang="en-US" sz="1200" dirty="0" err="1">
                <a:latin typeface="Gotham Black"/>
              </a:rPr>
              <a:t>colours</a:t>
            </a:r>
            <a:r>
              <a:rPr lang="en-US" sz="1200" dirty="0">
                <a:latin typeface="Gotham Black"/>
              </a:rPr>
              <a:t> or sequence.</a:t>
            </a:r>
            <a:endParaRPr lang="sk-SK" sz="1200" dirty="0"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9131118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ĺžnik 4">
            <a:extLst>
              <a:ext uri="{FF2B5EF4-FFF2-40B4-BE49-F238E27FC236}">
                <a16:creationId xmlns:a16="http://schemas.microsoft.com/office/drawing/2014/main" id="{766E48BC-7029-BB98-8EFD-22679A8A3654}"/>
              </a:ext>
            </a:extLst>
          </p:cNvPr>
          <p:cNvSpPr/>
          <p:nvPr/>
        </p:nvSpPr>
        <p:spPr>
          <a:xfrm>
            <a:off x="4782312" y="742950"/>
            <a:ext cx="6897192" cy="611505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30000">
                <a:srgbClr val="000000"/>
              </a:gs>
              <a:gs pos="10000">
                <a:schemeClr val="tx1">
                  <a:alpha val="0"/>
                </a:schemeClr>
              </a:gs>
              <a:gs pos="89000">
                <a:schemeClr val="tx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E320961-23D4-6540-D84B-BE371A91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Primary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Background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AC5A35E-F051-ED3F-8774-E7E00DB7C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36804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The primary background uses the VOYO brand gradient derived from the four core </a:t>
            </a:r>
            <a:r>
              <a:rPr lang="en-US" sz="1800" dirty="0" err="1">
                <a:latin typeface="Gotham Black"/>
              </a:rPr>
              <a:t>colours</a:t>
            </a:r>
            <a:r>
              <a:rPr lang="en-US" sz="1800" dirty="0">
                <a:latin typeface="Gotham Black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Use this background for brand presentations, key visuals, and digital environments.</a:t>
            </a:r>
            <a:endParaRPr lang="sk-SK" sz="18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7BEF1A3-478F-621A-777C-5B945863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55</a:t>
            </a:fld>
            <a:endParaRPr lang="sk-SK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D8346FF6-4F15-1A87-17E8-66242E736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0796" y="2395612"/>
            <a:ext cx="6173004" cy="347231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615176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ĺžnik 7">
            <a:extLst>
              <a:ext uri="{FF2B5EF4-FFF2-40B4-BE49-F238E27FC236}">
                <a16:creationId xmlns:a16="http://schemas.microsoft.com/office/drawing/2014/main" id="{A4346C0C-8006-C8C8-71DC-C4AE08259F66}"/>
              </a:ext>
            </a:extLst>
          </p:cNvPr>
          <p:cNvSpPr/>
          <p:nvPr/>
        </p:nvSpPr>
        <p:spPr>
          <a:xfrm>
            <a:off x="0" y="3133060"/>
            <a:ext cx="12192000" cy="2835349"/>
          </a:xfrm>
          <a:prstGeom prst="rect">
            <a:avLst/>
          </a:prstGeom>
          <a:gradFill>
            <a:gsLst>
              <a:gs pos="917">
                <a:schemeClr val="tx1">
                  <a:alpha val="0"/>
                </a:schemeClr>
              </a:gs>
              <a:gs pos="58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8734C7F-18BC-0602-DC87-B038598BE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Secondary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Colour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Palette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7C6448C-3B1A-D4B2-7D6D-4425B5F0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56</a:t>
            </a:fld>
            <a:endParaRPr lang="sk-SK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9B0AD654-2951-4A8D-AC8E-6C6E51648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2836" y="3572172"/>
            <a:ext cx="7726326" cy="804825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BDF5CF4C-1E83-BE8F-0A67-5C5EBAEE2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2836" y="4759475"/>
            <a:ext cx="7726326" cy="804825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6EA5D5E3-DC03-A8A2-F62B-3594A8AAB423}"/>
              </a:ext>
            </a:extLst>
          </p:cNvPr>
          <p:cNvSpPr txBox="1"/>
          <p:nvPr/>
        </p:nvSpPr>
        <p:spPr>
          <a:xfrm>
            <a:off x="461818" y="1862251"/>
            <a:ext cx="11436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lack"/>
              </a:rPr>
              <a:t>The secondary palette expands the primary </a:t>
            </a:r>
            <a:r>
              <a:rPr lang="en-US" dirty="0" err="1">
                <a:solidFill>
                  <a:schemeClr val="bg1"/>
                </a:solidFill>
                <a:latin typeface="Gotham Black"/>
              </a:rPr>
              <a:t>colours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 with additional tones, providing greater flexibility while maintaining visual consistency.</a:t>
            </a:r>
            <a:r>
              <a:rPr lang="sk-SK" dirty="0">
                <a:solidFill>
                  <a:schemeClr val="bg1"/>
                </a:solidFill>
                <a:latin typeface="Gotham Black"/>
              </a:rPr>
              <a:t> 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Use secondary </a:t>
            </a:r>
            <a:r>
              <a:rPr lang="en-US" dirty="0" err="1">
                <a:solidFill>
                  <a:schemeClr val="bg1"/>
                </a:solidFill>
                <a:latin typeface="Gotham Black"/>
              </a:rPr>
              <a:t>colours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 to support layouts, highlights, and content </a:t>
            </a:r>
            <a:r>
              <a:rPr lang="en-US" dirty="0" err="1">
                <a:solidFill>
                  <a:schemeClr val="bg1"/>
                </a:solidFill>
                <a:latin typeface="Gotham Black"/>
              </a:rPr>
              <a:t>categorisation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.</a:t>
            </a:r>
            <a:endParaRPr lang="sk-SK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517D035F-3757-5258-1B05-16A2B94FFF91}"/>
              </a:ext>
            </a:extLst>
          </p:cNvPr>
          <p:cNvSpPr txBox="1"/>
          <p:nvPr/>
        </p:nvSpPr>
        <p:spPr>
          <a:xfrm>
            <a:off x="461818" y="6096971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defRPr sz="1050">
                <a:solidFill>
                  <a:schemeClr val="bg1"/>
                </a:solidFill>
                <a:latin typeface="Gotham Light"/>
              </a:defRPr>
            </a:lvl1pPr>
          </a:lstStyle>
          <a:p>
            <a:r>
              <a:rPr lang="en-US" sz="1200" dirty="0"/>
              <a:t>Primary </a:t>
            </a:r>
            <a:r>
              <a:rPr lang="en-US" sz="1200" dirty="0" err="1"/>
              <a:t>colours</a:t>
            </a:r>
            <a:r>
              <a:rPr lang="en-US" sz="1200" dirty="0"/>
              <a:t> should remain dominant in brand communication.</a:t>
            </a:r>
            <a:endParaRPr lang="sk-SK" sz="1200" dirty="0"/>
          </a:p>
        </p:txBody>
      </p:sp>
    </p:spTree>
    <p:extLst>
      <p:ext uri="{BB962C8B-B14F-4D97-AF65-F5344CB8AC3E}">
        <p14:creationId xmlns:p14="http://schemas.microsoft.com/office/powerpoint/2010/main" val="28393942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FB0C4-11A4-DE55-4D30-28F87A29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ĺžnik 4">
            <a:extLst>
              <a:ext uri="{FF2B5EF4-FFF2-40B4-BE49-F238E27FC236}">
                <a16:creationId xmlns:a16="http://schemas.microsoft.com/office/drawing/2014/main" id="{DCE25E1F-EF5A-0AE6-1312-E64884CEC31A}"/>
              </a:ext>
            </a:extLst>
          </p:cNvPr>
          <p:cNvSpPr/>
          <p:nvPr/>
        </p:nvSpPr>
        <p:spPr>
          <a:xfrm>
            <a:off x="4782312" y="742950"/>
            <a:ext cx="6897192" cy="611505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30000">
                <a:srgbClr val="000000"/>
              </a:gs>
              <a:gs pos="10000">
                <a:schemeClr val="tx1">
                  <a:alpha val="0"/>
                </a:schemeClr>
              </a:gs>
              <a:gs pos="89000">
                <a:schemeClr val="tx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D3B2C5D-5DB5-C535-CBD4-53A5493BC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Secondary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Background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D0575E8-2CB0-15B1-8EF5-20F67C37B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368041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Gotham Black"/>
              </a:rPr>
              <a:t>Secondary backgrounds offer a more subtle alternative to the primary gradient, ensuring flexibility while preserving brand consistency.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B697A7D-413A-BC26-D26D-E761A2F6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57</a:t>
            </a:fld>
            <a:endParaRPr lang="sk-SK"/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E110E103-8350-6C4D-9809-D5923B1EA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433" y="2436282"/>
            <a:ext cx="6084949" cy="3422783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635508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9C9E99-48C3-B99A-9E1F-49994DF9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Call</a:t>
            </a:r>
            <a:r>
              <a:rPr lang="sk-SK" dirty="0">
                <a:latin typeface="Gotham Black"/>
              </a:rPr>
              <a:t>-to-</a:t>
            </a:r>
            <a:r>
              <a:rPr lang="sk-SK" dirty="0" err="1">
                <a:latin typeface="Gotham Black"/>
              </a:rPr>
              <a:t>Action</a:t>
            </a:r>
            <a:r>
              <a:rPr lang="sk-SK" dirty="0">
                <a:latin typeface="Gotham Black"/>
              </a:rPr>
              <a:t> (CTA)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2373AC1-E293-DB3B-253D-74F26D21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58</a:t>
            </a:fld>
            <a:endParaRPr lang="sk-SK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1CC4825A-2A9A-07A6-4278-4AB92BFCB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949" y="1834672"/>
            <a:ext cx="6895555" cy="718287"/>
          </a:xfrm>
          <a:prstGeom prst="rect">
            <a:avLst/>
          </a:prstGeom>
        </p:spPr>
      </p:pic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E03AFABB-DDB0-8125-B478-CF84A602A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3680414" cy="17780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Gotham Black"/>
              </a:rPr>
              <a:t>CTA buttons use a gradient derived from the secondary </a:t>
            </a:r>
            <a:r>
              <a:rPr lang="en-US" sz="1800" dirty="0" err="1">
                <a:latin typeface="Gotham Black"/>
              </a:rPr>
              <a:t>colour</a:t>
            </a:r>
            <a:r>
              <a:rPr lang="en-US" sz="1800" dirty="0">
                <a:latin typeface="Gotham Black"/>
              </a:rPr>
              <a:t> palette.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Gotham Black"/>
              </a:rPr>
              <a:t>The gradient can be applied horizontally or vertically depending on layout requirements.</a:t>
            </a:r>
            <a:endParaRPr lang="sk-SK" sz="1800" dirty="0">
              <a:latin typeface="Gotham Black"/>
            </a:endParaRPr>
          </a:p>
          <a:p>
            <a:pPr marL="0" indent="0">
              <a:lnSpc>
                <a:spcPct val="100000"/>
              </a:lnSpc>
              <a:buNone/>
            </a:pPr>
            <a:endParaRPr lang="sk-SK" sz="1800" dirty="0">
              <a:latin typeface="Gotham Black"/>
            </a:endParaRP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99DB6848-1D7E-ED39-EDDF-E62E561C63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99" y="2850335"/>
            <a:ext cx="4177413" cy="2349794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963D0841-5215-87C1-3BB2-368F5915CF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99" y="4322608"/>
            <a:ext cx="4177413" cy="2349794"/>
          </a:xfrm>
          <a:prstGeom prst="rect">
            <a:avLst/>
          </a:prstGeom>
        </p:spPr>
      </p:pic>
      <p:sp>
        <p:nvSpPr>
          <p:cNvPr id="9" name="BlokTextu 8">
            <a:extLst>
              <a:ext uri="{FF2B5EF4-FFF2-40B4-BE49-F238E27FC236}">
                <a16:creationId xmlns:a16="http://schemas.microsoft.com/office/drawing/2014/main" id="{4EBF136C-D214-2A5F-8433-B454E8BF0E45}"/>
              </a:ext>
            </a:extLst>
          </p:cNvPr>
          <p:cNvSpPr txBox="1"/>
          <p:nvPr/>
        </p:nvSpPr>
        <p:spPr>
          <a:xfrm>
            <a:off x="6435890" y="3326674"/>
            <a:ext cx="3591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Gotham Black"/>
              </a:rPr>
              <a:t>Horizontal</a:t>
            </a:r>
            <a:r>
              <a:rPr lang="sk-SK" sz="1200" dirty="0">
                <a:solidFill>
                  <a:schemeClr val="bg1"/>
                </a:solidFill>
                <a:latin typeface="Gotham Black"/>
              </a:rPr>
              <a:t> gradient</a:t>
            </a:r>
            <a:endParaRPr lang="en-US" sz="12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73E4BD85-4AE7-AC7A-8DD0-35D62E4397C7}"/>
              </a:ext>
            </a:extLst>
          </p:cNvPr>
          <p:cNvSpPr txBox="1"/>
          <p:nvPr/>
        </p:nvSpPr>
        <p:spPr>
          <a:xfrm>
            <a:off x="6388869" y="4798947"/>
            <a:ext cx="3591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Gotham Black"/>
              </a:rPr>
              <a:t>Vertical</a:t>
            </a:r>
            <a:r>
              <a:rPr lang="sk-SK" sz="1200" dirty="0">
                <a:solidFill>
                  <a:schemeClr val="bg1"/>
                </a:solidFill>
                <a:latin typeface="Gotham Black"/>
              </a:rPr>
              <a:t> gradient</a:t>
            </a:r>
            <a:endParaRPr lang="en-US" sz="12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4635B15C-7EA2-E219-3952-4161AA0AFF30}"/>
              </a:ext>
            </a:extLst>
          </p:cNvPr>
          <p:cNvSpPr txBox="1"/>
          <p:nvPr/>
        </p:nvSpPr>
        <p:spPr>
          <a:xfrm>
            <a:off x="461818" y="6079351"/>
            <a:ext cx="60942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Gotham Black"/>
              </a:rPr>
              <a:t>Ensure sufficient contrast and legibility across all backgrounds.</a:t>
            </a:r>
          </a:p>
        </p:txBody>
      </p:sp>
    </p:spTree>
    <p:extLst>
      <p:ext uri="{BB962C8B-B14F-4D97-AF65-F5344CB8AC3E}">
        <p14:creationId xmlns:p14="http://schemas.microsoft.com/office/powerpoint/2010/main" val="29335610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6ACAD-1E6E-C42D-95D2-74A754AFD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832B4A5F-F0ED-1F03-ECEB-F184BA8DA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5.3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8113DC59-77D1-FB1B-2417-9E66C4D9A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>
            <a:normAutofit fontScale="92500" lnSpcReduction="20000"/>
          </a:bodyPr>
          <a:lstStyle/>
          <a:p>
            <a:endParaRPr lang="en-US" sz="6100" b="1" dirty="0">
              <a:latin typeface="Gotham Black"/>
            </a:endParaRPr>
          </a:p>
          <a:p>
            <a:r>
              <a:rPr lang="en-US" sz="6600" b="1" dirty="0">
                <a:latin typeface="Gotham Black"/>
              </a:rPr>
              <a:t>Social</a:t>
            </a:r>
            <a:r>
              <a:rPr lang="en-US" sz="6600" dirty="0">
                <a:latin typeface="Gotham Black"/>
              </a:rPr>
              <a:t> Media</a:t>
            </a:r>
            <a:endParaRPr lang="sk-SK" sz="66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A8C69DAD-EC00-7D7D-54D1-3B7615A8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59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506351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CAE6A4-B8F0-A7DC-48EA-E285544D1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8300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Social</a:t>
            </a:r>
            <a:r>
              <a:rPr lang="sk-SK" b="1" dirty="0">
                <a:latin typeface="Gotham Black"/>
              </a:rPr>
              <a:t> </a:t>
            </a:r>
            <a:r>
              <a:rPr lang="sk-SK" b="1" dirty="0" err="1">
                <a:latin typeface="Gotham Black"/>
              </a:rPr>
              <a:t>Media</a:t>
            </a:r>
            <a:r>
              <a:rPr lang="sk-SK" b="1" dirty="0">
                <a:latin typeface="Gotham Black"/>
              </a:rPr>
              <a:t> </a:t>
            </a:r>
            <a:r>
              <a:rPr lang="sk-SK" dirty="0">
                <a:latin typeface="Gotham Black"/>
              </a:rPr>
              <a:t>Role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A75677A-0495-343F-059E-3A07A4FD4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Gotham Black"/>
              </a:rPr>
              <a:t>Social media is not a promo channel.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It is where stories become moments and conversation.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sk-SK" sz="2000" b="1" dirty="0">
                <a:latin typeface="Gotham Black"/>
              </a:rPr>
              <a:t>S</a:t>
            </a:r>
            <a:r>
              <a:rPr lang="en-US" sz="2000" b="1" dirty="0">
                <a:latin typeface="Gotham Black"/>
              </a:rPr>
              <a:t>OCIAL MEDIA:</a:t>
            </a:r>
            <a:endParaRPr lang="en-US" sz="2000" dirty="0">
              <a:latin typeface="Gotham Black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Gotham Black"/>
              </a:rPr>
              <a:t>extends the life of stories</a:t>
            </a:r>
            <a:endParaRPr lang="sk-SK" sz="2000" dirty="0">
              <a:latin typeface="Gotham Black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Gotham Black"/>
              </a:rPr>
              <a:t>creates FOMO and cultural moments</a:t>
            </a:r>
            <a:endParaRPr lang="sk-SK" sz="2000" dirty="0">
              <a:latin typeface="Gotham Black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Gotham Black"/>
              </a:rPr>
              <a:t>turns viewers into a community</a:t>
            </a:r>
            <a:endParaRPr lang="sk-SK" sz="2000" dirty="0">
              <a:latin typeface="Gotham Black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Gotham Black"/>
              </a:rPr>
              <a:t>keeps VOYO present between premieres</a:t>
            </a:r>
            <a:endParaRPr lang="sk-SK" sz="2000" dirty="0">
              <a:latin typeface="Gotham Black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DB9E0A"/>
                </a:solidFill>
                <a:latin typeface="Gotham Black"/>
              </a:rPr>
              <a:t>	Social = the cultural pulse of VOYO</a:t>
            </a:r>
          </a:p>
          <a:p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0D1FE72-CA24-47FC-A71F-A8831CAA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>
                <a:latin typeface="Gotham Black"/>
              </a:rPr>
              <a:t>60</a:t>
            </a:fld>
            <a:endParaRPr lang="sk-SK">
              <a:latin typeface="Gotham Black"/>
            </a:endParaRPr>
          </a:p>
        </p:txBody>
      </p:sp>
      <p:pic>
        <p:nvPicPr>
          <p:cNvPr id="6" name="Picture 5" descr="Attention PNG transparent image download, size: 2400x2400px">
            <a:extLst>
              <a:ext uri="{FF2B5EF4-FFF2-40B4-BE49-F238E27FC236}">
                <a16:creationId xmlns:a16="http://schemas.microsoft.com/office/drawing/2014/main" id="{A4FB145D-23E0-F4C2-662D-F266D9C52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71" y="5444591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8141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A30C80-149A-6BD2-7662-96878A581ED4}"/>
              </a:ext>
            </a:extLst>
          </p:cNvPr>
          <p:cNvSpPr/>
          <p:nvPr/>
        </p:nvSpPr>
        <p:spPr>
          <a:xfrm rot="5400000">
            <a:off x="6687678" y="1553122"/>
            <a:ext cx="2510908" cy="4422199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endParaRPr lang="en-US" sz="2160">
              <a:latin typeface="Gotham Blac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03B98E-ABEE-3F5B-DD5B-8A96227DC2A0}"/>
              </a:ext>
            </a:extLst>
          </p:cNvPr>
          <p:cNvSpPr/>
          <p:nvPr/>
        </p:nvSpPr>
        <p:spPr>
          <a:xfrm rot="16200000">
            <a:off x="1943647" y="1553121"/>
            <a:ext cx="2510908" cy="4422199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E3A5DF2-D2D1-1246-AA7F-C91ED346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7558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Content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First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6B5C501-AED6-43F5-1CDA-FECF293F1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66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Gotham Black"/>
              </a:rPr>
              <a:t>On social, we don’t start with VOYO.</a:t>
            </a:r>
            <a:r>
              <a:rPr lang="sk-SK" sz="2000" dirty="0">
                <a:latin typeface="Gotham Black"/>
              </a:rPr>
              <a:t> </a:t>
            </a:r>
            <a:r>
              <a:rPr lang="en-US" sz="2000" dirty="0">
                <a:latin typeface="Gotham Black"/>
              </a:rPr>
              <a:t>We </a:t>
            </a:r>
            <a:r>
              <a:rPr lang="en-US" sz="2000" b="1" dirty="0">
                <a:latin typeface="Gotham Black"/>
              </a:rPr>
              <a:t>start</a:t>
            </a:r>
            <a:r>
              <a:rPr lang="en-US" sz="2000" dirty="0">
                <a:latin typeface="Gotham Black"/>
              </a:rPr>
              <a:t> </a:t>
            </a:r>
            <a:r>
              <a:rPr lang="en-US" sz="2000" b="1" dirty="0">
                <a:latin typeface="Gotham Black"/>
              </a:rPr>
              <a:t>with the story.</a:t>
            </a:r>
            <a:endParaRPr lang="sk-SK" sz="2000" b="1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36B65F6-D149-8BE2-45D9-8ADD3890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61</a:t>
            </a:fld>
            <a:endParaRPr lang="sk-SK"/>
          </a:p>
        </p:txBody>
      </p:sp>
      <p:sp>
        <p:nvSpPr>
          <p:cNvPr id="5" name="Zástupný objekt pre obsah 2">
            <a:extLst>
              <a:ext uri="{FF2B5EF4-FFF2-40B4-BE49-F238E27FC236}">
                <a16:creationId xmlns:a16="http://schemas.microsoft.com/office/drawing/2014/main" id="{F55E25BF-6613-9A0B-7F8B-2AEDA6DC122B}"/>
              </a:ext>
            </a:extLst>
          </p:cNvPr>
          <p:cNvSpPr txBox="1">
            <a:spLocks/>
          </p:cNvSpPr>
          <p:nvPr/>
        </p:nvSpPr>
        <p:spPr>
          <a:xfrm>
            <a:off x="2438982" y="2790825"/>
            <a:ext cx="2443307" cy="2228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000" b="1" dirty="0">
                <a:latin typeface="Gotham Black"/>
              </a:rPr>
              <a:t>LEAD WITH:</a:t>
            </a:r>
            <a:endParaRPr lang="sk-SK" sz="2000" b="1" dirty="0">
              <a:latin typeface="Gotham Black"/>
            </a:endParaRPr>
          </a:p>
          <a:p>
            <a:pPr algn="r"/>
            <a:r>
              <a:rPr lang="sk-SK" sz="2000" dirty="0">
                <a:latin typeface="Gotham Black"/>
              </a:rPr>
              <a:t>m</a:t>
            </a:r>
            <a:r>
              <a:rPr lang="en-US" sz="2000" dirty="0" err="1">
                <a:latin typeface="Gotham Black"/>
              </a:rPr>
              <a:t>oments</a:t>
            </a:r>
            <a:endParaRPr lang="sk-SK" sz="2000" dirty="0">
              <a:latin typeface="Gotham Black"/>
            </a:endParaRPr>
          </a:p>
          <a:p>
            <a:pPr algn="r"/>
            <a:r>
              <a:rPr lang="sk-SK" sz="2000" dirty="0">
                <a:latin typeface="Gotham Black"/>
              </a:rPr>
              <a:t>e</a:t>
            </a:r>
            <a:r>
              <a:rPr lang="en-US" sz="2000" dirty="0">
                <a:latin typeface="Gotham Black"/>
              </a:rPr>
              <a:t>motions</a:t>
            </a:r>
            <a:endParaRPr lang="sk-SK" sz="2000" dirty="0">
              <a:latin typeface="Gotham Black"/>
            </a:endParaRPr>
          </a:p>
          <a:p>
            <a:pPr algn="r"/>
            <a:r>
              <a:rPr lang="sk-SK" sz="2000" dirty="0">
                <a:latin typeface="Gotham Black"/>
              </a:rPr>
              <a:t>c</a:t>
            </a:r>
            <a:r>
              <a:rPr lang="en-US" sz="2000" dirty="0" err="1">
                <a:latin typeface="Gotham Black"/>
              </a:rPr>
              <a:t>haracters</a:t>
            </a:r>
            <a:endParaRPr lang="sk-SK" sz="2000" dirty="0">
              <a:latin typeface="Gotham Black"/>
            </a:endParaRPr>
          </a:p>
          <a:p>
            <a:pPr algn="r"/>
            <a:r>
              <a:rPr lang="sk-SK" sz="2000" dirty="0" err="1">
                <a:latin typeface="Gotham Black"/>
              </a:rPr>
              <a:t>turning</a:t>
            </a:r>
            <a:r>
              <a:rPr lang="sk-SK" sz="2000" dirty="0">
                <a:latin typeface="Gotham Black"/>
              </a:rPr>
              <a:t> </a:t>
            </a:r>
            <a:r>
              <a:rPr lang="sk-SK" sz="2000" dirty="0" err="1">
                <a:latin typeface="Gotham Black"/>
              </a:rPr>
              <a:t>points</a:t>
            </a:r>
            <a:endParaRPr lang="sk-SK" sz="2000" dirty="0">
              <a:latin typeface="Gotham Black"/>
            </a:endParaRPr>
          </a:p>
        </p:txBody>
      </p: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DB743CBA-985F-5667-0F31-934A1A839CDD}"/>
              </a:ext>
            </a:extLst>
          </p:cNvPr>
          <p:cNvSpPr txBox="1">
            <a:spLocks/>
          </p:cNvSpPr>
          <p:nvPr/>
        </p:nvSpPr>
        <p:spPr>
          <a:xfrm>
            <a:off x="5732032" y="2790825"/>
            <a:ext cx="5471968" cy="2228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Gotham Black"/>
              </a:rPr>
              <a:t>NOT WITH:</a:t>
            </a:r>
            <a:endParaRPr lang="sk-SK" sz="2000" b="1" dirty="0">
              <a:latin typeface="Gotham Black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Gotham Black"/>
              </a:rPr>
              <a:t>feature lists</a:t>
            </a:r>
            <a:endParaRPr lang="sk-SK" sz="2000" dirty="0">
              <a:latin typeface="Gotham Black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Gotham Black"/>
              </a:rPr>
              <a:t>generic promo graphics</a:t>
            </a:r>
            <a:endParaRPr lang="sk-SK" sz="2000" dirty="0">
              <a:latin typeface="Gotham Black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Gotham Black"/>
              </a:rPr>
              <a:t>platform messaging</a:t>
            </a:r>
            <a:endParaRPr lang="sk-SK" sz="2000" dirty="0"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1A85B5B5-BF60-1243-A324-C0236FC6949D}"/>
              </a:ext>
            </a:extLst>
          </p:cNvPr>
          <p:cNvSpPr txBox="1"/>
          <p:nvPr/>
        </p:nvSpPr>
        <p:spPr>
          <a:xfrm>
            <a:off x="461818" y="5301733"/>
            <a:ext cx="9391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otham Black"/>
              </a:rPr>
              <a:t>Story stops the scroll. Platform comes second.</a:t>
            </a:r>
            <a:endParaRPr lang="sk-SK" sz="2000" dirty="0">
              <a:solidFill>
                <a:schemeClr val="bg1"/>
              </a:solidFill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8013191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8C73C5-270C-F63D-4226-21816CB9D630}"/>
              </a:ext>
            </a:extLst>
          </p:cNvPr>
          <p:cNvSpPr/>
          <p:nvPr/>
        </p:nvSpPr>
        <p:spPr>
          <a:xfrm rot="5400000">
            <a:off x="6451454" y="2720315"/>
            <a:ext cx="1213511" cy="4753635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endParaRPr lang="en-US" sz="2160">
              <a:latin typeface="Gotham Black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CBB9B-A710-1CCB-347D-0E7181D46AEF}"/>
              </a:ext>
            </a:extLst>
          </p:cNvPr>
          <p:cNvSpPr/>
          <p:nvPr/>
        </p:nvSpPr>
        <p:spPr>
          <a:xfrm rot="5400000">
            <a:off x="5927946" y="1194744"/>
            <a:ext cx="1929094" cy="4422199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D786F82-BAEA-9BA4-5F3A-8C19AB56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7558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Local</a:t>
            </a:r>
            <a:r>
              <a:rPr lang="sk-SK" dirty="0">
                <a:latin typeface="Gotham Black"/>
              </a:rPr>
              <a:t> &amp; </a:t>
            </a:r>
            <a:r>
              <a:rPr lang="sk-SK" dirty="0" err="1">
                <a:latin typeface="Gotham Black"/>
              </a:rPr>
              <a:t>Culturally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Fluent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39A03C9-EE65-00A9-34DD-BB420DF54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074" y="2005012"/>
            <a:ext cx="6848475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sk-SK" dirty="0">
                <a:latin typeface="Gotham Black"/>
              </a:rPr>
              <a:t>V</a:t>
            </a:r>
            <a:r>
              <a:rPr lang="en-US" dirty="0">
                <a:latin typeface="Gotham Black"/>
              </a:rPr>
              <a:t>OYO must sound like it belongs here.</a:t>
            </a:r>
          </a:p>
          <a:p>
            <a:pPr marL="0" indent="0">
              <a:buNone/>
            </a:pPr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b="1" dirty="0">
                <a:latin typeface="Gotham Black"/>
              </a:rPr>
              <a:t>USE:</a:t>
            </a:r>
            <a:endParaRPr lang="sk-SK" b="1" dirty="0">
              <a:latin typeface="Gotham Black"/>
            </a:endParaRPr>
          </a:p>
          <a:p>
            <a:r>
              <a:rPr lang="en-US" dirty="0">
                <a:latin typeface="Gotham Black"/>
              </a:rPr>
              <a:t>local </a:t>
            </a:r>
            <a:r>
              <a:rPr lang="en-US" dirty="0" err="1">
                <a:latin typeface="Gotham Black"/>
              </a:rPr>
              <a:t>humour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natural language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cultural references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real-time reactions</a:t>
            </a:r>
            <a:endParaRPr lang="sk-SK" dirty="0">
              <a:latin typeface="Gotham Black"/>
            </a:endParaRPr>
          </a:p>
          <a:p>
            <a:pPr marL="0" indent="0">
              <a:buNone/>
            </a:pPr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b="1" dirty="0">
                <a:latin typeface="Gotham Black"/>
              </a:rPr>
              <a:t>AVOID:</a:t>
            </a:r>
            <a:endParaRPr lang="sk-SK" b="1" dirty="0">
              <a:latin typeface="Gotham Black"/>
            </a:endParaRPr>
          </a:p>
          <a:p>
            <a:r>
              <a:rPr lang="en-US" dirty="0">
                <a:latin typeface="Gotham Black"/>
              </a:rPr>
              <a:t>generic global tone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corporate language</a:t>
            </a:r>
          </a:p>
          <a:p>
            <a:pPr marL="0" indent="0">
              <a:buNone/>
            </a:pPr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dirty="0">
                <a:latin typeface="Gotham Black"/>
              </a:rPr>
              <a:t>Social should feel local, not imported.</a:t>
            </a:r>
          </a:p>
          <a:p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4600161-D2EF-D311-FADA-91F39684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62</a:t>
            </a:fld>
            <a:endParaRPr lang="sk-SK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D9C9BC-5ADC-16FC-3CC8-F5FBBA358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93" y="2108054"/>
            <a:ext cx="3757757" cy="375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5312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B26B3B-6D9E-83B4-4DFD-FA30D937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9924"/>
            <a:ext cx="9901382" cy="656164"/>
          </a:xfrm>
        </p:spPr>
        <p:txBody>
          <a:bodyPr>
            <a:normAutofit/>
          </a:bodyPr>
          <a:lstStyle/>
          <a:p>
            <a:r>
              <a:rPr lang="en-US" dirty="0">
                <a:latin typeface="Gotham Black"/>
              </a:rPr>
              <a:t>Social Supports The Viewing Journey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8DC7656-F570-6CF7-D7EF-C35A23A7F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656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Gotham Black"/>
              </a:rPr>
              <a:t>Social keeps VOYO present across everyday viewing moments.</a:t>
            </a:r>
            <a:endParaRPr lang="sk-SK" dirty="0">
              <a:latin typeface="Gotham Black"/>
            </a:endParaRPr>
          </a:p>
          <a:p>
            <a:pPr marL="0" indent="0">
              <a:buNone/>
            </a:pPr>
            <a:endParaRPr lang="sk-SK" b="1" dirty="0">
              <a:latin typeface="Gotham Black"/>
            </a:endParaRPr>
          </a:p>
          <a:p>
            <a:pPr marL="0" indent="0">
              <a:buNone/>
            </a:pP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5E73623-3955-515D-6B8D-2AAD08D3E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63</a:t>
            </a:fld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997131EC-2723-214D-E293-CF5C5BDF5677}"/>
              </a:ext>
            </a:extLst>
          </p:cNvPr>
          <p:cNvSpPr txBox="1"/>
          <p:nvPr/>
        </p:nvSpPr>
        <p:spPr>
          <a:xfrm>
            <a:off x="1776268" y="248178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ANTICIPATE</a:t>
            </a:r>
            <a:endParaRPr lang="sk-SK" sz="1600" b="1" dirty="0">
              <a:solidFill>
                <a:srgbClr val="DB9E0A"/>
              </a:solidFill>
              <a:latin typeface="Gotham Black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know what’s coming and why it matters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ABDB3447-2A17-4DFF-2966-73615023CBA5}"/>
              </a:ext>
            </a:extLst>
          </p:cNvPr>
          <p:cNvSpPr txBox="1"/>
          <p:nvPr/>
        </p:nvSpPr>
        <p:spPr>
          <a:xfrm>
            <a:off x="3219450" y="316560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DISCOVER</a:t>
            </a:r>
            <a:endParaRPr lang="sk-SK" sz="1600" b="1" dirty="0">
              <a:solidFill>
                <a:srgbClr val="DB9E0A"/>
              </a:solidFill>
              <a:latin typeface="Gotham Black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see what everyone is talking about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FAFAEB23-24A1-3052-31C6-5DD2A57050FA}"/>
              </a:ext>
            </a:extLst>
          </p:cNvPr>
          <p:cNvSpPr txBox="1"/>
          <p:nvPr/>
        </p:nvSpPr>
        <p:spPr>
          <a:xfrm>
            <a:off x="4657725" y="38119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WATCH</a:t>
            </a:r>
            <a:endParaRPr lang="sk-SK" sz="1600" b="1" dirty="0">
              <a:solidFill>
                <a:srgbClr val="DB9E0A"/>
              </a:solidFill>
              <a:latin typeface="Gotham Black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join the moment while it’s happening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77311064-807E-72F6-3424-181D458573DD}"/>
              </a:ext>
            </a:extLst>
          </p:cNvPr>
          <p:cNvSpPr txBox="1"/>
          <p:nvPr/>
        </p:nvSpPr>
        <p:spPr>
          <a:xfrm>
            <a:off x="6124503" y="449574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CONTINUE</a:t>
            </a:r>
            <a:endParaRPr lang="sk-SK" sz="1600" b="1" dirty="0">
              <a:solidFill>
                <a:srgbClr val="DB9E0A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stay connected between episodes</a:t>
            </a:r>
            <a:endParaRPr lang="sk-SK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332ECAAE-1C6B-F352-46BA-4596DC2CBDC3}"/>
              </a:ext>
            </a:extLst>
          </p:cNvPr>
          <p:cNvSpPr txBox="1"/>
          <p:nvPr/>
        </p:nvSpPr>
        <p:spPr>
          <a:xfrm>
            <a:off x="7462838" y="526875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DB9E0A"/>
                </a:solidFill>
                <a:latin typeface="Gotham Black"/>
                <a:ea typeface="Gotham Light"/>
              </a:rPr>
              <a:t>KEEP WATCHING</a:t>
            </a:r>
            <a:br>
              <a:rPr lang="en-US" sz="1600" dirty="0">
                <a:latin typeface="Gotham Black"/>
                <a:ea typeface="Gotham Light"/>
              </a:rPr>
            </a:br>
            <a:r>
              <a:rPr lang="en-US" sz="1600" dirty="0">
                <a:solidFill>
                  <a:schemeClr val="bg1"/>
                </a:solidFill>
                <a:latin typeface="Gotham Black"/>
                <a:ea typeface="Gotham Light"/>
              </a:rPr>
              <a:t>make VOYO part of everyday routine</a:t>
            </a:r>
          </a:p>
        </p:txBody>
      </p:sp>
      <p:cxnSp>
        <p:nvCxnSpPr>
          <p:cNvPr id="18" name="Rovná spojovacia šípka 17">
            <a:extLst>
              <a:ext uri="{FF2B5EF4-FFF2-40B4-BE49-F238E27FC236}">
                <a16:creationId xmlns:a16="http://schemas.microsoft.com/office/drawing/2014/main" id="{5C7A4D25-CDA5-E53E-701F-A5F07601F01C}"/>
              </a:ext>
            </a:extLst>
          </p:cNvPr>
          <p:cNvCxnSpPr>
            <a:cxnSpLocks/>
          </p:cNvCxnSpPr>
          <p:nvPr/>
        </p:nvCxnSpPr>
        <p:spPr>
          <a:xfrm>
            <a:off x="1776268" y="3183215"/>
            <a:ext cx="5686570" cy="2684711"/>
          </a:xfrm>
          <a:prstGeom prst="straightConnector1">
            <a:avLst/>
          </a:prstGeom>
          <a:ln w="41275">
            <a:gradFill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5400000" scaled="1"/>
            </a:gra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D8E8E1B-00ED-4BDD-D2EF-0285B28CB063}"/>
              </a:ext>
            </a:extLst>
          </p:cNvPr>
          <p:cNvSpPr/>
          <p:nvPr/>
        </p:nvSpPr>
        <p:spPr>
          <a:xfrm>
            <a:off x="1651750" y="3038419"/>
            <a:ext cx="249036" cy="249036"/>
          </a:xfrm>
          <a:prstGeom prst="ellipse">
            <a:avLst/>
          </a:prstGeom>
          <a:solidFill>
            <a:srgbClr val="DB9E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FD9239E-4C4F-4AB6-A952-622B559731F5}"/>
              </a:ext>
            </a:extLst>
          </p:cNvPr>
          <p:cNvSpPr/>
          <p:nvPr/>
        </p:nvSpPr>
        <p:spPr>
          <a:xfrm>
            <a:off x="2967961" y="3666908"/>
            <a:ext cx="249036" cy="249036"/>
          </a:xfrm>
          <a:prstGeom prst="ellipse">
            <a:avLst/>
          </a:prstGeom>
          <a:solidFill>
            <a:srgbClr val="DB9E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82A3DB-61E1-7CCF-733A-355B3237C235}"/>
              </a:ext>
            </a:extLst>
          </p:cNvPr>
          <p:cNvSpPr/>
          <p:nvPr/>
        </p:nvSpPr>
        <p:spPr>
          <a:xfrm>
            <a:off x="4495035" y="4378825"/>
            <a:ext cx="249036" cy="249036"/>
          </a:xfrm>
          <a:prstGeom prst="ellipse">
            <a:avLst/>
          </a:prstGeom>
          <a:solidFill>
            <a:srgbClr val="DB9E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E1E921-1BFB-20CD-AF8D-DD679A2028B2}"/>
              </a:ext>
            </a:extLst>
          </p:cNvPr>
          <p:cNvSpPr/>
          <p:nvPr/>
        </p:nvSpPr>
        <p:spPr>
          <a:xfrm>
            <a:off x="5999985" y="5098278"/>
            <a:ext cx="249036" cy="249036"/>
          </a:xfrm>
          <a:prstGeom prst="ellipse">
            <a:avLst/>
          </a:prstGeom>
          <a:solidFill>
            <a:srgbClr val="DB9E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34518663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4914E-6E95-3D37-E852-F5D01BB5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62DA59-9911-AC58-B0DB-9569768BB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607712"/>
            <a:ext cx="11277599" cy="656164"/>
          </a:xfrm>
        </p:spPr>
        <p:txBody>
          <a:bodyPr>
            <a:normAutofit/>
          </a:bodyPr>
          <a:lstStyle/>
          <a:p>
            <a:r>
              <a:rPr lang="en-US" dirty="0">
                <a:latin typeface="Gotham Black"/>
              </a:rPr>
              <a:t>Create F</a:t>
            </a:r>
            <a:r>
              <a:rPr lang="sk-SK" dirty="0">
                <a:latin typeface="Gotham Black"/>
              </a:rPr>
              <a:t>OMO</a:t>
            </a:r>
            <a:r>
              <a:rPr lang="en-US" dirty="0">
                <a:latin typeface="Gotham Black"/>
              </a:rPr>
              <a:t>. Protect The Experience.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2431FDD-9BC2-B7ED-1324-7E3B22657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32314"/>
            <a:ext cx="11277600" cy="127238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Gotham Black"/>
              </a:rPr>
              <a:t>In real time culture, moments spread instantly.</a:t>
            </a:r>
            <a:r>
              <a:rPr lang="sk-SK" sz="2000" dirty="0">
                <a:latin typeface="Gotham Black"/>
              </a:rPr>
              <a:t> </a:t>
            </a:r>
            <a:r>
              <a:rPr lang="en-US" sz="2000" dirty="0">
                <a:latin typeface="Gotham Black"/>
              </a:rPr>
              <a:t>If VOYO doesn’t lead the conversation, someone else will.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Gotham Black"/>
              </a:rPr>
              <a:t>Our role is to own the moment while protecting the story.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1FCD14C-63A3-6BFE-012A-9C13F806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64</a:t>
            </a:fld>
            <a:endParaRPr lang="sk-SK"/>
          </a:p>
        </p:txBody>
      </p:sp>
      <p:sp>
        <p:nvSpPr>
          <p:cNvPr id="5" name="Zástupný objekt pre obsah 2">
            <a:extLst>
              <a:ext uri="{FF2B5EF4-FFF2-40B4-BE49-F238E27FC236}">
                <a16:creationId xmlns:a16="http://schemas.microsoft.com/office/drawing/2014/main" id="{DE145444-9C2C-3A6E-F159-9C0D93BF4409}"/>
              </a:ext>
            </a:extLst>
          </p:cNvPr>
          <p:cNvSpPr txBox="1">
            <a:spLocks/>
          </p:cNvSpPr>
          <p:nvPr/>
        </p:nvSpPr>
        <p:spPr>
          <a:xfrm>
            <a:off x="461818" y="3277394"/>
            <a:ext cx="3557443" cy="1513385"/>
          </a:xfrm>
          <a:prstGeom prst="rect">
            <a:avLst/>
          </a:prstGeom>
          <a:ln w="12700">
            <a:solidFill>
              <a:srgbClr val="FFFBB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>
                <a:latin typeface="Gotham Black"/>
              </a:rPr>
              <a:t>BEFORE THE REVEAL</a:t>
            </a:r>
            <a:endParaRPr lang="sk-SK" sz="1600" dirty="0">
              <a:latin typeface="Gotham Black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1600" dirty="0">
              <a:latin typeface="Gotham Black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>
                <a:latin typeface="Gotham Black"/>
              </a:rPr>
              <a:t>Build tension, not outcomes</a:t>
            </a:r>
            <a:endParaRPr lang="sk-SK" sz="1600" dirty="0">
              <a:latin typeface="Gotham Black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600" dirty="0">
                <a:latin typeface="Gotham Black"/>
              </a:rPr>
              <a:t>emotion &amp; reactions</a:t>
            </a:r>
            <a:endParaRPr lang="sk-SK" sz="1600" dirty="0">
              <a:latin typeface="Gotham Black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600" dirty="0">
                <a:latin typeface="Gotham Black"/>
              </a:rPr>
              <a:t>suspense &amp; questions</a:t>
            </a:r>
            <a:endParaRPr lang="sk-SK" sz="1600" dirty="0">
              <a:latin typeface="Gotham Black"/>
            </a:endParaRPr>
          </a:p>
        </p:txBody>
      </p: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4BC952DA-515B-1291-446D-617E2FF337E8}"/>
              </a:ext>
            </a:extLst>
          </p:cNvPr>
          <p:cNvSpPr txBox="1">
            <a:spLocks/>
          </p:cNvSpPr>
          <p:nvPr/>
        </p:nvSpPr>
        <p:spPr>
          <a:xfrm>
            <a:off x="4326660" y="3278984"/>
            <a:ext cx="3557442" cy="1511795"/>
          </a:xfrm>
          <a:prstGeom prst="rect">
            <a:avLst/>
          </a:prstGeom>
          <a:ln w="12700">
            <a:solidFill>
              <a:srgbClr val="FFFBB1"/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sk-SK"/>
            </a:defPPr>
            <a:lvl1pPr indent="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Gotham Book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Gotham Ligh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Gotham Light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Gotham Light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Gotham Light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0" dirty="0">
                <a:latin typeface="Gotham Black"/>
              </a:rPr>
              <a:t>AT THE OFFICIAL REVEAL</a:t>
            </a:r>
            <a:endParaRPr lang="sk-SK" sz="1600" b="0" dirty="0">
              <a:latin typeface="Gotham Black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sk-SK" sz="1600" b="0" dirty="0">
              <a:latin typeface="Gotham Black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0" dirty="0">
                <a:latin typeface="Gotham Black"/>
              </a:rPr>
              <a:t>Own the moment immediately</a:t>
            </a:r>
            <a:endParaRPr lang="sk-SK" sz="1600" b="0" dirty="0">
              <a:latin typeface="Gotham Black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Gotham Black"/>
              </a:rPr>
              <a:t>confirm results clear</a:t>
            </a:r>
            <a:r>
              <a:rPr lang="sk-SK" sz="1600" b="0" dirty="0" err="1">
                <a:latin typeface="Gotham Black"/>
              </a:rPr>
              <a:t>ly</a:t>
            </a:r>
            <a:endParaRPr lang="sk-SK" sz="1600" b="0" dirty="0">
              <a:latin typeface="Gotham Black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Gotham Black"/>
              </a:rPr>
              <a:t>guide viewers on VOYO</a:t>
            </a:r>
          </a:p>
        </p:txBody>
      </p:sp>
      <p:sp>
        <p:nvSpPr>
          <p:cNvPr id="7" name="Zástupný objekt pre obsah 2">
            <a:extLst>
              <a:ext uri="{FF2B5EF4-FFF2-40B4-BE49-F238E27FC236}">
                <a16:creationId xmlns:a16="http://schemas.microsoft.com/office/drawing/2014/main" id="{5A5F57AA-93F7-5A13-876F-1F19256EFA45}"/>
              </a:ext>
            </a:extLst>
          </p:cNvPr>
          <p:cNvSpPr txBox="1">
            <a:spLocks/>
          </p:cNvSpPr>
          <p:nvPr/>
        </p:nvSpPr>
        <p:spPr>
          <a:xfrm>
            <a:off x="8191501" y="3277394"/>
            <a:ext cx="3547917" cy="1511796"/>
          </a:xfrm>
          <a:prstGeom prst="rect">
            <a:avLst/>
          </a:prstGeom>
          <a:ln w="12700">
            <a:solidFill>
              <a:srgbClr val="FFFBB1"/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sk-SK"/>
            </a:defPPr>
            <a:lvl1pPr indent="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Gotham Book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Gotham Ligh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Gotham Light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Gotham Light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Gotham Light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sz="1600" b="0" dirty="0">
                <a:latin typeface="Gotham Black"/>
              </a:rPr>
              <a:t>AFTER THE REVEAL</a:t>
            </a:r>
            <a:endParaRPr lang="sk-SK" sz="1600" b="0" dirty="0">
              <a:latin typeface="Gotham Black"/>
            </a:endParaRPr>
          </a:p>
          <a:p>
            <a:pPr>
              <a:spcBef>
                <a:spcPts val="0"/>
              </a:spcBef>
            </a:pPr>
            <a:br>
              <a:rPr lang="en-US" sz="1600" b="0" dirty="0">
                <a:latin typeface="Gotham Black"/>
              </a:rPr>
            </a:br>
            <a:r>
              <a:rPr lang="en-US" sz="1600" b="0" dirty="0">
                <a:latin typeface="Gotham Black"/>
              </a:rPr>
              <a:t>Extend the conversation</a:t>
            </a:r>
            <a:endParaRPr lang="sk-SK" sz="1600" b="0" dirty="0">
              <a:latin typeface="Gotham Black"/>
            </a:endParaRP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Gotham Black"/>
              </a:rPr>
              <a:t>reactions &amp; debate</a:t>
            </a:r>
            <a:endParaRPr lang="sk-SK" sz="1600" b="0" dirty="0">
              <a:latin typeface="Gotham Black"/>
            </a:endParaRP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Gotham Black"/>
              </a:rPr>
              <a:t>best moments &amp; fan response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161F5E9F-B4F1-F549-27E9-F2E28C6FD75B}"/>
              </a:ext>
            </a:extLst>
          </p:cNvPr>
          <p:cNvSpPr txBox="1"/>
          <p:nvPr/>
        </p:nvSpPr>
        <p:spPr>
          <a:xfrm>
            <a:off x="1500043" y="5075416"/>
            <a:ext cx="105490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BB1"/>
                </a:solidFill>
                <a:latin typeface="Gotham Black"/>
              </a:rPr>
              <a:t>Content rules</a:t>
            </a:r>
            <a:endParaRPr lang="en-US" sz="1600" dirty="0">
              <a:solidFill>
                <a:srgbClr val="FFFBB1"/>
              </a:solidFill>
              <a:latin typeface="Gotham Black"/>
            </a:endParaRPr>
          </a:p>
          <a:p>
            <a:pPr>
              <a:buNone/>
            </a:pPr>
            <a:r>
              <a:rPr lang="en-US" sz="1600" dirty="0">
                <a:solidFill>
                  <a:srgbClr val="FFFBB1"/>
                </a:solidFill>
                <a:latin typeface="Gotham Black"/>
              </a:rPr>
              <a:t>Reality &amp; sport → results spread instantly</a:t>
            </a:r>
            <a:r>
              <a:rPr lang="sk-SK" sz="1600" dirty="0">
                <a:solidFill>
                  <a:srgbClr val="FFFBB1"/>
                </a:solidFill>
                <a:latin typeface="Gotham Black"/>
              </a:rPr>
              <a:t> </a:t>
            </a:r>
            <a:r>
              <a:rPr lang="en-US" sz="1600" dirty="0">
                <a:solidFill>
                  <a:srgbClr val="FFFBB1"/>
                </a:solidFill>
                <a:latin typeface="Gotham Black"/>
              </a:rPr>
              <a:t>→ lead the moment</a:t>
            </a:r>
            <a:br>
              <a:rPr lang="en-US" sz="1600" dirty="0">
                <a:solidFill>
                  <a:srgbClr val="FFFBB1"/>
                </a:solidFill>
                <a:latin typeface="Gotham Black"/>
              </a:rPr>
            </a:br>
            <a:r>
              <a:rPr lang="en-US" sz="1600" dirty="0">
                <a:solidFill>
                  <a:srgbClr val="FFFBB1"/>
                </a:solidFill>
                <a:latin typeface="Gotham Black"/>
              </a:rPr>
              <a:t>Series &amp; drama → protect the story → avoid plot spoilers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1C5F67CC-6466-6883-24EB-189D051571F6}"/>
              </a:ext>
            </a:extLst>
          </p:cNvPr>
          <p:cNvSpPr txBox="1"/>
          <p:nvPr/>
        </p:nvSpPr>
        <p:spPr>
          <a:xfrm>
            <a:off x="461818" y="6077247"/>
            <a:ext cx="9348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Create urgency, not spoilers.</a:t>
            </a:r>
            <a:r>
              <a:rPr lang="sk-SK" dirty="0">
                <a:solidFill>
                  <a:schemeClr val="bg1"/>
                </a:solidFill>
                <a:latin typeface="Gotham Black"/>
              </a:rPr>
              <a:t> 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Lead the moment, don’t chase it.</a:t>
            </a:r>
          </a:p>
        </p:txBody>
      </p:sp>
      <p:pic>
        <p:nvPicPr>
          <p:cNvPr id="10" name="Picture 9" descr="Attention PNG transparent image download, size: 2400x2400px">
            <a:extLst>
              <a:ext uri="{FF2B5EF4-FFF2-40B4-BE49-F238E27FC236}">
                <a16:creationId xmlns:a16="http://schemas.microsoft.com/office/drawing/2014/main" id="{5DD59CA5-611A-A64E-03DC-F715B5400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33419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0102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6327-57F6-C6FD-8C0B-69B4B062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2D9BC6E9-47EA-D30B-DEC3-FA3695D70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6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91E2BB36-6ADC-F6BD-5442-6A235D1AF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964071"/>
            <a:ext cx="11068493" cy="1039604"/>
          </a:xfrm>
        </p:spPr>
        <p:txBody>
          <a:bodyPr anchor="ctr">
            <a:normAutofit/>
          </a:bodyPr>
          <a:lstStyle/>
          <a:p>
            <a:r>
              <a:rPr lang="sk-SK" sz="6000" b="1" dirty="0">
                <a:latin typeface="Gotham Black"/>
              </a:rPr>
              <a:t>GROWTH</a:t>
            </a:r>
            <a:r>
              <a:rPr lang="sk-SK" sz="6000" dirty="0">
                <a:latin typeface="Gotham Black"/>
              </a:rPr>
              <a:t> &amp; PARTNERSHIP</a:t>
            </a:r>
            <a:endParaRPr lang="en-US" sz="60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9BB31754-0268-CB43-89EB-C8DC93B0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65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393362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2BB93-1A44-4BDC-9A6E-610BBC57E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E0AFF40C-5375-87FC-52FA-FE57B3E72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6.1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F5F0096B-9C2A-49B0-E0AE-B950F9E5E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964071"/>
            <a:ext cx="11068493" cy="1039604"/>
          </a:xfrm>
        </p:spPr>
        <p:txBody>
          <a:bodyPr>
            <a:normAutofit/>
          </a:bodyPr>
          <a:lstStyle/>
          <a:p>
            <a:r>
              <a:rPr lang="sk-SK" sz="6000" b="1" dirty="0">
                <a:latin typeface="Gotham Black"/>
              </a:rPr>
              <a:t>Marketing</a:t>
            </a:r>
            <a:r>
              <a:rPr lang="sk-SK" sz="6000" dirty="0">
                <a:latin typeface="Gotham Black"/>
              </a:rPr>
              <a:t> Strategy</a:t>
            </a:r>
            <a:endParaRPr lang="en-US" sz="60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30E2D03A-4A59-53A0-26D2-16AD20BF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66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303760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2BD347-A895-312E-1803-8F856A0FB697}"/>
              </a:ext>
            </a:extLst>
          </p:cNvPr>
          <p:cNvSpPr/>
          <p:nvPr/>
        </p:nvSpPr>
        <p:spPr>
          <a:xfrm rot="5400000">
            <a:off x="7445047" y="2680799"/>
            <a:ext cx="2094273" cy="5270355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A79B7-FC4E-D133-A929-AF9D02657E79}"/>
              </a:ext>
            </a:extLst>
          </p:cNvPr>
          <p:cNvSpPr/>
          <p:nvPr/>
        </p:nvSpPr>
        <p:spPr>
          <a:xfrm rot="16200000">
            <a:off x="2104407" y="2690174"/>
            <a:ext cx="2091543" cy="5254333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AAA08C-EBDB-ED76-AF66-A67BF7EB62A9}"/>
              </a:ext>
            </a:extLst>
          </p:cNvPr>
          <p:cNvSpPr/>
          <p:nvPr/>
        </p:nvSpPr>
        <p:spPr>
          <a:xfrm rot="5400000">
            <a:off x="7388939" y="465153"/>
            <a:ext cx="2206486" cy="5254333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362C41-8B54-FBB7-0D49-F52181C51BAF}"/>
              </a:ext>
            </a:extLst>
          </p:cNvPr>
          <p:cNvSpPr/>
          <p:nvPr/>
        </p:nvSpPr>
        <p:spPr>
          <a:xfrm rot="16200000">
            <a:off x="2039275" y="465560"/>
            <a:ext cx="2221808" cy="525433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23A2685-48A5-9E18-0A18-74C10A56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4178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VOYO </a:t>
            </a:r>
            <a:r>
              <a:rPr lang="sk-SK" b="1" dirty="0" err="1">
                <a:latin typeface="Gotham Black"/>
              </a:rPr>
              <a:t>Growth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Pillars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B4312D6-7C6F-C120-F382-1F3C9A77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>
                <a:latin typeface="Gotham Black"/>
              </a:rPr>
              <a:t>67</a:t>
            </a:fld>
            <a:endParaRPr lang="sk-SK">
              <a:latin typeface="Gotham Black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5E881A06-FDD7-536A-40A3-5752F415CE19}"/>
              </a:ext>
            </a:extLst>
          </p:cNvPr>
          <p:cNvSpPr txBox="1"/>
          <p:nvPr/>
        </p:nvSpPr>
        <p:spPr>
          <a:xfrm>
            <a:off x="456332" y="2109311"/>
            <a:ext cx="5019675" cy="1634490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b="1" dirty="0">
                <a:solidFill>
                  <a:schemeClr val="bg1"/>
                </a:solidFill>
                <a:latin typeface="Gotham Black"/>
              </a:rPr>
              <a:t>CONTENT-LED GROWTH</a:t>
            </a:r>
            <a:endParaRPr lang="sk-SK" b="1" dirty="0">
              <a:solidFill>
                <a:schemeClr val="bg1"/>
              </a:solidFill>
              <a:latin typeface="Gotham Black"/>
            </a:endParaRPr>
          </a:p>
          <a:p>
            <a:pPr algn="r">
              <a:buNone/>
            </a:pPr>
            <a:br>
              <a:rPr lang="en-US" dirty="0">
                <a:solidFill>
                  <a:schemeClr val="bg1"/>
                </a:solidFill>
                <a:latin typeface="Gotham Black"/>
              </a:rPr>
            </a:br>
            <a:r>
              <a:rPr lang="en-US" dirty="0">
                <a:solidFill>
                  <a:schemeClr val="bg1"/>
                </a:solidFill>
                <a:latin typeface="Gotham Black"/>
              </a:rPr>
              <a:t>Local originals, reality moments and premium sport drive subscriptions and conversation. VOYO grows when stories become unmissable.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71CE6F53-88C2-3BD1-95C0-FD95D5E4BDDE}"/>
              </a:ext>
            </a:extLst>
          </p:cNvPr>
          <p:cNvSpPr txBox="1"/>
          <p:nvPr/>
        </p:nvSpPr>
        <p:spPr>
          <a:xfrm>
            <a:off x="5990359" y="2136934"/>
            <a:ext cx="5019673" cy="1634490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>
                <a:latin typeface="Gotham Black"/>
              </a:rPr>
              <a:t>ECOSYSTEM AMPLIFICATION</a:t>
            </a:r>
            <a:endParaRPr lang="sk-SK" dirty="0">
              <a:latin typeface="Gotham Black"/>
            </a:endParaRPr>
          </a:p>
          <a:p>
            <a:pPr algn="l"/>
            <a:br>
              <a:rPr lang="en-US" dirty="0">
                <a:latin typeface="Gotham Black"/>
              </a:rPr>
            </a:br>
            <a:r>
              <a:rPr lang="en-US" b="0" dirty="0">
                <a:latin typeface="Gotham Black"/>
              </a:rPr>
              <a:t>TV builds national moments. VOYO extends access and continuity. Social and digital keep the conversation alive.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78FF158F-4B0B-5F52-E14A-8ECF216E92B0}"/>
              </a:ext>
            </a:extLst>
          </p:cNvPr>
          <p:cNvSpPr txBox="1"/>
          <p:nvPr/>
        </p:nvSpPr>
        <p:spPr>
          <a:xfrm>
            <a:off x="456332" y="4403596"/>
            <a:ext cx="5019675" cy="1634490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>
                <a:latin typeface="Gotham Black"/>
              </a:rPr>
              <a:t>HABIT &amp; LIFECYCLE GROWTH</a:t>
            </a:r>
            <a:endParaRPr lang="sk-SK" dirty="0">
              <a:latin typeface="Gotham Black"/>
            </a:endParaRPr>
          </a:p>
          <a:p>
            <a:pPr algn="r"/>
            <a:br>
              <a:rPr lang="en-US" dirty="0">
                <a:latin typeface="Gotham Black"/>
              </a:rPr>
            </a:br>
            <a:r>
              <a:rPr lang="en-US" b="0" dirty="0">
                <a:latin typeface="Gotham Black"/>
              </a:rPr>
              <a:t>VOYO builds daily viewing habits through continuity, </a:t>
            </a:r>
            <a:r>
              <a:rPr lang="en-US" b="0" dirty="0" err="1">
                <a:latin typeface="Gotham Black"/>
              </a:rPr>
              <a:t>personalisation</a:t>
            </a:r>
            <a:r>
              <a:rPr lang="en-US" b="0" dirty="0">
                <a:latin typeface="Gotham Black"/>
              </a:rPr>
              <a:t> and lifecycle communication, not one-time campaigns.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DA742E1F-E14C-1D62-B789-53F399651DD4}"/>
              </a:ext>
            </a:extLst>
          </p:cNvPr>
          <p:cNvSpPr txBox="1"/>
          <p:nvPr/>
        </p:nvSpPr>
        <p:spPr>
          <a:xfrm>
            <a:off x="5990359" y="4415393"/>
            <a:ext cx="5019675" cy="1634490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>
                <a:latin typeface="Gotham Black"/>
              </a:rPr>
              <a:t>DISTRIBUTION &amp; VALUE PARTNERSHIPS</a:t>
            </a:r>
            <a:endParaRPr lang="sk-SK" dirty="0">
              <a:latin typeface="Gotham Black"/>
            </a:endParaRPr>
          </a:p>
          <a:p>
            <a:pPr algn="l"/>
            <a:br>
              <a:rPr lang="en-US" dirty="0">
                <a:latin typeface="Gotham Black"/>
              </a:rPr>
            </a:br>
            <a:r>
              <a:rPr lang="en-US" b="0" dirty="0">
                <a:latin typeface="Gotham Black"/>
              </a:rPr>
              <a:t>Bundles, telco integrations and device partnerships expand reach while strengthening VOYO’s premium value.</a:t>
            </a:r>
          </a:p>
        </p:txBody>
      </p:sp>
    </p:spTree>
    <p:extLst>
      <p:ext uri="{BB962C8B-B14F-4D97-AF65-F5344CB8AC3E}">
        <p14:creationId xmlns:p14="http://schemas.microsoft.com/office/powerpoint/2010/main" val="14949612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CDD57B-C084-8120-4536-7841DA1B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5136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Content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Strategy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2DB312B-371C-01BA-D9EC-A61F2D1CA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650" y="1825625"/>
            <a:ext cx="8062768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Local stories &amp; shared moments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Reality formats, local adaptations and advanced streaming from TV bring culturally close stories and national moments people follow together.</a:t>
            </a: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Sport &amp; live excitement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Local leagues and global competitions deliver high-stakes moments that drive engagement and real-time viewing</a:t>
            </a: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Continuity beyond broadcast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VOYO extends TV storytelling through early access, full seasons and on-demand viewing that fits everyday life</a:t>
            </a: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Gotham Black"/>
              </a:rPr>
              <a:t>Curated global entertainment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Selected international series and films broaden choice while remaining relevant and appealing to local audiences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863B70-5666-6F57-A256-BF24D80F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68</a:t>
            </a:fld>
            <a:endParaRPr lang="sk-S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72693E-8E29-DDFB-A008-E72D0204E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109" y="1568450"/>
            <a:ext cx="1063466" cy="10634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760048-3FF3-FE07-D1DC-F990A06C7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780" y="2870548"/>
            <a:ext cx="926795" cy="9267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A60F22-9882-D0B5-487D-277786219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109" y="3949352"/>
            <a:ext cx="1158929" cy="11589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0105AB-4A90-4099-5489-2F8F53F0D7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19" y="5215932"/>
            <a:ext cx="856945" cy="85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586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93089D-25C4-6553-2686-6CB4A6B05AE8}"/>
              </a:ext>
            </a:extLst>
          </p:cNvPr>
          <p:cNvSpPr/>
          <p:nvPr/>
        </p:nvSpPr>
        <p:spPr>
          <a:xfrm rot="5400000">
            <a:off x="6814853" y="1275917"/>
            <a:ext cx="4171950" cy="5388838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2F03B6-D457-5C1B-EB3E-9646CD210DCA}"/>
              </a:ext>
            </a:extLst>
          </p:cNvPr>
          <p:cNvSpPr/>
          <p:nvPr/>
        </p:nvSpPr>
        <p:spPr>
          <a:xfrm rot="16200000">
            <a:off x="1144156" y="1275917"/>
            <a:ext cx="4171950" cy="5388838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486519C-51F0-812F-DACF-68861915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>
                <a:latin typeface="Gotham Black"/>
              </a:rPr>
              <a:t>User</a:t>
            </a:r>
            <a:r>
              <a:rPr lang="sk-SK" dirty="0">
                <a:latin typeface="Gotham Black"/>
              </a:rPr>
              <a:t> </a:t>
            </a:r>
            <a:r>
              <a:rPr lang="sk-SK" b="1" dirty="0" err="1">
                <a:latin typeface="Gotham Black"/>
              </a:rPr>
              <a:t>Acquisition</a:t>
            </a:r>
            <a:r>
              <a:rPr lang="sk-SK" dirty="0">
                <a:latin typeface="Gotham Black"/>
              </a:rPr>
              <a:t> &amp; </a:t>
            </a:r>
            <a:r>
              <a:rPr lang="sk-SK" dirty="0" err="1">
                <a:latin typeface="Gotham Black"/>
              </a:rPr>
              <a:t>Retention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5947C85-9876-245B-99F9-774B90CFC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69</a:t>
            </a:fld>
            <a:endParaRPr lang="sk-SK"/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620F994E-B136-5B83-CDCD-86B264D7897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78694" y="2166361"/>
            <a:ext cx="5484813" cy="4351337"/>
          </a:xfrm>
        </p:spPr>
        <p:txBody>
          <a:bodyPr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WHY PEOPLE SUBSCRIBE</a:t>
            </a:r>
            <a:endParaRPr lang="sk-SK" sz="1600" b="1" dirty="0">
              <a:solidFill>
                <a:srgbClr val="DB9E0A"/>
              </a:solidFill>
              <a:latin typeface="Montserrat" panose="00000500000000000000" pitchFamily="2" charset="0"/>
            </a:endParaRPr>
          </a:p>
          <a:p>
            <a:pPr marL="0" indent="0" algn="r">
              <a:lnSpc>
                <a:spcPct val="120000"/>
              </a:lnSpc>
              <a:buNone/>
            </a:pP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VOYO attracts new subscribers through must-watch moments that spark conversation and cultural relevance. </a:t>
            </a:r>
            <a:endParaRPr lang="sk-SK" sz="1600" dirty="0">
              <a:latin typeface="Montserrat" panose="00000500000000000000" pitchFamily="2" charset="0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latin typeface="Gotham Black"/>
              </a:rPr>
              <a:t>Major premieres, reality milestones and live sport create urgency and a clear reason to join now rather than later. </a:t>
            </a:r>
            <a:endParaRPr lang="sk-SK" sz="1600" dirty="0">
              <a:latin typeface="Montserrat" panose="00000500000000000000" pitchFamily="2" charset="0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latin typeface="Gotham Black"/>
              </a:rPr>
              <a:t>The strength of the TV ecosystem amplifies awareness, while VOYO offers immediate access and viewing flexibility.</a:t>
            </a:r>
            <a:endParaRPr lang="sk-SK" sz="1600" dirty="0">
              <a:latin typeface="Montserrat" panose="00000500000000000000" pitchFamily="2" charset="0"/>
            </a:endParaRP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9F979459-BEF2-B888-69F8-F8550C7EAF5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67452" y="2166361"/>
            <a:ext cx="5202953" cy="435133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B9E0A"/>
                </a:solidFill>
                <a:latin typeface="Gotham Black"/>
              </a:rPr>
              <a:t>WHY THEY STAY AND RETURN</a:t>
            </a:r>
            <a:endParaRPr lang="sk-SK" sz="1600" b="1" dirty="0">
              <a:solidFill>
                <a:srgbClr val="DB9E0A"/>
              </a:solidFill>
              <a:latin typeface="Montserrat" panose="00000500000000000000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Subscribers remain when viewing becomes effortless and continuous. </a:t>
            </a:r>
            <a:endParaRPr lang="sk-SK" sz="1600" dirty="0">
              <a:latin typeface="Montserrat" panose="00000500000000000000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Gotham Black"/>
              </a:rPr>
              <a:t>Early access, full seasons and on-demand availability allow stories to continue beyond broadcast, fitting everyday routines. </a:t>
            </a:r>
            <a:endParaRPr lang="sk-SK" sz="1600" dirty="0">
              <a:latin typeface="Montserrat" panose="00000500000000000000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Gotham Black"/>
              </a:rPr>
              <a:t>Personalized recommendations, lifecycle communication and a steady flow of new releases help viewers discover more of what they love, strengthening habit and reducing churn.</a:t>
            </a:r>
            <a:endParaRPr lang="sk-SK" sz="16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2397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6249CD09-1D5F-9D26-384A-AE90E0267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611252"/>
            <a:ext cx="10501457" cy="656164"/>
          </a:xfrm>
        </p:spPr>
        <p:txBody>
          <a:bodyPr>
            <a:noAutofit/>
          </a:bodyPr>
          <a:lstStyle/>
          <a:p>
            <a:r>
              <a:rPr lang="sk-SK" sz="4000" b="1" dirty="0">
                <a:latin typeface="Gotham Black"/>
              </a:rPr>
              <a:t>Performance</a:t>
            </a:r>
            <a:r>
              <a:rPr lang="sk-SK" sz="4000" dirty="0">
                <a:latin typeface="Gotham Black"/>
              </a:rPr>
              <a:t> Marketing &amp; Growth Intelligence</a:t>
            </a: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4989C435-E872-4E84-902A-52509B7F4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1030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Gotham Black"/>
              </a:rPr>
              <a:t>Performance marketing converts viewer interest into measurable action and strengthens VOYO’s understanding of its audience.</a:t>
            </a:r>
            <a:endParaRPr lang="sk-SK" sz="2000" dirty="0">
              <a:latin typeface="Gotham Black"/>
            </a:endParaRPr>
          </a:p>
          <a:p>
            <a:pPr marL="0" indent="0">
              <a:buNone/>
            </a:pPr>
            <a:endParaRPr lang="sk-SK" sz="2000" dirty="0">
              <a:latin typeface="Gotham Black"/>
            </a:endParaRPr>
          </a:p>
          <a:p>
            <a:pPr marL="0" indent="0">
              <a:buNone/>
            </a:pPr>
            <a:endParaRPr lang="en-US" sz="2000" dirty="0">
              <a:latin typeface="Gotham Black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24194512-8782-B7DB-6486-CE6EA0DE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70</a:t>
            </a:fld>
            <a:endParaRPr lang="sk-SK"/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50161D0A-7AFF-1EDA-52A6-193E6114F1AC}"/>
              </a:ext>
            </a:extLst>
          </p:cNvPr>
          <p:cNvSpPr txBox="1"/>
          <p:nvPr/>
        </p:nvSpPr>
        <p:spPr>
          <a:xfrm>
            <a:off x="461818" y="2878386"/>
            <a:ext cx="3533775" cy="2062103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Gotham Black"/>
              </a:rPr>
              <a:t>CAPTURE DEMAND AND DRIVE ACTION</a:t>
            </a:r>
            <a:endParaRPr lang="sk-SK" sz="1600" b="1" dirty="0">
              <a:solidFill>
                <a:schemeClr val="bg1"/>
              </a:solidFill>
              <a:latin typeface="Gotham Black"/>
            </a:endParaRPr>
          </a:p>
          <a:p>
            <a:pPr>
              <a:buNone/>
            </a:pPr>
            <a:br>
              <a:rPr lang="en-US" sz="1600" dirty="0">
                <a:solidFill>
                  <a:schemeClr val="bg1"/>
                </a:solidFill>
                <a:latin typeface="Gotham Black"/>
              </a:rPr>
            </a:br>
            <a:r>
              <a:rPr lang="en-US" sz="1600" dirty="0">
                <a:solidFill>
                  <a:schemeClr val="bg1"/>
                </a:solidFill>
                <a:latin typeface="Gotham Black"/>
              </a:rPr>
              <a:t>Campaigns convert peak interest into subscription and viewing, and ahead of release 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optimise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 for signals such as registrations, reminders or app installs.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pPr>
              <a:buNone/>
            </a:pP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pPr>
              <a:buNone/>
            </a:pPr>
            <a:endParaRPr lang="en-US" sz="16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DD40E14E-150F-D9F1-BEA6-E3423885D40B}"/>
              </a:ext>
            </a:extLst>
          </p:cNvPr>
          <p:cNvSpPr txBox="1"/>
          <p:nvPr/>
        </p:nvSpPr>
        <p:spPr>
          <a:xfrm>
            <a:off x="4333732" y="2878386"/>
            <a:ext cx="3533774" cy="2062103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>
            <a:spAutoFit/>
          </a:bodyPr>
          <a:lstStyle>
            <a:defPPr>
              <a:defRPr lang="sk-SK"/>
            </a:defPPr>
            <a:lvl1pPr>
              <a:buNone/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r>
              <a:rPr lang="en-US" sz="1600" dirty="0">
                <a:latin typeface="Gotham Black"/>
              </a:rPr>
              <a:t>PRIORITISE EFFICIENCY AND LONG-TERM VALUE</a:t>
            </a:r>
            <a:endParaRPr lang="sk-SK" sz="1600" dirty="0">
              <a:latin typeface="Gotham Black"/>
            </a:endParaRPr>
          </a:p>
          <a:p>
            <a:br>
              <a:rPr lang="en-US" sz="1600" b="0" dirty="0">
                <a:latin typeface="Gotham Black"/>
              </a:rPr>
            </a:br>
            <a:r>
              <a:rPr lang="en-US" sz="1600" b="0" dirty="0" err="1">
                <a:latin typeface="Gotham Black"/>
              </a:rPr>
              <a:t>Optimisation</a:t>
            </a:r>
            <a:r>
              <a:rPr lang="en-US" sz="1600" b="0" dirty="0">
                <a:latin typeface="Gotham Black"/>
              </a:rPr>
              <a:t> focuses on conversion quality and lifetime value rather than reach, ensuring sustainable growth and smarter allocation of investment.</a:t>
            </a:r>
          </a:p>
          <a:p>
            <a:endParaRPr lang="en-US" sz="1600" b="0" dirty="0">
              <a:latin typeface="Gotham Black"/>
            </a:endParaRP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9F9D246C-0152-8A27-93DF-9C1292EC03B5}"/>
              </a:ext>
            </a:extLst>
          </p:cNvPr>
          <p:cNvSpPr txBox="1"/>
          <p:nvPr/>
        </p:nvSpPr>
        <p:spPr>
          <a:xfrm>
            <a:off x="8205645" y="2869481"/>
            <a:ext cx="3533773" cy="2062103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>
            <a:spAutoFit/>
          </a:bodyPr>
          <a:lstStyle>
            <a:defPPr>
              <a:defRPr lang="sk-SK"/>
            </a:defPPr>
            <a:lvl1pPr>
              <a:buNone/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r>
              <a:rPr lang="en-US" sz="1600" dirty="0">
                <a:latin typeface="Gotham Black"/>
              </a:rPr>
              <a:t>GENERATE INSIGHT FOR SMARTER DECISIONS</a:t>
            </a:r>
            <a:endParaRPr lang="sk-SK" sz="1600" dirty="0">
              <a:latin typeface="Gotham Black"/>
            </a:endParaRPr>
          </a:p>
          <a:p>
            <a:br>
              <a:rPr lang="en-US" sz="1600" dirty="0">
                <a:latin typeface="Gotham Black"/>
              </a:rPr>
            </a:br>
            <a:r>
              <a:rPr lang="en-US" sz="1600" b="0" dirty="0">
                <a:latin typeface="Gotham Black"/>
              </a:rPr>
              <a:t>Tracking and data integration reveal viewer </a:t>
            </a:r>
            <a:r>
              <a:rPr lang="en-US" sz="1600" b="0" dirty="0" err="1">
                <a:latin typeface="Gotham Black"/>
              </a:rPr>
              <a:t>behaviour</a:t>
            </a:r>
            <a:r>
              <a:rPr lang="en-US" sz="1600" b="0" dirty="0">
                <a:latin typeface="Gotham Black"/>
              </a:rPr>
              <a:t>, content impact and campaign effectiveness, enabling continuous </a:t>
            </a:r>
            <a:r>
              <a:rPr lang="en-US" sz="1600" b="0" dirty="0" err="1">
                <a:latin typeface="Gotham Black"/>
              </a:rPr>
              <a:t>optimisation</a:t>
            </a:r>
            <a:r>
              <a:rPr lang="en-US" sz="1600" b="0" dirty="0">
                <a:latin typeface="Gotham Black"/>
              </a:rPr>
              <a:t> and better decision-making.</a:t>
            </a:r>
            <a:endParaRPr lang="sk-SK" sz="1600" b="0" dirty="0"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1715879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B96BE7-6920-10DC-8DCC-60CAE187D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3404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Strategic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Partnerships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E7B9CC5-5DD9-00B1-7AC1-E79937504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5947" y="1564553"/>
            <a:ext cx="7824642" cy="508418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Gotham Black"/>
              </a:rPr>
              <a:t>Partnerships expand access to VOYO and strengthen its everyday value by integrating the service into the devices, services and experiences people already use.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sk-SK" sz="1800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Gotham Black"/>
              </a:rPr>
              <a:t>DISTRIBUTION &amp; ACCESS</a:t>
            </a: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Partnerships with telecommunications providers integrate VOYO into service bundles, simplifying access and accelerating adoption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sk-SK" sz="1600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Gotham Black"/>
              </a:rPr>
              <a:t>DEVICE INTEGRATION &amp; VISIBILITY</a:t>
            </a: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Pre-installation, remote control shortcuts and platform integrations ensure VOYO is easy to find and effortless to use at home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sk-SK" sz="1600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Gotham Black"/>
              </a:rPr>
              <a:t>NEW AUDIENCE ENTRY POINTS</a:t>
            </a:r>
            <a:br>
              <a:rPr lang="en-US" sz="1600" dirty="0">
                <a:latin typeface="Gotham Black"/>
              </a:rPr>
            </a:br>
            <a:r>
              <a:rPr lang="en-US" sz="1600" dirty="0">
                <a:latin typeface="Gotham Black"/>
              </a:rPr>
              <a:t>Collaborations in areas such as gaming and digital entertainment introduce VOYO to younger and highly engaged audiences through culturally relevant experiences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78E6F89-03C1-F4AD-2A84-4BF1C948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71</a:t>
            </a:fld>
            <a:endParaRPr lang="sk-S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68333E-54F5-77BC-7C70-DBFC73A98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255" y="2910834"/>
            <a:ext cx="2180919" cy="218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549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6A11E4-3162-D197-BF13-02983FA9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6477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Promotional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Principles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27FF364-B039-6498-E327-9874D34F4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936" y="1750290"/>
            <a:ext cx="776200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Gotham Black"/>
              </a:rPr>
              <a:t>Promotions should accelerate adoption while protecting long-term value.</a:t>
            </a:r>
            <a:endParaRPr lang="sk-SK" sz="1800" dirty="0">
              <a:latin typeface="Gotham Black"/>
            </a:endParaRPr>
          </a:p>
          <a:p>
            <a:pPr>
              <a:lnSpc>
                <a:spcPct val="100000"/>
              </a:lnSpc>
            </a:pPr>
            <a:endParaRPr lang="en-US" sz="1800" dirty="0">
              <a:latin typeface="Gotham Black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DO</a:t>
            </a:r>
            <a:br>
              <a:rPr lang="en-US" sz="1800" dirty="0">
                <a:latin typeface="Gotham Black"/>
              </a:rPr>
            </a:br>
            <a:r>
              <a:rPr lang="en-US" sz="1800" dirty="0">
                <a:latin typeface="Gotham Black"/>
              </a:rPr>
              <a:t>Use limited-time offers for launches, strategic growth periods and market</a:t>
            </a:r>
            <a:r>
              <a:rPr lang="sk-SK" sz="1800" dirty="0">
                <a:latin typeface="Gotham Black"/>
              </a:rPr>
              <a:t> </a:t>
            </a:r>
            <a:r>
              <a:rPr lang="en-US" sz="1800" dirty="0">
                <a:latin typeface="Gotham Black"/>
              </a:rPr>
              <a:t>entry</a:t>
            </a:r>
            <a:endParaRPr lang="sk-SK" sz="1800" dirty="0">
              <a:latin typeface="Gotham Black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Gotham Black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AVOID</a:t>
            </a:r>
            <a:br>
              <a:rPr lang="en-US" sz="1800" dirty="0">
                <a:latin typeface="Gotham Black"/>
              </a:rPr>
            </a:br>
            <a:r>
              <a:rPr lang="en-US" sz="1800" dirty="0">
                <a:latin typeface="Gotham Black"/>
              </a:rPr>
              <a:t>Frequent or deep discounting that conditions audiences to wait for deals</a:t>
            </a:r>
            <a:endParaRPr lang="sk-SK" sz="1800" dirty="0">
              <a:latin typeface="Gotham Black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Gotham Black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PRIORITISE</a:t>
            </a:r>
            <a:br>
              <a:rPr lang="en-US" sz="1800" dirty="0">
                <a:latin typeface="Gotham Black"/>
              </a:rPr>
            </a:br>
            <a:r>
              <a:rPr lang="en-US" sz="1800" dirty="0">
                <a:latin typeface="Gotham Black"/>
              </a:rPr>
              <a:t>Bundles, added benefits and extended access over price-led reductions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0AC341B-C327-5C25-0517-41BC96712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72</a:t>
            </a:fld>
            <a:endParaRPr lang="sk-S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168FE-303A-B717-4963-326D4E377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5" y="3024463"/>
            <a:ext cx="3169324" cy="18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20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B69319-0A26-3CFF-B670-16B55BFD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70974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Growth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Execution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Principles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C04971C-FE5B-7CFF-D9E2-B5B1F277E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692" y="1713056"/>
            <a:ext cx="780703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GROWTH HAPPENS IN MOMENTS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VOYO builds growth around cultural moments, premieres and live events that create urgency, conversation and shared viewing.</a:t>
            </a:r>
            <a:endParaRPr lang="sk-SK" sz="1400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sk-SK" sz="1400" b="1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LONG-TERM BRAND TRUST ENABLES EFFICIENT GROWTH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Sustained brand strength improves performance efficiency and supports long-term willingness to pay</a:t>
            </a:r>
          </a:p>
          <a:p>
            <a:pPr marL="0" indent="0">
              <a:lnSpc>
                <a:spcPct val="120000"/>
              </a:lnSpc>
              <a:buNone/>
            </a:pPr>
            <a:endParaRPr lang="sk-SK" sz="1400" b="1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LOCAL RELEVANCE DRIVES CONNECTION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Marketing must feel culturally fluent and locally close to ensure VOYO is perceived as “our service” in every market</a:t>
            </a:r>
          </a:p>
          <a:p>
            <a:pPr marL="0" indent="0">
              <a:lnSpc>
                <a:spcPct val="120000"/>
              </a:lnSpc>
              <a:buNone/>
            </a:pPr>
            <a:endParaRPr lang="sk-SK" sz="1400" b="1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Gotham Black"/>
              </a:rPr>
              <a:t>SUCCESS IS MEASURED BY SUSTAINABLE VALUE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Decisions </a:t>
            </a:r>
            <a:r>
              <a:rPr lang="en-US" sz="1400" dirty="0" err="1">
                <a:latin typeface="Gotham Black"/>
              </a:rPr>
              <a:t>prioritise</a:t>
            </a:r>
            <a:r>
              <a:rPr lang="en-US" sz="1400" dirty="0">
                <a:latin typeface="Gotham Black"/>
              </a:rPr>
              <a:t> engagement, retention and lifetime value over short-term acquisition spikes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4A61D5F-E55B-FEB6-448D-999AC5B2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73</a:t>
            </a:fld>
            <a:endParaRPr lang="sk-S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309A14-BA74-C853-28DA-1BF6A4AEE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2" y="2895600"/>
            <a:ext cx="1755368" cy="175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345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3A80F-CB63-06D3-9AA5-ADA0F4A49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D8F3B8D8-596A-4AAF-E20F-4FAF40394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6.2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1563D6A4-3551-4A88-0589-5F7891F2C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964070"/>
            <a:ext cx="11068493" cy="1979405"/>
          </a:xfrm>
        </p:spPr>
        <p:txBody>
          <a:bodyPr anchor="ctr">
            <a:normAutofit/>
          </a:bodyPr>
          <a:lstStyle/>
          <a:p>
            <a:r>
              <a:rPr lang="en-US" sz="6000" b="1" dirty="0">
                <a:latin typeface="Gotham Black"/>
              </a:rPr>
              <a:t>B2B Brand Usage </a:t>
            </a:r>
          </a:p>
          <a:p>
            <a:r>
              <a:rPr lang="en-US" sz="6000" dirty="0">
                <a:latin typeface="Gotham Black"/>
              </a:rPr>
              <a:t>&amp; Governance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3A92D9B2-B0FE-5EE9-2590-7C6BF931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74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3486253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27A3F5-885D-3A66-04F4-18FB3A8C8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5117"/>
            <a:ext cx="11139632" cy="656164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Gotham Black"/>
              </a:rPr>
              <a:t>Purpose</a:t>
            </a:r>
            <a:r>
              <a:rPr lang="en-US" sz="4000" dirty="0">
                <a:latin typeface="Gotham Black"/>
              </a:rPr>
              <a:t> of B2B Brand Usage &amp; Governance</a:t>
            </a:r>
            <a:endParaRPr lang="sk-SK" sz="4000" dirty="0">
              <a:latin typeface="Gotham Black"/>
            </a:endParaRP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50968AF7-1CBD-6A71-0B66-F26780D02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13066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1600" b="1" dirty="0">
                <a:solidFill>
                  <a:srgbClr val="DB9E0A"/>
                </a:solidFill>
                <a:latin typeface="Gotham Black"/>
              </a:rPr>
              <a:t>WHY THIS EXIST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36F329E-7411-EFFD-A625-B6FE3604871F}"/>
              </a:ext>
            </a:extLst>
          </p:cNvPr>
          <p:cNvSpPr/>
          <p:nvPr/>
        </p:nvSpPr>
        <p:spPr>
          <a:xfrm>
            <a:off x="461818" y="2210371"/>
            <a:ext cx="2714001" cy="921934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 anchor="ctr"/>
          <a:lstStyle/>
          <a:p>
            <a:pPr algn="ctr" defTabSz="761970">
              <a:defRPr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Protect 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 as a premium, trusted streaming service</a:t>
            </a:r>
            <a:r>
              <a:rPr lang="sk-SK" sz="1600" dirty="0">
                <a:solidFill>
                  <a:schemeClr val="bg1"/>
                </a:solidFill>
                <a:latin typeface="Gotham Black"/>
              </a:rPr>
              <a:t>	</a:t>
            </a:r>
            <a:endParaRPr lang="en-GB" sz="1500" dirty="0">
              <a:solidFill>
                <a:prstClr val="black"/>
              </a:solidFill>
              <a:latin typeface="Gotham Black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C4F5314-4B54-D27A-6427-1BF2287F8F35}"/>
              </a:ext>
            </a:extLst>
          </p:cNvPr>
          <p:cNvSpPr/>
          <p:nvPr/>
        </p:nvSpPr>
        <p:spPr>
          <a:xfrm>
            <a:off x="3320398" y="2210372"/>
            <a:ext cx="2714001" cy="921934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Gotham Black"/>
              </a:rPr>
              <a:t>Ensure partners use the brand consistently and correctly</a:t>
            </a:r>
            <a:endParaRPr lang="sk-SK" sz="1600" dirty="0">
              <a:latin typeface="Gotham Black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89A8B91-5289-96CD-085C-5F942E80D188}"/>
              </a:ext>
            </a:extLst>
          </p:cNvPr>
          <p:cNvSpPr/>
          <p:nvPr/>
        </p:nvSpPr>
        <p:spPr>
          <a:xfrm>
            <a:off x="6178979" y="2218203"/>
            <a:ext cx="2714001" cy="921934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 anchor="ctr"/>
          <a:lstStyle/>
          <a:p>
            <a:pPr algn="ctr" defTabSz="761970">
              <a:defRPr/>
            </a:pPr>
            <a:r>
              <a:rPr lang="en-US" sz="1500">
                <a:solidFill>
                  <a:schemeClr val="bg1"/>
                </a:solidFill>
                <a:latin typeface="Gotham Black"/>
              </a:rPr>
              <a:t>Prevent dilution through uncontrolled promotions</a:t>
            </a:r>
            <a:endParaRPr lang="en-GB" sz="150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C26EDAC3-E5BF-94E4-0B6B-A53EDC20A96B}"/>
              </a:ext>
            </a:extLst>
          </p:cNvPr>
          <p:cNvSpPr txBox="1"/>
          <p:nvPr/>
        </p:nvSpPr>
        <p:spPr>
          <a:xfrm>
            <a:off x="3320398" y="3725695"/>
            <a:ext cx="6094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Gotham Black"/>
              </a:rPr>
              <a:t>Brand principle</a:t>
            </a:r>
          </a:p>
          <a:p>
            <a:pPr>
              <a:buNone/>
            </a:pPr>
            <a:r>
              <a:rPr lang="en-US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dirty="0">
                <a:solidFill>
                  <a:schemeClr val="bg1"/>
                </a:solidFill>
                <a:latin typeface="Gotham Black"/>
              </a:rPr>
              <a:t> is not just a platform.</a:t>
            </a:r>
            <a:br>
              <a:rPr lang="en-US" dirty="0">
                <a:solidFill>
                  <a:schemeClr val="bg1"/>
                </a:solidFill>
                <a:latin typeface="Gotham Black"/>
              </a:rPr>
            </a:br>
            <a:r>
              <a:rPr lang="en-US" dirty="0">
                <a:solidFill>
                  <a:schemeClr val="bg1"/>
                </a:solidFill>
                <a:latin typeface="Gotham Black"/>
              </a:rPr>
              <a:t>It is a trusted entertainment brand and viewer promise.</a:t>
            </a:r>
          </a:p>
        </p:txBody>
      </p:sp>
      <p:sp>
        <p:nvSpPr>
          <p:cNvPr id="16" name="BlokTextu 15">
            <a:extLst>
              <a:ext uri="{FF2B5EF4-FFF2-40B4-BE49-F238E27FC236}">
                <a16:creationId xmlns:a16="http://schemas.microsoft.com/office/drawing/2014/main" id="{CFD910BB-4932-942D-EA98-7B5ABBD119AE}"/>
              </a:ext>
            </a:extLst>
          </p:cNvPr>
          <p:cNvSpPr txBox="1"/>
          <p:nvPr/>
        </p:nvSpPr>
        <p:spPr>
          <a:xfrm>
            <a:off x="802027" y="5514860"/>
            <a:ext cx="9542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BB1"/>
                </a:solidFill>
                <a:latin typeface="Gotham Black"/>
              </a:rPr>
              <a:t>Partners help distribute </a:t>
            </a:r>
            <a:r>
              <a:rPr lang="en-US" sz="2400" dirty="0" err="1">
                <a:solidFill>
                  <a:srgbClr val="FFFBB1"/>
                </a:solidFill>
                <a:latin typeface="Gotham Black"/>
              </a:rPr>
              <a:t>VOYO</a:t>
            </a:r>
            <a:r>
              <a:rPr lang="en-US" sz="2400" dirty="0">
                <a:solidFill>
                  <a:srgbClr val="FFFBB1"/>
                </a:solidFill>
                <a:latin typeface="Gotham Black"/>
              </a:rPr>
              <a:t>. They do not redefine it.</a:t>
            </a:r>
            <a:endParaRPr lang="sk-SK" sz="2400" dirty="0">
              <a:solidFill>
                <a:srgbClr val="FFFBB1"/>
              </a:solidFill>
              <a:latin typeface="Gotham Black"/>
            </a:endParaRPr>
          </a:p>
        </p:txBody>
      </p:sp>
      <p:cxnSp>
        <p:nvCxnSpPr>
          <p:cNvPr id="17" name="Rovná spojnica 16">
            <a:extLst>
              <a:ext uri="{FF2B5EF4-FFF2-40B4-BE49-F238E27FC236}">
                <a16:creationId xmlns:a16="http://schemas.microsoft.com/office/drawing/2014/main" id="{A7F4FD0D-B691-E5CC-BB91-6716E5818838}"/>
              </a:ext>
            </a:extLst>
          </p:cNvPr>
          <p:cNvCxnSpPr/>
          <p:nvPr/>
        </p:nvCxnSpPr>
        <p:spPr>
          <a:xfrm>
            <a:off x="595818" y="5378061"/>
            <a:ext cx="0" cy="7352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Shape 5">
            <a:extLst>
              <a:ext uri="{FF2B5EF4-FFF2-40B4-BE49-F238E27FC236}">
                <a16:creationId xmlns:a16="http://schemas.microsoft.com/office/drawing/2014/main" id="{DB4F39BF-90EB-15D2-E158-A0FB9D493C4C}"/>
              </a:ext>
            </a:extLst>
          </p:cNvPr>
          <p:cNvSpPr/>
          <p:nvPr/>
        </p:nvSpPr>
        <p:spPr>
          <a:xfrm>
            <a:off x="9025417" y="2210371"/>
            <a:ext cx="2714001" cy="929765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 anchor="ctr"/>
          <a:lstStyle/>
          <a:p>
            <a:pPr algn="ctr" defTabSz="761970">
              <a:defRPr/>
            </a:pPr>
            <a:r>
              <a:rPr lang="en-US" sz="1500">
                <a:solidFill>
                  <a:schemeClr val="bg1"/>
                </a:solidFill>
                <a:latin typeface="Gotham Black"/>
              </a:rPr>
              <a:t>Safeguard long-term willingness to pay</a:t>
            </a:r>
            <a:endParaRPr lang="en-GB" sz="150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64653D1-EF48-F01F-1391-A675D7C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75</a:t>
            </a:fld>
            <a:endParaRPr lang="sk-S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22A350-4889-2EFF-0436-7EFCA0DCF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465" y="3504700"/>
            <a:ext cx="1558705" cy="155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546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DEC058-54D4-CDFB-2B8E-F62D205CB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5136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Scope</a:t>
            </a:r>
            <a:r>
              <a:rPr lang="en-US" dirty="0">
                <a:latin typeface="Gotham Black"/>
              </a:rPr>
              <a:t> – Who These Rules Apply To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8ACDCE5-2FCA-DA5C-551E-46C32FB7A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850" y="1882775"/>
            <a:ext cx="7986567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Gotham Black"/>
              </a:rPr>
              <a:t>These rules apply to any third party using the VOYO brand, directly or indirectly.</a:t>
            </a:r>
          </a:p>
          <a:p>
            <a:pPr marL="0" indent="0">
              <a:buNone/>
            </a:pPr>
            <a:endParaRPr lang="en-US" sz="2600" dirty="0">
              <a:latin typeface="Gotham Black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DB9E0A"/>
                </a:solidFill>
                <a:latin typeface="Gotham Black"/>
              </a:rPr>
              <a:t>IPTV &amp; Telco operators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DB9E0A"/>
                </a:solidFill>
                <a:latin typeface="Gotham Black"/>
              </a:rPr>
              <a:t>Distribution and reseller partners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DB9E0A"/>
                </a:solidFill>
                <a:latin typeface="Gotham Black"/>
              </a:rPr>
              <a:t>FMCG and promotional partners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DB9E0A"/>
                </a:solidFill>
                <a:latin typeface="Gotham Black"/>
              </a:rPr>
              <a:t>Media &amp; technology partners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DB9E0A"/>
                </a:solidFill>
                <a:latin typeface="Gotham Black"/>
              </a:rPr>
              <a:t>Agencies acting on behalf of partners</a:t>
            </a:r>
          </a:p>
          <a:p>
            <a:pPr marL="0" indent="0">
              <a:buNone/>
            </a:pPr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sz="2600" dirty="0">
                <a:latin typeface="Gotham Black"/>
              </a:rPr>
              <a:t>Accountability extends to all subcontractors and agencies.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A86DFA3-C1A2-F0E5-5E9A-01A26A24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76</a:t>
            </a:fld>
            <a:endParaRPr lang="sk-S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BFE54E-58C2-FC64-98E5-56F4ED045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55" y="2619374"/>
            <a:ext cx="2438095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995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00DD63-9232-48EB-0901-EC6D2247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6477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>
                <a:latin typeface="Gotham Black"/>
              </a:rPr>
              <a:t>Brand</a:t>
            </a:r>
            <a:r>
              <a:rPr lang="sk-SK" dirty="0">
                <a:latin typeface="Gotham Black"/>
              </a:rPr>
              <a:t> </a:t>
            </a:r>
            <a:r>
              <a:rPr lang="sk-SK" b="1" dirty="0">
                <a:latin typeface="Gotham Black"/>
              </a:rPr>
              <a:t>Ownership</a:t>
            </a:r>
            <a:r>
              <a:rPr lang="sk-SK" dirty="0">
                <a:latin typeface="Gotham Black"/>
              </a:rPr>
              <a:t> &amp; Legal Status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E3044A7-E18A-FEE0-37FB-8384E7AC3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921362"/>
            <a:ext cx="11277600" cy="3610744"/>
          </a:xfrm>
        </p:spPr>
        <p:txBody>
          <a:bodyPr/>
          <a:lstStyle/>
          <a:p>
            <a:r>
              <a:rPr lang="en-US" dirty="0">
                <a:latin typeface="Gotham Black"/>
              </a:rPr>
              <a:t>VOYO is a registered trademark owned by CME</a:t>
            </a:r>
            <a:endParaRPr lang="sk-SK" dirty="0">
              <a:latin typeface="Gotham Black"/>
            </a:endParaRPr>
          </a:p>
          <a:p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All brand assets are exclusive property of CME</a:t>
            </a:r>
          </a:p>
          <a:p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Partners receive a limited, non-transferable, revocable license</a:t>
            </a:r>
          </a:p>
          <a:p>
            <a:endParaRPr lang="en-US" dirty="0">
              <a:latin typeface="Gotham Black"/>
            </a:endParaRPr>
          </a:p>
          <a:p>
            <a:endParaRPr lang="sk-SK" dirty="0">
              <a:latin typeface="Gotham Black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5001961C-EA69-C4BA-E1EF-651C7ADC4539}"/>
              </a:ext>
            </a:extLst>
          </p:cNvPr>
          <p:cNvSpPr txBox="1"/>
          <p:nvPr/>
        </p:nvSpPr>
        <p:spPr>
          <a:xfrm>
            <a:off x="1609724" y="5237935"/>
            <a:ext cx="974407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3"/>
              </a:lnSpc>
            </a:pPr>
            <a:r>
              <a:rPr lang="sk-SK" b="1" dirty="0">
                <a:solidFill>
                  <a:srgbClr val="FFFBB1"/>
                </a:solidFill>
                <a:latin typeface="Gotham Black"/>
                <a:ea typeface="Roboto" pitchFamily="34" charset="-122"/>
                <a:cs typeface="Roboto" pitchFamily="34" charset="-120"/>
              </a:rPr>
              <a:t>KEY RULE</a:t>
            </a:r>
          </a:p>
          <a:p>
            <a:pPr>
              <a:lnSpc>
                <a:spcPts val="2083"/>
              </a:lnSpc>
            </a:pPr>
            <a:r>
              <a:rPr lang="en-US" dirty="0">
                <a:solidFill>
                  <a:srgbClr val="FFFBB1"/>
                </a:solidFill>
                <a:latin typeface="Gotham Black"/>
                <a:ea typeface="Roboto" pitchFamily="34" charset="-122"/>
                <a:cs typeface="Roboto" pitchFamily="34" charset="-120"/>
              </a:rPr>
              <a:t>No partnership grants ownership, control, or reinterpretation of the VOYO brand.</a:t>
            </a:r>
            <a:endParaRPr lang="en-US" dirty="0">
              <a:solidFill>
                <a:srgbClr val="FFFBB1"/>
              </a:solidFill>
              <a:latin typeface="Gotham Black"/>
            </a:endParaRP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454547AF-1623-88F4-563A-56F94B0EA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77</a:t>
            </a:fld>
            <a:endParaRPr lang="sk-SK"/>
          </a:p>
        </p:txBody>
      </p:sp>
      <p:pic>
        <p:nvPicPr>
          <p:cNvPr id="7" name="Picture 6" descr="Attention PNG transparent image download, size: 2400x2400px">
            <a:extLst>
              <a:ext uri="{FF2B5EF4-FFF2-40B4-BE49-F238E27FC236}">
                <a16:creationId xmlns:a16="http://schemas.microsoft.com/office/drawing/2014/main" id="{D74A73A0-1502-0B9C-20C8-3D6F00A26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33419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3754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E4706E-46D9-6527-2C5B-A61ADB3C43CD}"/>
              </a:ext>
            </a:extLst>
          </p:cNvPr>
          <p:cNvSpPr/>
          <p:nvPr/>
        </p:nvSpPr>
        <p:spPr>
          <a:xfrm rot="5400000">
            <a:off x="7171187" y="1160687"/>
            <a:ext cx="3272527" cy="5522190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endParaRPr lang="en-US" sz="2160">
              <a:latin typeface="Gotham Black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A551ED-8BD1-A874-AD1A-3464CAB4D9AD}"/>
              </a:ext>
            </a:extLst>
          </p:cNvPr>
          <p:cNvSpPr/>
          <p:nvPr/>
        </p:nvSpPr>
        <p:spPr>
          <a:xfrm rot="5400000">
            <a:off x="1352566" y="1457115"/>
            <a:ext cx="3272528" cy="492933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96E9ACB-6CDF-67C3-DE25-EB4A08B9C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3064"/>
            <a:ext cx="11044382" cy="659097"/>
          </a:xfrm>
        </p:spPr>
        <p:txBody>
          <a:bodyPr>
            <a:normAutofit/>
          </a:bodyPr>
          <a:lstStyle/>
          <a:p>
            <a:r>
              <a:rPr lang="en-US" b="1" dirty="0">
                <a:latin typeface="Gotham Black"/>
              </a:rPr>
              <a:t>How</a:t>
            </a:r>
            <a:r>
              <a:rPr lang="en-US" dirty="0">
                <a:latin typeface="Gotham Black"/>
              </a:rPr>
              <a:t> </a:t>
            </a:r>
            <a:r>
              <a:rPr lang="en-US" dirty="0" err="1">
                <a:latin typeface="Gotham Black"/>
              </a:rPr>
              <a:t>VOYO</a:t>
            </a:r>
            <a:r>
              <a:rPr lang="en-US" dirty="0">
                <a:latin typeface="Gotham Black"/>
              </a:rPr>
              <a:t> appears in partner ecosystems</a:t>
            </a:r>
            <a:endParaRPr lang="sk-SK" dirty="0">
              <a:latin typeface="Gotham Black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09D6C38A-7A55-39AA-CED4-48197D76D9A2}"/>
              </a:ext>
            </a:extLst>
          </p:cNvPr>
          <p:cNvSpPr txBox="1"/>
          <p:nvPr/>
        </p:nvSpPr>
        <p:spPr>
          <a:xfrm>
            <a:off x="426888" y="2400326"/>
            <a:ext cx="5362575" cy="2659593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solidFill>
                  <a:srgbClr val="DB9E0A"/>
                </a:solidFill>
                <a:latin typeface="Gotham Black"/>
              </a:rPr>
              <a:t>VOYO </a:t>
            </a:r>
            <a:r>
              <a:rPr lang="sk-SK" b="1" dirty="0">
                <a:solidFill>
                  <a:srgbClr val="DB9E0A"/>
                </a:solidFill>
                <a:latin typeface="Gotham Black"/>
              </a:rPr>
              <a:t>IS:</a:t>
            </a:r>
          </a:p>
          <a:p>
            <a:pPr algn="ctr">
              <a:lnSpc>
                <a:spcPct val="150000"/>
              </a:lnSpc>
              <a:buNone/>
            </a:pPr>
            <a:endParaRPr lang="sk-SK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k-SK" dirty="0">
                <a:solidFill>
                  <a:schemeClr val="bg1"/>
                </a:solidFill>
              </a:rPr>
              <a:t>a </a:t>
            </a:r>
            <a:r>
              <a:rPr lang="sk-SK" dirty="0" err="1">
                <a:solidFill>
                  <a:schemeClr val="bg1"/>
                </a:solidFill>
              </a:rPr>
              <a:t>stand-alone</a:t>
            </a:r>
            <a:r>
              <a:rPr lang="sk-SK" dirty="0">
                <a:solidFill>
                  <a:schemeClr val="bg1"/>
                </a:solidFill>
              </a:rPr>
              <a:t> </a:t>
            </a:r>
            <a:r>
              <a:rPr lang="sk-SK" dirty="0" err="1">
                <a:solidFill>
                  <a:schemeClr val="bg1"/>
                </a:solidFill>
              </a:rPr>
              <a:t>brand</a:t>
            </a:r>
            <a:endParaRPr lang="sk-SK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a premium streaming service </a:t>
            </a:r>
            <a:endParaRPr lang="sk-SK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a content destination viewers choose</a:t>
            </a:r>
            <a:endParaRPr lang="sk-SK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a digital product with its own experience</a:t>
            </a:r>
            <a:endParaRPr lang="sk-SK" dirty="0">
              <a:solidFill>
                <a:schemeClr val="bg1"/>
              </a:solidFill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45325E3E-8A83-36E9-0215-11DFD4FF5BE3}"/>
              </a:ext>
            </a:extLst>
          </p:cNvPr>
          <p:cNvSpPr txBox="1"/>
          <p:nvPr/>
        </p:nvSpPr>
        <p:spPr>
          <a:xfrm>
            <a:off x="6182020" y="2285516"/>
            <a:ext cx="5643418" cy="3272527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>
            <a:defPPr>
              <a:defRPr lang="sk-SK"/>
            </a:defPPr>
            <a:lvl1pPr>
              <a:buNone/>
              <a:defRPr b="1">
                <a:solidFill>
                  <a:schemeClr val="bg1"/>
                </a:solidFill>
                <a:latin typeface="Gotham Light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DB9E0A"/>
                </a:solidFill>
                <a:latin typeface="Gotham Black"/>
              </a:rPr>
              <a:t>VOYO IS NOT:</a:t>
            </a:r>
            <a:endParaRPr lang="sk-SK" dirty="0">
              <a:solidFill>
                <a:srgbClr val="DB9E0A"/>
              </a:solidFill>
              <a:latin typeface="Gotham Black"/>
            </a:endParaRPr>
          </a:p>
          <a:p>
            <a:pPr algn="ctr">
              <a:lnSpc>
                <a:spcPct val="150000"/>
              </a:lnSpc>
            </a:pPr>
            <a:endParaRPr lang="sk-SK" b="0" dirty="0">
              <a:latin typeface="Gotham Black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Gotham Black"/>
              </a:rPr>
              <a:t>a free add-on feature</a:t>
            </a:r>
            <a:endParaRPr lang="sk-SK" b="0" dirty="0">
              <a:latin typeface="Gotham Black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Gotham Black"/>
              </a:rPr>
              <a:t>A generic application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Gotham Black"/>
              </a:rPr>
              <a:t>A discount product or coupon-based incentive</a:t>
            </a:r>
            <a:endParaRPr lang="sk-SK" b="0" dirty="0">
              <a:latin typeface="Gotham Black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Gotham Black"/>
              </a:rPr>
              <a:t>a channel inside the partner brand</a:t>
            </a:r>
            <a:endParaRPr lang="sk-SK" b="0" dirty="0">
              <a:latin typeface="Gotham Black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latin typeface="Gotham Black"/>
              </a:rPr>
              <a:t>rebranded under partner naming</a:t>
            </a:r>
            <a:endParaRPr lang="sk-SK" b="0" dirty="0">
              <a:latin typeface="Gotham Black"/>
            </a:endParaRP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BE722360-7691-1529-C7DA-86F45637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78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560590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D69937-2F8E-586F-73B8-124531973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6367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Brand </a:t>
            </a:r>
            <a:r>
              <a:rPr lang="sk-SK" b="1" dirty="0">
                <a:latin typeface="Gotham Black"/>
              </a:rPr>
              <a:t>Assets</a:t>
            </a:r>
            <a:r>
              <a:rPr lang="sk-SK" dirty="0">
                <a:latin typeface="Gotham Black"/>
              </a:rPr>
              <a:t> Usage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6C012BB-A033-738C-AB2A-B8A8A9C96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124" y="1825625"/>
            <a:ext cx="7691293" cy="308067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B9E0A"/>
                </a:solidFill>
                <a:latin typeface="Gotham Black"/>
              </a:rPr>
              <a:t>USE ONLY APPROVED VOYO ASSETS</a:t>
            </a:r>
          </a:p>
          <a:p>
            <a:pPr marL="0" indent="0">
              <a:buNone/>
            </a:pPr>
            <a:r>
              <a:rPr lang="en-US" dirty="0">
                <a:latin typeface="Gotham Black"/>
              </a:rPr>
              <a:t>Partners must use current VOYO brand materials across all touchpoints.</a:t>
            </a:r>
            <a:endParaRPr lang="sk-SK" dirty="0">
              <a:latin typeface="Gotham Black"/>
            </a:endParaRPr>
          </a:p>
          <a:p>
            <a:pPr marL="0" indent="0">
              <a:buNone/>
            </a:pPr>
            <a:endParaRPr lang="en-US" dirty="0">
              <a:latin typeface="Gotham Black"/>
            </a:endParaRPr>
          </a:p>
          <a:p>
            <a:pPr marL="0" indent="0">
              <a:buNone/>
            </a:pPr>
            <a:r>
              <a:rPr lang="en-US" b="1" dirty="0">
                <a:latin typeface="Gotham Black"/>
              </a:rPr>
              <a:t>Includes:</a:t>
            </a:r>
            <a:endParaRPr lang="sk-SK" b="1" dirty="0">
              <a:latin typeface="Gotham Black"/>
            </a:endParaRPr>
          </a:p>
          <a:p>
            <a:r>
              <a:rPr lang="en-US" dirty="0">
                <a:latin typeface="Gotham Black"/>
              </a:rPr>
              <a:t>logo &amp; visual identity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key visuals &amp; imagery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service descriptions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tone of voice</a:t>
            </a:r>
            <a:endParaRPr lang="sk-SK" dirty="0">
              <a:latin typeface="Gotham Black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F8B05669-CFDF-33E8-39B7-ECF47C1C69B2}"/>
              </a:ext>
            </a:extLst>
          </p:cNvPr>
          <p:cNvSpPr txBox="1"/>
          <p:nvPr/>
        </p:nvSpPr>
        <p:spPr>
          <a:xfrm>
            <a:off x="835740" y="5265027"/>
            <a:ext cx="9871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k-SK" b="1" dirty="0">
                <a:solidFill>
                  <a:srgbClr val="FFFBB1"/>
                </a:solidFill>
                <a:latin typeface="Gotham Black"/>
              </a:rPr>
              <a:t>A</a:t>
            </a:r>
            <a:r>
              <a:rPr lang="en-US" b="1" dirty="0" err="1">
                <a:solidFill>
                  <a:srgbClr val="FFFBB1"/>
                </a:solidFill>
                <a:latin typeface="Gotham Black"/>
              </a:rPr>
              <a:t>lways</a:t>
            </a:r>
            <a:r>
              <a:rPr lang="en-US" b="1" dirty="0">
                <a:solidFill>
                  <a:srgbClr val="FFFBB1"/>
                </a:solidFill>
                <a:latin typeface="Gotham Black"/>
              </a:rPr>
              <a:t> use official assets.</a:t>
            </a:r>
            <a:br>
              <a:rPr lang="en-US" dirty="0">
                <a:solidFill>
                  <a:srgbClr val="FFFBB1"/>
                </a:solidFill>
                <a:latin typeface="Gotham Black"/>
              </a:rPr>
            </a:br>
            <a:r>
              <a:rPr lang="en-US" dirty="0">
                <a:solidFill>
                  <a:srgbClr val="FFFBB1"/>
                </a:solidFill>
                <a:latin typeface="Gotham Black"/>
              </a:rPr>
              <a:t>Do not recreate, modify, or reinterpret </a:t>
            </a:r>
            <a:r>
              <a:rPr lang="en-US" dirty="0" err="1">
                <a:solidFill>
                  <a:srgbClr val="FFFBB1"/>
                </a:solidFill>
                <a:latin typeface="Gotham Black"/>
              </a:rPr>
              <a:t>VOYO</a:t>
            </a:r>
            <a:r>
              <a:rPr lang="en-US" dirty="0">
                <a:solidFill>
                  <a:srgbClr val="FFFBB1"/>
                </a:solidFill>
                <a:latin typeface="Gotham Black"/>
              </a:rPr>
              <a:t> branding.</a:t>
            </a:r>
          </a:p>
        </p:txBody>
      </p:sp>
      <p:cxnSp>
        <p:nvCxnSpPr>
          <p:cNvPr id="6" name="Rovná spojnica 5">
            <a:extLst>
              <a:ext uri="{FF2B5EF4-FFF2-40B4-BE49-F238E27FC236}">
                <a16:creationId xmlns:a16="http://schemas.microsoft.com/office/drawing/2014/main" id="{E89797DA-BD68-CB07-DDB6-909AC9763CD2}"/>
              </a:ext>
            </a:extLst>
          </p:cNvPr>
          <p:cNvCxnSpPr/>
          <p:nvPr/>
        </p:nvCxnSpPr>
        <p:spPr>
          <a:xfrm>
            <a:off x="615482" y="5219850"/>
            <a:ext cx="0" cy="7352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FFA3A831-F466-5332-02E1-B44B897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79</a:t>
            </a:fld>
            <a:endParaRPr lang="sk-S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F63BFA-900A-7B09-5C58-0C0DA6549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115" y="2658911"/>
            <a:ext cx="1540177" cy="154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259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91F5A0-0046-4523-573A-60A4C4AFF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6" y="613404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Promotion &amp; </a:t>
            </a:r>
            <a:r>
              <a:rPr lang="sk-SK" b="1" dirty="0">
                <a:latin typeface="Gotham Black"/>
              </a:rPr>
              <a:t>Visibility</a:t>
            </a:r>
            <a:r>
              <a:rPr lang="sk-SK" dirty="0">
                <a:latin typeface="Gotham Black"/>
              </a:rPr>
              <a:t> Standards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B5B95B7-738C-DBCB-7A4A-F105BB1B6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9374" y="1724891"/>
            <a:ext cx="7748443" cy="47054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DB9E0A"/>
                </a:solidFill>
                <a:latin typeface="Gotham Black"/>
              </a:rPr>
              <a:t>VOYO must be clearly visible and fairly represented</a:t>
            </a:r>
            <a:endParaRPr lang="sk-SK" sz="2400" b="1" dirty="0">
              <a:solidFill>
                <a:srgbClr val="DB9E0A"/>
              </a:solidFill>
              <a:latin typeface="Gotham Black"/>
            </a:endParaRPr>
          </a:p>
          <a:p>
            <a:endParaRPr lang="sk-SK" sz="1600" b="1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sk-SK" sz="1600" dirty="0">
                <a:latin typeface="Gotham Black"/>
              </a:rPr>
              <a:t>Partners must ensure:</a:t>
            </a:r>
          </a:p>
          <a:p>
            <a:pPr>
              <a:lnSpc>
                <a:spcPct val="120000"/>
              </a:lnSpc>
            </a:pPr>
            <a:r>
              <a:rPr lang="sk-SK" sz="1600" dirty="0">
                <a:latin typeface="Gotham Black"/>
              </a:rPr>
              <a:t>no less favourable prominence vs other SVOD service</a:t>
            </a:r>
            <a:endParaRPr lang="en-US" sz="16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sk-SK" sz="1600" dirty="0">
                <a:latin typeface="Gotham Black"/>
              </a:rPr>
              <a:t>visibility across digital properties &amp; journeys</a:t>
            </a:r>
            <a:endParaRPr lang="en-US" sz="16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sk-SK" sz="1600" dirty="0">
                <a:latin typeface="Gotham Black"/>
              </a:rPr>
              <a:t>defined promotional frequency</a:t>
            </a:r>
          </a:p>
          <a:p>
            <a:pPr marL="0" indent="0">
              <a:lnSpc>
                <a:spcPct val="120000"/>
              </a:lnSpc>
              <a:buNone/>
            </a:pPr>
            <a:endParaRPr lang="sk-SK" sz="1600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sk-SK" sz="1600" dirty="0" err="1">
                <a:latin typeface="Gotham Black"/>
              </a:rPr>
              <a:t>Promotion</a:t>
            </a:r>
            <a:r>
              <a:rPr lang="sk-SK" sz="1600" dirty="0">
                <a:latin typeface="Gotham Black"/>
              </a:rPr>
              <a:t> </a:t>
            </a:r>
            <a:r>
              <a:rPr lang="sk-SK" sz="1600" dirty="0" err="1">
                <a:latin typeface="Gotham Black"/>
              </a:rPr>
              <a:t>must</a:t>
            </a:r>
            <a:r>
              <a:rPr lang="sk-SK" sz="1600" dirty="0">
                <a:latin typeface="Gotham Black"/>
              </a:rPr>
              <a:t> </a:t>
            </a:r>
            <a:r>
              <a:rPr lang="sk-SK" sz="1600" dirty="0" err="1">
                <a:latin typeface="Gotham Black"/>
              </a:rPr>
              <a:t>focus</a:t>
            </a:r>
            <a:r>
              <a:rPr lang="sk-SK" sz="1600" dirty="0">
                <a:latin typeface="Gotham Black"/>
              </a:rPr>
              <a:t> on: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sk-SK" sz="1600" dirty="0">
                <a:latin typeface="Gotham Black"/>
              </a:rPr>
              <a:t>✔ </a:t>
            </a:r>
            <a:r>
              <a:rPr lang="sk-SK" sz="1600" dirty="0" err="1">
                <a:latin typeface="Gotham Black"/>
              </a:rPr>
              <a:t>exclusive</a:t>
            </a:r>
            <a:r>
              <a:rPr lang="sk-SK" sz="1600" dirty="0">
                <a:latin typeface="Gotham Black"/>
              </a:rPr>
              <a:t> &amp; </a:t>
            </a:r>
            <a:r>
              <a:rPr lang="sk-SK" sz="1600" dirty="0" err="1">
                <a:latin typeface="Gotham Black"/>
              </a:rPr>
              <a:t>original</a:t>
            </a:r>
            <a:r>
              <a:rPr lang="sk-SK" sz="1600" dirty="0">
                <a:latin typeface="Gotham Black"/>
              </a:rPr>
              <a:t> </a:t>
            </a:r>
            <a:r>
              <a:rPr lang="sk-SK" sz="1600" dirty="0" err="1">
                <a:latin typeface="Gotham Black"/>
              </a:rPr>
              <a:t>content</a:t>
            </a:r>
            <a:br>
              <a:rPr lang="sk-SK" sz="1600" dirty="0">
                <a:latin typeface="Gotham Black"/>
              </a:rPr>
            </a:br>
            <a:r>
              <a:rPr lang="sk-SK" sz="1600" dirty="0">
                <a:latin typeface="Gotham Black"/>
              </a:rPr>
              <a:t>✔ </a:t>
            </a:r>
            <a:r>
              <a:rPr lang="sk-SK" sz="1600" dirty="0" err="1">
                <a:latin typeface="Gotham Black"/>
              </a:rPr>
              <a:t>local</a:t>
            </a:r>
            <a:r>
              <a:rPr lang="sk-SK" sz="1600" dirty="0">
                <a:latin typeface="Gotham Black"/>
              </a:rPr>
              <a:t> </a:t>
            </a:r>
            <a:r>
              <a:rPr lang="sk-SK" sz="1600" dirty="0" err="1">
                <a:latin typeface="Gotham Black"/>
              </a:rPr>
              <a:t>relevance</a:t>
            </a:r>
            <a:r>
              <a:rPr lang="sk-SK" sz="1600" dirty="0">
                <a:latin typeface="Gotham Black"/>
              </a:rPr>
              <a:t> &amp; </a:t>
            </a:r>
            <a:r>
              <a:rPr lang="sk-SK" sz="1600" dirty="0" err="1">
                <a:latin typeface="Gotham Black"/>
              </a:rPr>
              <a:t>premium</a:t>
            </a:r>
            <a:r>
              <a:rPr lang="sk-SK" sz="1600" dirty="0">
                <a:latin typeface="Gotham Black"/>
              </a:rPr>
              <a:t> </a:t>
            </a:r>
            <a:r>
              <a:rPr lang="sk-SK" sz="1600" dirty="0" err="1">
                <a:latin typeface="Gotham Black"/>
              </a:rPr>
              <a:t>stories</a:t>
            </a:r>
            <a:endParaRPr lang="sk-SK" sz="1600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sk-SK" sz="1600" dirty="0">
                <a:latin typeface="Gotham Black"/>
              </a:rPr>
              <a:t>NOT </a:t>
            </a:r>
            <a:r>
              <a:rPr lang="sk-SK" sz="1600" dirty="0" err="1">
                <a:latin typeface="Gotham Black"/>
              </a:rPr>
              <a:t>only</a:t>
            </a:r>
            <a:r>
              <a:rPr lang="sk-SK" sz="1600" dirty="0">
                <a:latin typeface="Gotham Black"/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sk-SK" sz="1600" dirty="0">
                <a:latin typeface="Gotham Black"/>
              </a:rPr>
              <a:t>✖ </a:t>
            </a:r>
            <a:r>
              <a:rPr lang="sk-SK" sz="1600" dirty="0" err="1">
                <a:latin typeface="Gotham Black"/>
              </a:rPr>
              <a:t>price</a:t>
            </a:r>
            <a:br>
              <a:rPr lang="sk-SK" sz="1600" dirty="0">
                <a:latin typeface="Gotham Black"/>
              </a:rPr>
            </a:br>
            <a:r>
              <a:rPr lang="sk-SK" sz="1600" dirty="0">
                <a:latin typeface="Gotham Black"/>
              </a:rPr>
              <a:t>✖ </a:t>
            </a:r>
            <a:r>
              <a:rPr lang="sk-SK" sz="1600" dirty="0" err="1">
                <a:latin typeface="Gotham Black"/>
              </a:rPr>
              <a:t>technical</a:t>
            </a:r>
            <a:r>
              <a:rPr lang="sk-SK" sz="1600" dirty="0">
                <a:latin typeface="Gotham Black"/>
              </a:rPr>
              <a:t> </a:t>
            </a:r>
            <a:r>
              <a:rPr lang="sk-SK" sz="1600" dirty="0" err="1">
                <a:latin typeface="Gotham Black"/>
              </a:rPr>
              <a:t>specification</a:t>
            </a:r>
            <a:endParaRPr lang="sk-SK" sz="1600" dirty="0">
              <a:latin typeface="Gotham Black"/>
            </a:endParaRPr>
          </a:p>
          <a:p>
            <a:endParaRPr lang="sk-SK" sz="1600" b="1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5C371CD-A850-A8B9-4D96-F272965A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80</a:t>
            </a:fld>
            <a:endParaRPr lang="sk-S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33365D-74EE-A8B0-B2D8-88BC31841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05" y="2924178"/>
            <a:ext cx="1692642" cy="169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61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52DB2E-FE2D-121A-9426-923076BC0EB0}"/>
              </a:ext>
            </a:extLst>
          </p:cNvPr>
          <p:cNvSpPr/>
          <p:nvPr/>
        </p:nvSpPr>
        <p:spPr>
          <a:xfrm rot="5400000">
            <a:off x="7715250" y="2676526"/>
            <a:ext cx="2324098" cy="5181599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endParaRPr lang="en-US" sz="2160">
              <a:latin typeface="Gotham Black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C2C880-91DE-754D-CBD9-F62752CB0D9A}"/>
              </a:ext>
            </a:extLst>
          </p:cNvPr>
          <p:cNvSpPr/>
          <p:nvPr/>
        </p:nvSpPr>
        <p:spPr>
          <a:xfrm rot="5400000">
            <a:off x="7485500" y="582188"/>
            <a:ext cx="2228842" cy="462684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97829C9-1DE2-C160-BE06-9566F5399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2771"/>
            <a:ext cx="11277600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Pricing</a:t>
            </a:r>
            <a:r>
              <a:rPr lang="sk-SK" dirty="0">
                <a:latin typeface="Gotham Black"/>
              </a:rPr>
              <a:t> &amp; </a:t>
            </a:r>
            <a:r>
              <a:rPr lang="sk-SK" dirty="0" err="1">
                <a:latin typeface="Gotham Black"/>
              </a:rPr>
              <a:t>Value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Communication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BC6FBF-C2F8-10A5-FB3C-BAFB4C1C0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35" y="1893891"/>
            <a:ext cx="5629565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rgbClr val="DB9E0A"/>
                </a:solidFill>
                <a:latin typeface="Gotham Black"/>
              </a:rPr>
              <a:t>VOYO must never be presented as free.</a:t>
            </a:r>
            <a:endParaRPr lang="sk-SK" sz="2400" dirty="0">
              <a:solidFill>
                <a:srgbClr val="DB9E0A"/>
              </a:solidFill>
              <a:latin typeface="Gotham Black"/>
            </a:endParaRPr>
          </a:p>
          <a:p>
            <a:pPr marL="0" indent="0">
              <a:lnSpc>
                <a:spcPct val="70000"/>
              </a:lnSpc>
              <a:buNone/>
            </a:pPr>
            <a:endParaRPr lang="sk-SK" sz="2400" dirty="0">
              <a:solidFill>
                <a:srgbClr val="DB9E0A"/>
              </a:solidFill>
              <a:latin typeface="Gotham Black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Gotham Black"/>
              </a:rPr>
              <a:t>VOYO is always communicated as: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Gotham Black"/>
              </a:rPr>
              <a:t>part of a bundle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Gotham Black"/>
              </a:rPr>
              <a:t>an included benefit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Gotham Black"/>
              </a:rPr>
              <a:t>a premium extra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Gotham Black"/>
              </a:rPr>
              <a:t>a partner-added value</a:t>
            </a:r>
          </a:p>
          <a:p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80A7330-B763-4808-28A0-4E523FF1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81</a:t>
            </a:fld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2C259658-3A16-5238-0914-C44982E1EDA9}"/>
              </a:ext>
            </a:extLst>
          </p:cNvPr>
          <p:cNvSpPr txBox="1"/>
          <p:nvPr/>
        </p:nvSpPr>
        <p:spPr>
          <a:xfrm>
            <a:off x="6567632" y="1857746"/>
            <a:ext cx="4490893" cy="4391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Gotham Black"/>
              </a:rPr>
              <a:t>Correct examples</a:t>
            </a:r>
            <a:endParaRPr lang="en-US" dirty="0">
              <a:solidFill>
                <a:schemeClr val="bg1"/>
              </a:solidFill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• “Included in your plan”</a:t>
            </a:r>
            <a:br>
              <a:rPr lang="en-US" dirty="0">
                <a:solidFill>
                  <a:schemeClr val="bg1"/>
                </a:solidFill>
                <a:latin typeface="Gotham Black"/>
              </a:rPr>
            </a:br>
            <a:r>
              <a:rPr lang="en-US" dirty="0">
                <a:solidFill>
                  <a:schemeClr val="bg1"/>
                </a:solidFill>
                <a:latin typeface="Gotham Black"/>
              </a:rPr>
              <a:t>• “Available with your package”</a:t>
            </a:r>
            <a:br>
              <a:rPr lang="en-US" dirty="0">
                <a:solidFill>
                  <a:schemeClr val="bg1"/>
                </a:solidFill>
                <a:latin typeface="Gotham Black"/>
              </a:rPr>
            </a:br>
            <a:r>
              <a:rPr lang="en-US" dirty="0">
                <a:solidFill>
                  <a:schemeClr val="bg1"/>
                </a:solidFill>
                <a:latin typeface="Gotham Black"/>
              </a:rPr>
              <a:t>• “Enjoy VOYO with your subscription”</a:t>
            </a:r>
            <a:br>
              <a:rPr lang="en-US" dirty="0">
                <a:solidFill>
                  <a:schemeClr val="bg1"/>
                </a:solidFill>
                <a:latin typeface="Gotham Black"/>
              </a:rPr>
            </a:br>
            <a:r>
              <a:rPr lang="en-US" dirty="0">
                <a:solidFill>
                  <a:schemeClr val="bg1"/>
                </a:solidFill>
                <a:latin typeface="Gotham Black"/>
              </a:rPr>
              <a:t>• “A premium benefit from [Partner]”</a:t>
            </a:r>
            <a:endParaRPr lang="sk-SK" dirty="0">
              <a:solidFill>
                <a:schemeClr val="bg1"/>
              </a:solidFill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sk-SK" dirty="0">
              <a:solidFill>
                <a:schemeClr val="bg1"/>
              </a:solidFill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sk-SK" dirty="0">
              <a:solidFill>
                <a:schemeClr val="bg1"/>
              </a:solidFill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Gotham Black"/>
              </a:rPr>
              <a:t>Avoid</a:t>
            </a:r>
            <a:endParaRPr lang="en-US" dirty="0">
              <a:solidFill>
                <a:schemeClr val="bg1"/>
              </a:solidFill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Gotham Black"/>
              </a:rPr>
              <a:t>✖ “VOYO for free”</a:t>
            </a:r>
            <a:br>
              <a:rPr lang="en-US" dirty="0">
                <a:solidFill>
                  <a:schemeClr val="bg1"/>
                </a:solidFill>
                <a:latin typeface="Gotham Black"/>
              </a:rPr>
            </a:br>
            <a:r>
              <a:rPr lang="en-US" dirty="0">
                <a:solidFill>
                  <a:schemeClr val="bg1"/>
                </a:solidFill>
                <a:latin typeface="Gotham Black"/>
              </a:rPr>
              <a:t>✖ “Free VOYO”</a:t>
            </a:r>
            <a:br>
              <a:rPr lang="en-US" dirty="0">
                <a:solidFill>
                  <a:schemeClr val="bg1"/>
                </a:solidFill>
                <a:latin typeface="Gotham Black"/>
              </a:rPr>
            </a:br>
            <a:r>
              <a:rPr lang="en-US" dirty="0">
                <a:solidFill>
                  <a:schemeClr val="bg1"/>
                </a:solidFill>
                <a:latin typeface="Gotham Black"/>
              </a:rPr>
              <a:t>✖ “Get VOYO at no cost”</a:t>
            </a:r>
            <a:br>
              <a:rPr lang="en-US" dirty="0">
                <a:solidFill>
                  <a:schemeClr val="bg1"/>
                </a:solidFill>
                <a:latin typeface="Gotham Black"/>
              </a:rPr>
            </a:br>
            <a:r>
              <a:rPr lang="en-US" dirty="0">
                <a:solidFill>
                  <a:schemeClr val="bg1"/>
                </a:solidFill>
                <a:latin typeface="Gotham Black"/>
              </a:rPr>
              <a:t>✖ price-led messaging that devalues the service</a:t>
            </a:r>
          </a:p>
        </p:txBody>
      </p:sp>
    </p:spTree>
    <p:extLst>
      <p:ext uri="{BB962C8B-B14F-4D97-AF65-F5344CB8AC3E}">
        <p14:creationId xmlns:p14="http://schemas.microsoft.com/office/powerpoint/2010/main" val="7506147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BD22186-D35A-FF95-8B19-C0F2F9D98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Gotham Black"/>
              </a:rPr>
              <a:t>Make </a:t>
            </a:r>
            <a:r>
              <a:rPr lang="en-US" sz="2400" dirty="0" err="1">
                <a:latin typeface="Gotham Black"/>
              </a:rPr>
              <a:t>VOYO</a:t>
            </a:r>
            <a:r>
              <a:rPr lang="en-US" sz="2400" dirty="0">
                <a:latin typeface="Gotham Black"/>
              </a:rPr>
              <a:t> visible and valuable</a:t>
            </a:r>
            <a:endParaRPr lang="sk-SK" sz="2400" dirty="0">
              <a:latin typeface="Gotham Black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88EA04-90F5-305E-C076-318057BF66BE}"/>
              </a:ext>
            </a:extLst>
          </p:cNvPr>
          <p:cNvSpPr/>
          <p:nvPr/>
        </p:nvSpPr>
        <p:spPr>
          <a:xfrm rot="5400000">
            <a:off x="7603262" y="1008983"/>
            <a:ext cx="2228842" cy="5272233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Gotham Black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0B62D8-0ACB-9F3C-238B-BF48CEB668DD}"/>
              </a:ext>
            </a:extLst>
          </p:cNvPr>
          <p:cNvSpPr/>
          <p:nvPr/>
        </p:nvSpPr>
        <p:spPr>
          <a:xfrm rot="5400000">
            <a:off x="2030849" y="999073"/>
            <a:ext cx="2228842" cy="5272234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02911FC-74F9-C308-531E-2EDC3AC3D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606439"/>
            <a:ext cx="9901382" cy="656164"/>
          </a:xfrm>
        </p:spPr>
        <p:txBody>
          <a:bodyPr>
            <a:normAutofit/>
          </a:bodyPr>
          <a:lstStyle/>
          <a:p>
            <a:r>
              <a:rPr lang="en-US" dirty="0">
                <a:latin typeface="Gotham Black"/>
              </a:rPr>
              <a:t>How to </a:t>
            </a:r>
            <a:r>
              <a:rPr lang="en-US" b="1" dirty="0">
                <a:latin typeface="Gotham Black"/>
              </a:rPr>
              <a:t>present</a:t>
            </a:r>
            <a:r>
              <a:rPr lang="en-US" dirty="0">
                <a:latin typeface="Gotham Black"/>
              </a:rPr>
              <a:t> </a:t>
            </a:r>
            <a:r>
              <a:rPr lang="en-US" dirty="0" err="1">
                <a:latin typeface="Gotham Black"/>
              </a:rPr>
              <a:t>VOYO</a:t>
            </a:r>
            <a:r>
              <a:rPr lang="en-US" dirty="0">
                <a:latin typeface="Gotham Black"/>
              </a:rPr>
              <a:t> in Bundles</a:t>
            </a:r>
            <a:endParaRPr lang="sk-SK" dirty="0">
              <a:latin typeface="Gotham Black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852058A7-AC90-DA76-DF55-0E2B768AB78B}"/>
              </a:ext>
            </a:extLst>
          </p:cNvPr>
          <p:cNvSpPr txBox="1"/>
          <p:nvPr/>
        </p:nvSpPr>
        <p:spPr>
          <a:xfrm>
            <a:off x="471053" y="2649337"/>
            <a:ext cx="5437537" cy="1736646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DB9E0A"/>
                </a:solidFill>
                <a:latin typeface="Gotham Black"/>
              </a:rPr>
              <a:t>POSITIONING IN THE OFFER </a:t>
            </a:r>
          </a:p>
          <a:p>
            <a:endParaRPr lang="sk-SK" sz="1600" b="1" dirty="0">
              <a:solidFill>
                <a:srgbClr val="DB9E0A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Present 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 as a core entertainment benefit, not a hidden add-on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Include 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 clearly in bundle descriptions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Avoid placing 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 only in footnotes or technical details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E62CF7D5-EB13-65AA-7623-E64A40CF37AE}"/>
              </a:ext>
            </a:extLst>
          </p:cNvPr>
          <p:cNvSpPr txBox="1"/>
          <p:nvPr/>
        </p:nvSpPr>
        <p:spPr>
          <a:xfrm>
            <a:off x="6301884" y="2663333"/>
            <a:ext cx="5446770" cy="2009061"/>
          </a:xfrm>
          <a:prstGeom prst="roundRect">
            <a:avLst/>
          </a:prstGeom>
          <a:noFill/>
          <a:ln w="41275"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DB9E0A"/>
                </a:solidFill>
                <a:latin typeface="Gotham Black"/>
              </a:rPr>
              <a:t>VALUE FRAMING</a:t>
            </a:r>
          </a:p>
          <a:p>
            <a:endParaRPr lang="sk-SK" sz="1600" b="1" dirty="0">
              <a:solidFill>
                <a:srgbClr val="DB9E0A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Lead with original and exclusive content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Highlight strong local stories and premium titles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Gotham Black"/>
              </a:rPr>
              <a:t>Focus on storytelling and experience, not price or technical features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k-SK" sz="16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F11341E6-BD62-03F6-E1F7-301B29B7D75D}"/>
              </a:ext>
            </a:extLst>
          </p:cNvPr>
          <p:cNvSpPr txBox="1"/>
          <p:nvPr/>
        </p:nvSpPr>
        <p:spPr>
          <a:xfrm>
            <a:off x="452582" y="4938908"/>
            <a:ext cx="6096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CLEAR MESSAGING EXAMPLES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✓ “Includes 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 – premium local stories and </a:t>
            </a:r>
            <a:r>
              <a:rPr lang="sk-SK" sz="1600" dirty="0">
                <a:solidFill>
                  <a:schemeClr val="bg1"/>
                </a:solidFill>
                <a:latin typeface="Gotham Black"/>
              </a:rPr>
              <a:t>O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riginals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”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✓ “Watch exclusive series and </a:t>
            </a:r>
            <a:r>
              <a:rPr lang="sk-SK" sz="1600" dirty="0">
                <a:solidFill>
                  <a:schemeClr val="bg1"/>
                </a:solidFill>
                <a:latin typeface="Gotham Black"/>
              </a:rPr>
              <a:t>O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riginals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 on </a:t>
            </a:r>
            <a:r>
              <a:rPr lang="en-US" sz="1600" dirty="0" err="1">
                <a:solidFill>
                  <a:schemeClr val="bg1"/>
                </a:solidFill>
                <a:latin typeface="Gotham Black"/>
              </a:rPr>
              <a:t>VOYO</a:t>
            </a:r>
            <a:r>
              <a:rPr lang="en-US" sz="1600" dirty="0">
                <a:solidFill>
                  <a:schemeClr val="bg1"/>
                </a:solidFill>
                <a:latin typeface="Gotham Black"/>
              </a:rPr>
              <a:t>”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✕ “Free streaming app included”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  <a:p>
            <a:r>
              <a:rPr lang="en-US" sz="1600" dirty="0">
                <a:solidFill>
                  <a:schemeClr val="bg1"/>
                </a:solidFill>
                <a:latin typeface="Gotham Black"/>
              </a:rPr>
              <a:t>✕ “Bonus access”</a:t>
            </a:r>
            <a:endParaRPr lang="sk-SK" sz="1600" dirty="0">
              <a:solidFill>
                <a:schemeClr val="bg1"/>
              </a:solidFill>
              <a:latin typeface="Gotham Black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8243CAF5-A7E2-4DA5-C636-F8912738216A}"/>
              </a:ext>
            </a:extLst>
          </p:cNvPr>
          <p:cNvSpPr txBox="1"/>
          <p:nvPr/>
        </p:nvSpPr>
        <p:spPr>
          <a:xfrm>
            <a:off x="6283413" y="4952904"/>
            <a:ext cx="5181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BB1"/>
                </a:solidFill>
                <a:latin typeface="Gotham Black"/>
              </a:rPr>
              <a:t>GUARDRAIL </a:t>
            </a:r>
            <a:endParaRPr lang="sk-SK" sz="1600" b="1" dirty="0">
              <a:solidFill>
                <a:srgbClr val="FFFBB1"/>
              </a:solidFill>
              <a:latin typeface="Gotham Black"/>
            </a:endParaRPr>
          </a:p>
          <a:p>
            <a:pPr>
              <a:buNone/>
            </a:pPr>
            <a:r>
              <a:rPr lang="en-US" sz="1600" dirty="0">
                <a:solidFill>
                  <a:srgbClr val="FFFBB1"/>
                </a:solidFill>
                <a:latin typeface="Gotham Black"/>
              </a:rPr>
              <a:t>Content communicated in B2B partnerships must reflect rights available within the B2B model.</a:t>
            </a:r>
          </a:p>
        </p:txBody>
      </p:sp>
      <p:sp>
        <p:nvSpPr>
          <p:cNvPr id="11" name="Zástupný objekt pre číslo snímky 10">
            <a:extLst>
              <a:ext uri="{FF2B5EF4-FFF2-40B4-BE49-F238E27FC236}">
                <a16:creationId xmlns:a16="http://schemas.microsoft.com/office/drawing/2014/main" id="{D8ADE1C8-9A67-6CB7-4844-929FF73D1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82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1592068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E8E4-1CD8-28BA-7AE0-DF41F347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39F25E-9A3D-4C11-EFEA-1817B6D7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606439"/>
            <a:ext cx="9901382" cy="656164"/>
          </a:xfrm>
        </p:spPr>
        <p:txBody>
          <a:bodyPr>
            <a:noAutofit/>
          </a:bodyPr>
          <a:lstStyle/>
          <a:p>
            <a:pPr>
              <a:lnSpc>
                <a:spcPts val="6700"/>
              </a:lnSpc>
            </a:pPr>
            <a:r>
              <a:rPr lang="en-US" dirty="0">
                <a:latin typeface="Gotham Black"/>
                <a:ea typeface="Raleway" pitchFamily="34" charset="-122"/>
                <a:cs typeface="Raleway" pitchFamily="34" charset="-120"/>
              </a:rPr>
              <a:t>Final Partner Rule</a:t>
            </a:r>
            <a:endParaRPr lang="en-US" dirty="0">
              <a:latin typeface="Gotham Black"/>
            </a:endParaRPr>
          </a:p>
        </p:txBody>
      </p:sp>
      <p:sp>
        <p:nvSpPr>
          <p:cNvPr id="11" name="Zástupný objekt pre číslo snímky 10">
            <a:extLst>
              <a:ext uri="{FF2B5EF4-FFF2-40B4-BE49-F238E27FC236}">
                <a16:creationId xmlns:a16="http://schemas.microsoft.com/office/drawing/2014/main" id="{1207EC15-6DFE-7032-276E-3314A78E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83</a:t>
            </a:fld>
            <a:endParaRPr lang="sk-SK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541388DA-6D60-85A8-B19A-F8E12EE2CA76}"/>
              </a:ext>
            </a:extLst>
          </p:cNvPr>
          <p:cNvSpPr/>
          <p:nvPr/>
        </p:nvSpPr>
        <p:spPr>
          <a:xfrm>
            <a:off x="748071" y="3056926"/>
            <a:ext cx="9615128" cy="21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4400" dirty="0">
                <a:solidFill>
                  <a:schemeClr val="bg1"/>
                </a:solidFill>
                <a:latin typeface="Gotham Black"/>
                <a:ea typeface="Roboto" pitchFamily="34" charset="-122"/>
                <a:cs typeface="Roboto" pitchFamily="34" charset="-120"/>
              </a:rPr>
              <a:t>If you are unsure – stop and ask.</a:t>
            </a:r>
            <a:endParaRPr lang="cs-CZ" sz="4400" dirty="0">
              <a:solidFill>
                <a:schemeClr val="bg1"/>
              </a:solidFill>
              <a:latin typeface="Gotham Black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3100"/>
              </a:lnSpc>
              <a:buNone/>
            </a:pPr>
            <a:endParaRPr lang="en-US" sz="4400" dirty="0">
              <a:solidFill>
                <a:schemeClr val="bg1"/>
              </a:solidFill>
              <a:latin typeface="Gotham Black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en-US" sz="4400" dirty="0">
                <a:solidFill>
                  <a:schemeClr val="bg1"/>
                </a:solidFill>
                <a:latin typeface="Gotham Black"/>
                <a:ea typeface="Roboto" pitchFamily="34" charset="-122"/>
                <a:cs typeface="Roboto" pitchFamily="34" charset="-120"/>
              </a:rPr>
              <a:t>If it is not approved – it does not go live.</a:t>
            </a:r>
            <a:endParaRPr lang="en-US" sz="4400" dirty="0">
              <a:solidFill>
                <a:schemeClr val="bg1"/>
              </a:solidFill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166589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10C7-74B5-85E2-B169-30FDE377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12F91F7A-9EF1-728C-5723-0728A0AED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6.3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E7BF579E-B4EB-ECC8-4B4B-F11710589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964070"/>
            <a:ext cx="11068493" cy="1979405"/>
          </a:xfrm>
        </p:spPr>
        <p:txBody>
          <a:bodyPr anchor="ctr">
            <a:normAutofit/>
          </a:bodyPr>
          <a:lstStyle/>
          <a:p>
            <a:r>
              <a:rPr lang="en-US" sz="6000" b="1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Brand Safety </a:t>
            </a:r>
            <a:r>
              <a:rPr lang="en-US" sz="6000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&amp; </a:t>
            </a:r>
            <a:endParaRPr lang="cs-CZ" sz="6000" dirty="0">
              <a:solidFill>
                <a:srgbClr val="FFFFFF"/>
              </a:solidFill>
              <a:latin typeface="Gotham Black"/>
              <a:ea typeface="Gotham Light" pitchFamily="34" charset="-122"/>
              <a:cs typeface="Gotham Light" pitchFamily="34" charset="-120"/>
            </a:endParaRPr>
          </a:p>
          <a:p>
            <a:r>
              <a:rPr lang="en-US" sz="6000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Editorial Responsibility</a:t>
            </a:r>
            <a:endParaRPr lang="en-US" sz="60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BF79B7C3-D56C-D86E-AAB2-12F5A928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84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6484865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CC0F1-73D6-4702-4517-9A8D586FD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09" y="613543"/>
            <a:ext cx="9901382" cy="6561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Our </a:t>
            </a:r>
            <a:r>
              <a:rPr lang="en-US" b="1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responsibility</a:t>
            </a:r>
            <a:endParaRPr lang="sk-SK" b="1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4012D4E-07EE-EAC4-DA30-5ADE5E50A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3850" y="1825625"/>
            <a:ext cx="7605567" cy="346074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4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VOYO is a curated local streaming environment — not open-content.</a:t>
            </a:r>
            <a:endParaRPr lang="en-US" sz="2400" dirty="0">
              <a:latin typeface="Gotham Black"/>
            </a:endParaRPr>
          </a:p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4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Every title published under VOYO reflects editorial standards, cultural awareness and commercial responsibility.</a:t>
            </a:r>
            <a:endParaRPr lang="en-US" sz="2400" dirty="0">
              <a:latin typeface="Gotham Black"/>
            </a:endParaRPr>
          </a:p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400" b="1" dirty="0">
                <a:latin typeface="Gotham Black"/>
              </a:rPr>
              <a:t>Brand safety </a:t>
            </a:r>
            <a:r>
              <a:rPr lang="sk-SK" sz="2400" b="1" dirty="0">
                <a:latin typeface="Gotham Black"/>
              </a:rPr>
              <a:t>is not censorship.</a:t>
            </a:r>
            <a:endParaRPr lang="en-US" sz="2400" b="1" dirty="0">
              <a:latin typeface="Gotham Black"/>
            </a:endParaRPr>
          </a:p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sk-SK" sz="2400" dirty="0">
                <a:latin typeface="Gotham Black"/>
              </a:rPr>
              <a:t>It </a:t>
            </a:r>
            <a:r>
              <a:rPr lang="en-US" sz="2400" dirty="0">
                <a:latin typeface="Gotham Black"/>
              </a:rPr>
              <a:t>protects trust, cultural relevance and long-term viewer relationships.</a:t>
            </a:r>
            <a:endParaRPr lang="sk-SK" sz="24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8CC0D87-C9C9-08A1-F53F-C3881A97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85</a:t>
            </a:fld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E434980B-A203-F207-7A95-E83676F6BAEE}"/>
              </a:ext>
            </a:extLst>
          </p:cNvPr>
          <p:cNvSpPr txBox="1"/>
          <p:nvPr/>
        </p:nvSpPr>
        <p:spPr>
          <a:xfrm>
            <a:off x="1471468" y="5544760"/>
            <a:ext cx="9026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k-SK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SIMPLE CHECK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Would we be comfortable putting the VOYO logo next to this </a:t>
            </a:r>
            <a:r>
              <a:rPr lang="sk-SK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- </a:t>
            </a:r>
            <a:r>
              <a:rPr lang="en-US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today and in 3 yea</a:t>
            </a:r>
            <a:r>
              <a:rPr lang="sk-SK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r?</a:t>
            </a:r>
            <a:endParaRPr lang="en-US" sz="1800" dirty="0">
              <a:solidFill>
                <a:srgbClr val="FFFBB1"/>
              </a:solidFill>
              <a:latin typeface="Gotham Black"/>
            </a:endParaRPr>
          </a:p>
        </p:txBody>
      </p:sp>
      <p:pic>
        <p:nvPicPr>
          <p:cNvPr id="7" name="Picture 6" descr="Attention PNG transparent image download, size: 2400x2400px">
            <a:extLst>
              <a:ext uri="{FF2B5EF4-FFF2-40B4-BE49-F238E27FC236}">
                <a16:creationId xmlns:a16="http://schemas.microsoft.com/office/drawing/2014/main" id="{A188E420-77C1-6128-21E2-416231768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02885A-792D-21CD-9BBB-39895331E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994" y="2498855"/>
            <a:ext cx="1858831" cy="202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5434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3B9368-4BBD-D2F1-64BA-7D9FBBA3A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9075"/>
            <a:ext cx="9901382" cy="6561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Guiding</a:t>
            </a:r>
            <a:r>
              <a:rPr lang="en-US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 principles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7D19EF4-A665-5950-8FE4-897E28FA9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2002060"/>
            <a:ext cx="11277600" cy="3378930"/>
          </a:xfrm>
        </p:spPr>
        <p:txBody>
          <a:bodyPr>
            <a:normAutofit/>
          </a:bodyPr>
          <a:lstStyle/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Curated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, not chaotic — review and classify before publish</a:t>
            </a:r>
            <a:endParaRPr lang="en-US" sz="2400" dirty="0">
              <a:latin typeface="Gotham Black"/>
              <a:ea typeface="Gotham Light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Context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 over sensationalism — avoid exploiting trauma or controversy</a:t>
            </a:r>
            <a:endParaRPr lang="en-US" sz="2400" dirty="0">
              <a:latin typeface="Gotham Black"/>
              <a:ea typeface="Gotham Light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Audience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 trust first — trust beats virality</a:t>
            </a:r>
            <a:endParaRPr lang="en-US" sz="2400" dirty="0">
              <a:latin typeface="Gotham Black"/>
              <a:ea typeface="Gotham Light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Commercial </a:t>
            </a:r>
            <a:r>
              <a:rPr lang="en-US" sz="2400" b="1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responsibility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 — protect advertisers and partners</a:t>
            </a:r>
            <a:endParaRPr lang="en-US" sz="2400" dirty="0">
              <a:latin typeface="Gotham Black"/>
              <a:ea typeface="Gotham Light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Cultural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 awareness — respect local context, regulation and sensitivities</a:t>
            </a:r>
            <a:endParaRPr lang="en-US" sz="2400" dirty="0">
              <a:latin typeface="Gotham Black"/>
              <a:ea typeface="Gotham Light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0AF26B6-0BFE-4696-9253-666829F2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86</a:t>
            </a:fld>
            <a:endParaRPr lang="sk-SK"/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A309B704-15DE-86D3-8F15-AF8683BF504C}"/>
              </a:ext>
            </a:extLst>
          </p:cNvPr>
          <p:cNvSpPr txBox="1"/>
          <p:nvPr/>
        </p:nvSpPr>
        <p:spPr>
          <a:xfrm>
            <a:off x="1429066" y="5654457"/>
            <a:ext cx="8043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k-SK" sz="1800" b="1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KEY RULE: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Long-term trust outweighs short-term performance spikes.</a:t>
            </a:r>
            <a:endParaRPr lang="en-US" sz="1800" dirty="0">
              <a:solidFill>
                <a:srgbClr val="FFFBB1"/>
              </a:solidFill>
              <a:latin typeface="Gotham Black"/>
            </a:endParaRPr>
          </a:p>
        </p:txBody>
      </p:sp>
      <p:pic>
        <p:nvPicPr>
          <p:cNvPr id="6" name="Picture 5" descr="Attention PNG transparent image download, size: 2400x2400px">
            <a:extLst>
              <a:ext uri="{FF2B5EF4-FFF2-40B4-BE49-F238E27FC236}">
                <a16:creationId xmlns:a16="http://schemas.microsoft.com/office/drawing/2014/main" id="{5880BA9B-481F-2418-2D0F-694D69839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760653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DD1A7A-CB94-1AC2-F3FD-DB7830AF2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704656"/>
            <a:ext cx="11130107" cy="566642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Content </a:t>
            </a:r>
            <a:r>
              <a:rPr lang="en-US" sz="4000" b="1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classification</a:t>
            </a:r>
            <a:r>
              <a:rPr lang="en-US" sz="4000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 &amp; audience protection</a:t>
            </a:r>
            <a:endParaRPr lang="sk-SK" sz="40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3334655-6EF8-53A2-6485-50A86F15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87</a:t>
            </a:fld>
            <a:endParaRPr lang="sk-S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49C46D7-C97D-3677-8AC7-DE860C2B4EFA}"/>
              </a:ext>
            </a:extLst>
          </p:cNvPr>
          <p:cNvSpPr/>
          <p:nvPr/>
        </p:nvSpPr>
        <p:spPr>
          <a:xfrm>
            <a:off x="454481" y="2508700"/>
            <a:ext cx="3510639" cy="2146427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 rtlCol="0" anchor="t"/>
          <a:lstStyle/>
          <a:p>
            <a:pPr>
              <a:lnSpc>
                <a:spcPct val="112000"/>
              </a:lnSpc>
              <a:buSzPct val="100000"/>
            </a:pPr>
            <a:r>
              <a:rPr lang="en-US" b="1" dirty="0">
                <a:solidFill>
                  <a:srgbClr val="FFFFFF"/>
                </a:solidFill>
                <a:latin typeface="Gotham Black"/>
                <a:ea typeface="Gotham Light"/>
                <a:cs typeface="Gotham Light" pitchFamily="34" charset="-120"/>
              </a:rPr>
              <a:t>AGE RATINGS &amp; LABELS</a:t>
            </a:r>
            <a:endParaRPr lang="en-US" b="1" dirty="0">
              <a:latin typeface="Gotham Black"/>
              <a:ea typeface="Gotham Light"/>
            </a:endParaRPr>
          </a:p>
          <a:p>
            <a:pPr>
              <a:lnSpc>
                <a:spcPct val="112000"/>
              </a:lnSpc>
              <a:buSzPct val="100000"/>
            </a:pPr>
            <a:endParaRPr lang="sk-SK" dirty="0">
              <a:solidFill>
                <a:srgbClr val="E8E8E8"/>
              </a:solidFill>
              <a:latin typeface="Gotham Black"/>
              <a:ea typeface="Gotham Light"/>
              <a:cs typeface="Gotham Book" pitchFamily="34" charset="-120"/>
            </a:endParaRPr>
          </a:p>
          <a:p>
            <a:pPr marL="213360" indent="-213360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Visible on the title page</a:t>
            </a:r>
            <a:endParaRPr lang="en-US" dirty="0">
              <a:latin typeface="Gotham Black"/>
              <a:ea typeface="Gotham Light"/>
            </a:endParaRPr>
          </a:p>
          <a:p>
            <a:pPr marL="213360" indent="-213360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Pre-play warnings when needed</a:t>
            </a:r>
            <a:endParaRPr lang="en-US" dirty="0">
              <a:latin typeface="Gotham Black"/>
              <a:ea typeface="Gotham Light"/>
            </a:endParaRPr>
          </a:p>
          <a:p>
            <a:pPr marL="213360" indent="-213360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Consistent metadata for discovery</a:t>
            </a:r>
            <a:endParaRPr lang="en-US" dirty="0">
              <a:latin typeface="Gotham Black"/>
              <a:ea typeface="Gotham Light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7779C860-E97F-8AFE-34BD-9BA3007CC66E}"/>
              </a:ext>
            </a:extLst>
          </p:cNvPr>
          <p:cNvSpPr/>
          <p:nvPr/>
        </p:nvSpPr>
        <p:spPr>
          <a:xfrm>
            <a:off x="4340681" y="2508700"/>
            <a:ext cx="3510638" cy="2146427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 rtlCol="0" anchor="t"/>
          <a:lstStyle/>
          <a:p>
            <a:pPr>
              <a:lnSpc>
                <a:spcPct val="112000"/>
              </a:lnSpc>
              <a:buSzPct val="100000"/>
            </a:pPr>
            <a:r>
              <a:rPr lang="en-US" b="1" dirty="0">
                <a:solidFill>
                  <a:srgbClr val="FFFFFF"/>
                </a:solidFill>
                <a:latin typeface="Gotham Black"/>
              </a:rPr>
              <a:t>PARENTAL CONTROLS</a:t>
            </a:r>
            <a:endParaRPr lang="en-US" b="1" dirty="0">
              <a:solidFill>
                <a:srgbClr val="FFFFFF"/>
              </a:solidFill>
              <a:latin typeface="Gotham Black"/>
              <a:ea typeface="Gotham Light"/>
            </a:endParaRPr>
          </a:p>
          <a:p>
            <a:pPr>
              <a:lnSpc>
                <a:spcPct val="112000"/>
              </a:lnSpc>
              <a:buSzPct val="100000"/>
            </a:pPr>
            <a:endParaRPr lang="sk-SK" dirty="0">
              <a:solidFill>
                <a:srgbClr val="FFFFFF"/>
              </a:solidFill>
              <a:latin typeface="Gotham Black"/>
              <a:ea typeface="Gotham Light"/>
            </a:endParaRPr>
          </a:p>
          <a:p>
            <a:pPr marL="285750" indent="-285750">
              <a:lnSpc>
                <a:spcPct val="112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Gotham Black"/>
                <a:ea typeface="Gotham Light"/>
              </a:rPr>
              <a:t>Profile restrictions</a:t>
            </a:r>
          </a:p>
          <a:p>
            <a:pPr marL="285750" indent="-285750">
              <a:lnSpc>
                <a:spcPct val="112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Gotham Black"/>
                <a:ea typeface="Gotham Light"/>
              </a:rPr>
              <a:t>PIN for adult access</a:t>
            </a:r>
          </a:p>
          <a:p>
            <a:pPr marL="285750" indent="-285750">
              <a:lnSpc>
                <a:spcPct val="112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Gotham Black"/>
                <a:ea typeface="Gotham Light"/>
              </a:rPr>
              <a:t>Kids profiles: strict default</a:t>
            </a:r>
            <a:r>
              <a:rPr lang="sk-SK" dirty="0">
                <a:solidFill>
                  <a:srgbClr val="FFFFFF"/>
                </a:solidFill>
                <a:latin typeface="Gotham Black"/>
                <a:ea typeface="Gotham Light"/>
              </a:rPr>
              <a:t>s</a:t>
            </a:r>
            <a:endParaRPr lang="en-US" dirty="0">
              <a:solidFill>
                <a:srgbClr val="FFFFFF"/>
              </a:solidFill>
              <a:latin typeface="Gotham Black"/>
              <a:ea typeface="Gotham Light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262F5562-F9C2-4EAC-D49B-7480ABDA3F1B}"/>
              </a:ext>
            </a:extLst>
          </p:cNvPr>
          <p:cNvSpPr/>
          <p:nvPr/>
        </p:nvSpPr>
        <p:spPr>
          <a:xfrm>
            <a:off x="8226881" y="2508700"/>
            <a:ext cx="3510638" cy="2146427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 rtlCol="0" anchor="t"/>
          <a:lstStyle/>
          <a:p>
            <a:pPr>
              <a:lnSpc>
                <a:spcPct val="112000"/>
              </a:lnSpc>
              <a:buSzPct val="100000"/>
            </a:pPr>
            <a:r>
              <a:rPr lang="en-US" b="1" dirty="0">
                <a:solidFill>
                  <a:srgbClr val="FFFFFF"/>
                </a:solidFill>
                <a:latin typeface="Gotham Black"/>
              </a:rPr>
              <a:t>KIDS ENVIRONMENT</a:t>
            </a:r>
          </a:p>
          <a:p>
            <a:pPr>
              <a:lnSpc>
                <a:spcPct val="112000"/>
              </a:lnSpc>
              <a:buSzPct val="100000"/>
            </a:pPr>
            <a:endParaRPr lang="sk-SK" dirty="0">
              <a:solidFill>
                <a:srgbClr val="FFFFFF"/>
              </a:solidFill>
              <a:latin typeface="Gotham Black"/>
            </a:endParaRPr>
          </a:p>
          <a:p>
            <a:pPr marL="285750" indent="-285750">
              <a:lnSpc>
                <a:spcPct val="112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Gotham Black"/>
              </a:rPr>
              <a:t>No mature recommendations</a:t>
            </a:r>
          </a:p>
          <a:p>
            <a:pPr marL="285750" indent="-285750">
              <a:lnSpc>
                <a:spcPct val="112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Gotham Black"/>
              </a:rPr>
              <a:t>No sensitive thumbnails</a:t>
            </a:r>
          </a:p>
          <a:p>
            <a:pPr marL="285750" indent="-285750">
              <a:lnSpc>
                <a:spcPct val="112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Gotham Black"/>
              </a:rPr>
              <a:t>Commercial protection non-negotiable</a:t>
            </a:r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5EAD8185-F69F-61FF-375C-AE4CD19A1685}"/>
              </a:ext>
            </a:extLst>
          </p:cNvPr>
          <p:cNvSpPr/>
          <p:nvPr/>
        </p:nvSpPr>
        <p:spPr>
          <a:xfrm>
            <a:off x="1411909" y="5696144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k-SK" b="1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PRINCIPLE TIE-IN</a:t>
            </a:r>
          </a:p>
          <a:p>
            <a:pPr marL="0" indent="0">
              <a:buNone/>
            </a:pPr>
            <a:r>
              <a:rPr lang="en-US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Trust &amp; Fair Value: clear labels, honest expectations, no tricks.</a:t>
            </a:r>
            <a:endParaRPr lang="en-US" dirty="0">
              <a:solidFill>
                <a:srgbClr val="FFFBB1"/>
              </a:solidFill>
              <a:latin typeface="Gotham Black"/>
            </a:endParaRPr>
          </a:p>
        </p:txBody>
      </p:sp>
      <p:pic>
        <p:nvPicPr>
          <p:cNvPr id="6" name="Picture 5" descr="Attention PNG transparent image download, size: 2400x2400px">
            <a:extLst>
              <a:ext uri="{FF2B5EF4-FFF2-40B4-BE49-F238E27FC236}">
                <a16:creationId xmlns:a16="http://schemas.microsoft.com/office/drawing/2014/main" id="{649DD960-64AC-8D21-59B4-942217C79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3796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E71061-2559-9FB2-11C2-0DF5082C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22" y="606523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Sensitive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themes</a:t>
            </a:r>
            <a:r>
              <a:rPr lang="sk-SK" dirty="0">
                <a:latin typeface="Gotham Black"/>
              </a:rPr>
              <a:t> &amp; </a:t>
            </a:r>
            <a:r>
              <a:rPr lang="sk-SK" dirty="0" err="1">
                <a:latin typeface="Gotham Black"/>
              </a:rPr>
              <a:t>enhanced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review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00F1602-798D-231C-15E8-1206214D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88</a:t>
            </a:fld>
            <a:endParaRPr lang="sk-SK" dirty="0"/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215AE30F-4686-0783-5F38-30E00AA5571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11187" y="1825625"/>
            <a:ext cx="5484813" cy="349408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b="1" dirty="0">
                <a:solidFill>
                  <a:srgbClr val="F7CD50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Sensitive themes (examples)</a:t>
            </a:r>
            <a:endParaRPr lang="en-US" b="1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endParaRPr lang="sk-SK" dirty="0">
              <a:solidFill>
                <a:srgbClr val="E8E8E8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Self-harm and suicide</a:t>
            </a:r>
            <a:endParaRPr lang="en-US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Domestic violence and abuse</a:t>
            </a:r>
            <a:endParaRPr lang="en-US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Sexual assault and exploitation</a:t>
            </a:r>
            <a:endParaRPr lang="en-US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Graphic violence or gore</a:t>
            </a:r>
            <a:endParaRPr lang="en-US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Hate speech, extremism, </a:t>
            </a:r>
            <a:r>
              <a:rPr lang="en-US" dirty="0" err="1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radicalisation</a:t>
            </a:r>
            <a:endParaRPr lang="en-US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Real-life tragedy </a:t>
            </a:r>
            <a:r>
              <a:rPr lang="en-US" dirty="0" err="1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dramatisation</a:t>
            </a: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 and war</a:t>
            </a:r>
            <a:endParaRPr lang="sk-SK" dirty="0">
              <a:latin typeface="Gotham Black"/>
            </a:endParaRP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04428277-BF82-3693-E2C9-9EBD6880E17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833755" y="1822450"/>
            <a:ext cx="4329113" cy="3758739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000" b="1" dirty="0">
                <a:solidFill>
                  <a:srgbClr val="F7CD50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Enhanced review includes</a:t>
            </a:r>
            <a:endParaRPr lang="en-US" sz="2000" b="1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endParaRPr lang="sk-SK" sz="2000" dirty="0">
              <a:solidFill>
                <a:srgbClr val="E8E8E8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Editorial sign-off</a:t>
            </a:r>
            <a:endParaRPr lang="en-US" sz="2000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Legal assessment</a:t>
            </a:r>
            <a:endParaRPr lang="en-US" sz="2000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PR risk review</a:t>
            </a:r>
            <a:endParaRPr lang="en-US" sz="2000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Marketing asset screening (trailers, thumbs, copy)</a:t>
            </a:r>
            <a:endParaRPr lang="sk-SK" sz="2000" dirty="0">
              <a:latin typeface="Gotham Black"/>
            </a:endParaRP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2946DB77-306E-C517-CC27-963E97D2E369}"/>
              </a:ext>
            </a:extLst>
          </p:cNvPr>
          <p:cNvSpPr txBox="1"/>
          <p:nvPr/>
        </p:nvSpPr>
        <p:spPr>
          <a:xfrm>
            <a:off x="1480134" y="5584364"/>
            <a:ext cx="8711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k-SK" sz="1800" b="1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KEY RULE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Marketing must never </a:t>
            </a:r>
            <a:r>
              <a:rPr lang="en-US" sz="1800" dirty="0" err="1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sensationalise</a:t>
            </a:r>
            <a:r>
              <a:rPr lang="en-US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 trauma or misrepresent tone.</a:t>
            </a:r>
            <a:endParaRPr lang="en-US" sz="1800" dirty="0">
              <a:solidFill>
                <a:srgbClr val="FFFBB1"/>
              </a:solidFill>
              <a:latin typeface="Gotham Black"/>
            </a:endParaRP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D1C9FA53-B0E7-CF8B-7752-A8C48819E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3305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385FBF-AAE3-F7FD-35AF-9722BFB13A05}"/>
              </a:ext>
            </a:extLst>
          </p:cNvPr>
          <p:cNvSpPr/>
          <p:nvPr/>
        </p:nvSpPr>
        <p:spPr>
          <a:xfrm>
            <a:off x="5707678" y="2066926"/>
            <a:ext cx="6022504" cy="2401165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endParaRPr lang="en-US" sz="2160">
              <a:latin typeface="Gotham Black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9F77E-5C2C-7559-FC9E-CA7E9559C0BE}"/>
              </a:ext>
            </a:extLst>
          </p:cNvPr>
          <p:cNvSpPr/>
          <p:nvPr/>
        </p:nvSpPr>
        <p:spPr>
          <a:xfrm>
            <a:off x="461818" y="1854339"/>
            <a:ext cx="4976957" cy="2613752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7C2DA8E-D380-6D9E-F26D-69D1A7182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90"/>
            <a:ext cx="9901382" cy="656164"/>
          </a:xfrm>
        </p:spPr>
        <p:txBody>
          <a:bodyPr>
            <a:normAutofit/>
          </a:bodyPr>
          <a:lstStyle/>
          <a:p>
            <a:r>
              <a:rPr lang="en-US" dirty="0">
                <a:latin typeface="Gotham Black"/>
              </a:rPr>
              <a:t>Editorial </a:t>
            </a:r>
            <a:r>
              <a:rPr lang="sk-SK" b="1" dirty="0">
                <a:latin typeface="Gotham Black"/>
              </a:rPr>
              <a:t>I</a:t>
            </a:r>
            <a:r>
              <a:rPr lang="en-US" b="1" dirty="0" err="1">
                <a:latin typeface="Gotham Black"/>
              </a:rPr>
              <a:t>ntegrity</a:t>
            </a:r>
            <a:r>
              <a:rPr lang="en-US" b="1" dirty="0">
                <a:latin typeface="Gotham Black"/>
              </a:rPr>
              <a:t> </a:t>
            </a:r>
            <a:r>
              <a:rPr lang="en-US" dirty="0">
                <a:latin typeface="Gotham Black"/>
              </a:rPr>
              <a:t>in </a:t>
            </a:r>
            <a:r>
              <a:rPr lang="sk-SK" dirty="0">
                <a:latin typeface="Gotham Black"/>
              </a:rPr>
              <a:t>M</a:t>
            </a:r>
            <a:r>
              <a:rPr lang="en-US" dirty="0" err="1">
                <a:latin typeface="Gotham Black"/>
              </a:rPr>
              <a:t>arketing</a:t>
            </a:r>
            <a:r>
              <a:rPr lang="en-US" dirty="0">
                <a:latin typeface="Gotham Black"/>
              </a:rPr>
              <a:t> </a:t>
            </a:r>
            <a:r>
              <a:rPr lang="sk-SK" dirty="0">
                <a:latin typeface="Gotham Black"/>
              </a:rPr>
              <a:t>A</a:t>
            </a:r>
            <a:r>
              <a:rPr lang="en-US" dirty="0" err="1">
                <a:latin typeface="Gotham Black"/>
              </a:rPr>
              <a:t>ssets</a:t>
            </a:r>
            <a:endParaRPr lang="sk-SK" dirty="0">
              <a:latin typeface="Gotham Black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456F2502-BB84-24D0-08DE-47E866B1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89</a:t>
            </a:fld>
            <a:endParaRPr lang="sk-SK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5EA6DFE-AF05-EC66-BEA9-D2D66C3D50E1}"/>
              </a:ext>
            </a:extLst>
          </p:cNvPr>
          <p:cNvSpPr/>
          <p:nvPr/>
        </p:nvSpPr>
        <p:spPr>
          <a:xfrm>
            <a:off x="461818" y="2149634"/>
            <a:ext cx="4678528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  <a:buSzPct val="100000"/>
            </a:pPr>
            <a:r>
              <a:rPr lang="sk-SK" b="1" dirty="0">
                <a:solidFill>
                  <a:srgbClr val="DB9E0A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DO</a:t>
            </a:r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endParaRPr lang="sk-SK" dirty="0">
              <a:solidFill>
                <a:srgbClr val="E8E8E8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Match the real tone, genre and intensity</a:t>
            </a:r>
            <a:endParaRPr lang="sk-SK" dirty="0">
              <a:latin typeface="Gotham Black"/>
            </a:endParaRPr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Use clear warnings where needed</a:t>
            </a:r>
            <a:endParaRPr lang="en-US" dirty="0">
              <a:latin typeface="Gotham Black"/>
            </a:endParaRPr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Respect sensitive themes in copy and visuals</a:t>
            </a:r>
            <a:endParaRPr lang="en-US" dirty="0">
              <a:latin typeface="Gotham Black"/>
            </a:endParaRPr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Protect talent — avoid hate-bait framing</a:t>
            </a:r>
            <a:endParaRPr lang="en-US" dirty="0">
              <a:latin typeface="Gotham Black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A1C2C00C-D73E-0F9F-813C-352E94CB485A}"/>
              </a:ext>
            </a:extLst>
          </p:cNvPr>
          <p:cNvSpPr txBox="1"/>
          <p:nvPr/>
        </p:nvSpPr>
        <p:spPr>
          <a:xfrm>
            <a:off x="5928852" y="2149634"/>
            <a:ext cx="6096000" cy="193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buSzPct val="100000"/>
            </a:pPr>
            <a:r>
              <a:rPr lang="en-US" sz="1800" b="1" noProof="0" dirty="0">
                <a:solidFill>
                  <a:srgbClr val="DB9E0A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DON'T </a:t>
            </a:r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endParaRPr lang="en-US" noProof="0" dirty="0">
              <a:solidFill>
                <a:srgbClr val="E8E8E8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noProof="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Clickbait thumbnails and misleading trailers</a:t>
            </a:r>
            <a:endParaRPr lang="en-US" sz="1800" noProof="0" dirty="0">
              <a:latin typeface="Gotham Black"/>
            </a:endParaRPr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noProof="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Out-of-context edits designed to provoke</a:t>
            </a:r>
            <a:endParaRPr lang="en-US" sz="1800" noProof="0" dirty="0">
              <a:latin typeface="Gotham Black"/>
            </a:endParaRPr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noProof="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Artificial controversy or “manufactured outrage”</a:t>
            </a:r>
            <a:endParaRPr lang="en-US" sz="1800" noProof="0" dirty="0">
              <a:latin typeface="Gotham Black"/>
            </a:endParaRPr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noProof="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Misrepresenting “true story” claims</a:t>
            </a:r>
            <a:endParaRPr lang="en-US" sz="1800" noProof="0" dirty="0">
              <a:latin typeface="Gotham Black"/>
            </a:endParaRP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A809D0C8-DE21-73AF-39DE-1F9B9E147964}"/>
              </a:ext>
            </a:extLst>
          </p:cNvPr>
          <p:cNvSpPr txBox="1"/>
          <p:nvPr/>
        </p:nvSpPr>
        <p:spPr>
          <a:xfrm>
            <a:off x="1451742" y="5453691"/>
            <a:ext cx="10009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k-SK" sz="1800" b="1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REALITY FORMATS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Extra care: promotion can drive disproportionate online harassment toward participants.</a:t>
            </a:r>
            <a:endParaRPr lang="en-US" sz="1800" dirty="0">
              <a:solidFill>
                <a:srgbClr val="FFFBB1"/>
              </a:solidFill>
              <a:latin typeface="Gotham Black"/>
            </a:endParaRPr>
          </a:p>
        </p:txBody>
      </p:sp>
      <p:pic>
        <p:nvPicPr>
          <p:cNvPr id="4" name="Picture 3" descr="Attention PNG transparent image download, size: 2400x2400px">
            <a:extLst>
              <a:ext uri="{FF2B5EF4-FFF2-40B4-BE49-F238E27FC236}">
                <a16:creationId xmlns:a16="http://schemas.microsoft.com/office/drawing/2014/main" id="{4DFC3346-710E-9AAD-5135-FEDC44553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31732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B07401-3055-3143-22B3-07F3753C5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93516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Advertising</a:t>
            </a:r>
            <a:r>
              <a:rPr lang="sk-SK" dirty="0">
                <a:latin typeface="Gotham Black"/>
              </a:rPr>
              <a:t> &amp; Commercial </a:t>
            </a:r>
            <a:r>
              <a:rPr lang="sk-SK" dirty="0" err="1">
                <a:latin typeface="Gotham Black"/>
              </a:rPr>
              <a:t>Suitability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D56BB0-A844-CC8F-3701-300AC13C3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997710"/>
            <a:ext cx="11277600" cy="1260475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Ad placements must respect contextual sensitivity and audience expectations.</a:t>
            </a:r>
            <a:endParaRPr lang="en-US" sz="2000" dirty="0">
              <a:latin typeface="Gotham Black"/>
            </a:endParaRPr>
          </a:p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Advertisers can opt out of higher-sensitivity environments (Amber/Red).</a:t>
            </a:r>
            <a:endParaRPr lang="en-US" sz="2000" dirty="0">
              <a:latin typeface="Gotham Black"/>
            </a:endParaRPr>
          </a:p>
          <a:p>
            <a:pPr marL="0" indent="0">
              <a:buNone/>
            </a:pPr>
            <a:endParaRPr lang="sk-SK" sz="20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F421283-ADB8-68E7-1D0D-4A4512350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90</a:t>
            </a:fld>
            <a:endParaRPr lang="sk-SK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05421E5A-FEAC-EDD6-B4CB-1183B152D91D}"/>
              </a:ext>
            </a:extLst>
          </p:cNvPr>
          <p:cNvSpPr/>
          <p:nvPr/>
        </p:nvSpPr>
        <p:spPr>
          <a:xfrm>
            <a:off x="461818" y="3333214"/>
            <a:ext cx="10637215" cy="2011680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txBody>
          <a:bodyPr wrap="square" rtlCol="0" anchor="t"/>
          <a:lstStyle/>
          <a:p>
            <a:pPr>
              <a:lnSpc>
                <a:spcPct val="115000"/>
              </a:lnSpc>
              <a:buSzPct val="100000"/>
            </a:pPr>
            <a:r>
              <a:rPr lang="en-US" b="1" dirty="0">
                <a:solidFill>
                  <a:srgbClr val="F7CD50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Prohibited adjacencies (examples)</a:t>
            </a:r>
            <a:endParaRPr lang="en-US" b="1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endParaRPr lang="sk-SK" sz="1600" dirty="0">
              <a:solidFill>
                <a:srgbClr val="E8E8E8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Alcohol next to Kids content or Kids profiles</a:t>
            </a:r>
            <a:endParaRPr lang="en-US" sz="1600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Betting near minors-focused programming or under-18 environments</a:t>
            </a:r>
            <a:endParaRPr lang="en-US" sz="1600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Political ads next to politically sensitive documentaries</a:t>
            </a:r>
            <a:endParaRPr lang="en-US" sz="1600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Direct OTT competitors inside the VOYO ecosystem</a:t>
            </a:r>
            <a:endParaRPr lang="en-US" sz="1600" dirty="0">
              <a:latin typeface="Gotham Black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FEE38D7D-377F-D21A-FEF2-D6CBE7FBF348}"/>
              </a:ext>
            </a:extLst>
          </p:cNvPr>
          <p:cNvSpPr txBox="1"/>
          <p:nvPr/>
        </p:nvSpPr>
        <p:spPr>
          <a:xfrm>
            <a:off x="1385743" y="5621328"/>
            <a:ext cx="8490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k-SK" sz="1800" b="1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KEY RULE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When in doubt: choose the safer adjacency — or escalate for review.</a:t>
            </a:r>
            <a:endParaRPr lang="en-US" sz="1800" dirty="0">
              <a:solidFill>
                <a:srgbClr val="FFFBB1"/>
              </a:solidFill>
              <a:latin typeface="Gotham Black"/>
            </a:endParaRPr>
          </a:p>
        </p:txBody>
      </p:sp>
      <p:cxnSp>
        <p:nvCxnSpPr>
          <p:cNvPr id="6" name="Rovná spojnica 6">
            <a:extLst>
              <a:ext uri="{FF2B5EF4-FFF2-40B4-BE49-F238E27FC236}">
                <a16:creationId xmlns:a16="http://schemas.microsoft.com/office/drawing/2014/main" id="{E4C8DAF5-3B89-5A26-F852-76664612BFD3}"/>
              </a:ext>
            </a:extLst>
          </p:cNvPr>
          <p:cNvCxnSpPr>
            <a:cxnSpLocks/>
          </p:cNvCxnSpPr>
          <p:nvPr/>
        </p:nvCxnSpPr>
        <p:spPr>
          <a:xfrm>
            <a:off x="442767" y="149606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ttention PNG transparent image download, size: 2400x2400px">
            <a:extLst>
              <a:ext uri="{FF2B5EF4-FFF2-40B4-BE49-F238E27FC236}">
                <a16:creationId xmlns:a16="http://schemas.microsoft.com/office/drawing/2014/main" id="{A4AE10A6-F3FE-4E80-326E-C466A7E47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47112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F7C810-5BA6-DC9E-EFB9-8D8443FA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09" y="611892"/>
            <a:ext cx="9901382" cy="656164"/>
          </a:xfrm>
        </p:spPr>
        <p:txBody>
          <a:bodyPr>
            <a:noAutofit/>
          </a:bodyPr>
          <a:lstStyle/>
          <a:p>
            <a:r>
              <a:rPr lang="sk-SK" sz="4000" dirty="0" err="1">
                <a:latin typeface="Gotham Black"/>
              </a:rPr>
              <a:t>Suitability</a:t>
            </a:r>
            <a:r>
              <a:rPr lang="sk-SK" sz="4000" dirty="0">
                <a:latin typeface="Gotham Black"/>
              </a:rPr>
              <a:t> </a:t>
            </a:r>
            <a:r>
              <a:rPr lang="sk-SK" sz="4000" b="1" dirty="0" err="1">
                <a:latin typeface="Gotham Black"/>
              </a:rPr>
              <a:t>zones</a:t>
            </a:r>
            <a:r>
              <a:rPr lang="sk-SK" sz="4000" dirty="0">
                <a:latin typeface="Gotham Black"/>
              </a:rPr>
              <a:t> (</a:t>
            </a:r>
            <a:r>
              <a:rPr lang="sk-SK" sz="4000" dirty="0" err="1">
                <a:latin typeface="Gotham Black"/>
              </a:rPr>
              <a:t>Green</a:t>
            </a:r>
            <a:r>
              <a:rPr lang="sk-SK" sz="4000" dirty="0">
                <a:latin typeface="Gotham Black"/>
              </a:rPr>
              <a:t> / </a:t>
            </a:r>
            <a:r>
              <a:rPr lang="sk-SK" sz="4000" dirty="0" err="1">
                <a:latin typeface="Gotham Black"/>
              </a:rPr>
              <a:t>Amber</a:t>
            </a:r>
            <a:r>
              <a:rPr lang="sk-SK" sz="4000" dirty="0">
                <a:latin typeface="Gotham Black"/>
              </a:rPr>
              <a:t> / </a:t>
            </a:r>
            <a:r>
              <a:rPr lang="sk-SK" sz="4000" dirty="0" err="1">
                <a:latin typeface="Gotham Black"/>
              </a:rPr>
              <a:t>Red</a:t>
            </a:r>
            <a:r>
              <a:rPr lang="sk-SK" sz="4000" dirty="0">
                <a:latin typeface="Gotham Black"/>
              </a:rPr>
              <a:t>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5F82504-07D0-8EB0-67FF-2DE95630C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91</a:t>
            </a:fld>
            <a:endParaRPr lang="sk-SK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C600325-E7EA-9814-4D09-34B6586114F8}"/>
              </a:ext>
            </a:extLst>
          </p:cNvPr>
          <p:cNvSpPr/>
          <p:nvPr/>
        </p:nvSpPr>
        <p:spPr>
          <a:xfrm>
            <a:off x="777392" y="1978794"/>
            <a:ext cx="10637215" cy="1188720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/>
          <a:lstStyle/>
          <a:p>
            <a:endParaRPr lang="en-GB">
              <a:latin typeface="Gotham Black"/>
              <a:ea typeface="Gotham Ligh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17D8D1-453A-5D18-2229-4D979FED83B8}"/>
              </a:ext>
            </a:extLst>
          </p:cNvPr>
          <p:cNvSpPr/>
          <p:nvPr/>
        </p:nvSpPr>
        <p:spPr>
          <a:xfrm>
            <a:off x="1005992" y="216167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CD50"/>
                </a:solidFill>
                <a:latin typeface="Gotham Black"/>
                <a:ea typeface="Gotham Light"/>
                <a:cs typeface="Gotham Book" pitchFamily="34" charset="-120"/>
              </a:rPr>
              <a:t>GREEN</a:t>
            </a:r>
            <a:endParaRPr lang="en-US" sz="1200" dirty="0">
              <a:latin typeface="Gotham Black"/>
              <a:ea typeface="Gotham Light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47E07B-840C-40CE-D1FF-9F31EE430AB9}"/>
              </a:ext>
            </a:extLst>
          </p:cNvPr>
          <p:cNvSpPr/>
          <p:nvPr/>
        </p:nvSpPr>
        <p:spPr>
          <a:xfrm>
            <a:off x="2011832" y="2097666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otham Black"/>
                <a:ea typeface="Gotham Light"/>
                <a:cs typeface="Gotham Light" pitchFamily="34" charset="-120"/>
              </a:rPr>
              <a:t>Universally suitable</a:t>
            </a:r>
            <a:endParaRPr lang="en-US" sz="2000" dirty="0">
              <a:latin typeface="Gotham Black"/>
              <a:ea typeface="Gotham Light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A506747-C11C-DC1D-88DC-A15EFF14049B}"/>
              </a:ext>
            </a:extLst>
          </p:cNvPr>
          <p:cNvSpPr/>
          <p:nvPr/>
        </p:nvSpPr>
        <p:spPr>
          <a:xfrm>
            <a:off x="2011832" y="2481714"/>
            <a:ext cx="9174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Family, lifestyle, light entertainment. Standard placement and broad advertise suitability.</a:t>
            </a:r>
            <a:endParaRPr lang="en-US" sz="1400" dirty="0">
              <a:latin typeface="Gotham Black"/>
              <a:ea typeface="Gotham Light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62580F1-20C9-4CE0-2317-DCF7D1A1232A}"/>
              </a:ext>
            </a:extLst>
          </p:cNvPr>
          <p:cNvSpPr/>
          <p:nvPr/>
        </p:nvSpPr>
        <p:spPr>
          <a:xfrm>
            <a:off x="777392" y="3441834"/>
            <a:ext cx="10637215" cy="1188720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/>
          <a:lstStyle/>
          <a:p>
            <a:endParaRPr lang="en-GB">
              <a:latin typeface="Gotham Black"/>
              <a:ea typeface="Gotham Light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F55E911-1A34-EAB8-DBDD-41E52988688F}"/>
              </a:ext>
            </a:extLst>
          </p:cNvPr>
          <p:cNvSpPr/>
          <p:nvPr/>
        </p:nvSpPr>
        <p:spPr>
          <a:xfrm>
            <a:off x="1005992" y="362471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CD50"/>
                </a:solidFill>
                <a:latin typeface="Gotham Black"/>
                <a:ea typeface="Gotham Light"/>
                <a:cs typeface="Gotham Book" pitchFamily="34" charset="-120"/>
              </a:rPr>
              <a:t>AMBER</a:t>
            </a:r>
            <a:endParaRPr lang="en-US" sz="1200" dirty="0">
              <a:latin typeface="Gotham Black"/>
              <a:ea typeface="Gotham Light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BB9D1D6-6DAD-24FD-28CC-2D20033C0FBA}"/>
              </a:ext>
            </a:extLst>
          </p:cNvPr>
          <p:cNvSpPr/>
          <p:nvPr/>
        </p:nvSpPr>
        <p:spPr>
          <a:xfrm>
            <a:off x="2011832" y="3560706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otham Black"/>
                <a:ea typeface="Gotham Light"/>
                <a:cs typeface="Gotham Light" pitchFamily="34" charset="-120"/>
              </a:rPr>
              <a:t>Contextual review</a:t>
            </a:r>
            <a:endParaRPr lang="en-US" sz="2000" dirty="0">
              <a:latin typeface="Gotham Black"/>
              <a:ea typeface="Gotham Light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E76AF2A-2E45-9EE4-5A3B-DC7C00728CEB}"/>
              </a:ext>
            </a:extLst>
          </p:cNvPr>
          <p:cNvSpPr/>
          <p:nvPr/>
        </p:nvSpPr>
        <p:spPr>
          <a:xfrm>
            <a:off x="2011832" y="3944754"/>
            <a:ext cx="9174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Reality, competitive formats, contact sports. Review tone and adjacency before major campaigns</a:t>
            </a:r>
            <a:endParaRPr lang="en-US" sz="1400" dirty="0">
              <a:latin typeface="Gotham Black"/>
              <a:ea typeface="Gotham Light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8E2EC90-3F56-B848-92EE-81AA296F076A}"/>
              </a:ext>
            </a:extLst>
          </p:cNvPr>
          <p:cNvSpPr/>
          <p:nvPr/>
        </p:nvSpPr>
        <p:spPr>
          <a:xfrm>
            <a:off x="777392" y="4901004"/>
            <a:ext cx="10637215" cy="1188720"/>
          </a:xfrm>
          <a:prstGeom prst="rect">
            <a:avLst/>
          </a:prstGeom>
          <a:noFill/>
          <a:ln w="12700">
            <a:solidFill>
              <a:srgbClr val="FFFBB1"/>
            </a:solidFill>
            <a:prstDash val="solid"/>
          </a:ln>
        </p:spPr>
        <p:txBody>
          <a:bodyPr/>
          <a:lstStyle/>
          <a:p>
            <a:endParaRPr lang="en-GB">
              <a:latin typeface="Gotham Black"/>
              <a:ea typeface="Gotham Light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42F37F0-911B-0C6C-16F8-E1E94965B363}"/>
              </a:ext>
            </a:extLst>
          </p:cNvPr>
          <p:cNvSpPr/>
          <p:nvPr/>
        </p:nvSpPr>
        <p:spPr>
          <a:xfrm>
            <a:off x="1120292" y="506483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CD50"/>
                </a:solidFill>
                <a:latin typeface="Gotham Black"/>
                <a:ea typeface="Gotham Light"/>
                <a:cs typeface="Gotham Book" pitchFamily="34" charset="-120"/>
              </a:rPr>
              <a:t>RED</a:t>
            </a:r>
            <a:endParaRPr lang="en-US" sz="1200" dirty="0">
              <a:latin typeface="Gotham Black"/>
              <a:ea typeface="Gotham Light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271DB60-969B-21D8-04FE-52E4F63A45DB}"/>
              </a:ext>
            </a:extLst>
          </p:cNvPr>
          <p:cNvSpPr/>
          <p:nvPr/>
        </p:nvSpPr>
        <p:spPr>
          <a:xfrm>
            <a:off x="2011832" y="5019876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Gotham Black"/>
                <a:ea typeface="Gotham Light"/>
                <a:cs typeface="Gotham Light" pitchFamily="34" charset="-120"/>
              </a:rPr>
              <a:t>Restricted placement</a:t>
            </a:r>
            <a:endParaRPr lang="en-US" sz="2000" dirty="0">
              <a:latin typeface="Gotham Black"/>
              <a:ea typeface="Gotham Light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8EAFF37-AACA-3930-5765-6DF15C71B23B}"/>
              </a:ext>
            </a:extLst>
          </p:cNvPr>
          <p:cNvSpPr/>
          <p:nvPr/>
        </p:nvSpPr>
        <p:spPr>
          <a:xfrm>
            <a:off x="2011832" y="5403924"/>
            <a:ext cx="9174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Gotham Black"/>
                <a:ea typeface="Gotham Light"/>
                <a:cs typeface="Gotham Book" pitchFamily="34" charset="-120"/>
              </a:rPr>
              <a:t>Crime, explicit drama, investigative, high-sensitivity themes. Restricted adjacency; enhanced review required</a:t>
            </a:r>
            <a:endParaRPr lang="en-US" sz="1400" dirty="0">
              <a:latin typeface="Gotham Black"/>
              <a:ea typeface="Gotham Light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1A9E42E-DFE2-AB28-10EC-C024E33A103D}"/>
              </a:ext>
            </a:extLst>
          </p:cNvPr>
          <p:cNvSpPr/>
          <p:nvPr/>
        </p:nvSpPr>
        <p:spPr>
          <a:xfrm>
            <a:off x="1053617" y="2472189"/>
            <a:ext cx="564032" cy="56403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4ABD66E-479D-2A53-9167-03E9048021DC}"/>
              </a:ext>
            </a:extLst>
          </p:cNvPr>
          <p:cNvSpPr/>
          <p:nvPr/>
        </p:nvSpPr>
        <p:spPr>
          <a:xfrm>
            <a:off x="1053617" y="3935229"/>
            <a:ext cx="564032" cy="56403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983285-1E66-D6C2-921D-5FF2B2BE2C61}"/>
              </a:ext>
            </a:extLst>
          </p:cNvPr>
          <p:cNvSpPr/>
          <p:nvPr/>
        </p:nvSpPr>
        <p:spPr>
          <a:xfrm>
            <a:off x="1053617" y="5408147"/>
            <a:ext cx="564032" cy="56403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310736434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155245-9892-69D4-7671-AC0BC984BB51}"/>
              </a:ext>
            </a:extLst>
          </p:cNvPr>
          <p:cNvSpPr/>
          <p:nvPr/>
        </p:nvSpPr>
        <p:spPr>
          <a:xfrm>
            <a:off x="461818" y="1854339"/>
            <a:ext cx="4976957" cy="3317734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endParaRPr lang="en-US" sz="2160">
              <a:latin typeface="Gotham Black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017BDBC-0D21-6ED2-C8A6-A1530650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sz="4000" dirty="0" err="1">
                <a:latin typeface="Gotham Black"/>
              </a:rPr>
              <a:t>Social</a:t>
            </a:r>
            <a:r>
              <a:rPr lang="sk-SK" sz="4000" dirty="0">
                <a:latin typeface="Gotham Black"/>
              </a:rPr>
              <a:t> </a:t>
            </a:r>
            <a:r>
              <a:rPr lang="sk-SK" sz="4000" dirty="0" err="1">
                <a:latin typeface="Gotham Black"/>
              </a:rPr>
              <a:t>Media</a:t>
            </a:r>
            <a:r>
              <a:rPr lang="sk-SK" sz="4000" dirty="0">
                <a:latin typeface="Gotham Black"/>
              </a:rPr>
              <a:t> &amp; </a:t>
            </a:r>
            <a:r>
              <a:rPr lang="sk-SK" sz="4000" b="1" dirty="0" err="1">
                <a:latin typeface="Gotham Black"/>
              </a:rPr>
              <a:t>Community</a:t>
            </a:r>
            <a:r>
              <a:rPr lang="sk-SK" sz="4000" dirty="0">
                <a:latin typeface="Gotham Black"/>
              </a:rPr>
              <a:t> </a:t>
            </a:r>
            <a:r>
              <a:rPr lang="sk-SK" sz="4000" dirty="0" err="1">
                <a:latin typeface="Gotham Black"/>
              </a:rPr>
              <a:t>Protection</a:t>
            </a:r>
            <a:endParaRPr lang="sk-SK" sz="40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A58D6F5-AF57-3FB4-B28C-4353D315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92</a:t>
            </a:fld>
            <a:endParaRPr lang="sk-SK"/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747419E6-BF5D-31FF-5047-BEE8CAC4BB1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946631" y="1841183"/>
            <a:ext cx="548481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1800" b="1" dirty="0">
                <a:solidFill>
                  <a:srgbClr val="DB9E0A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ESCALATION FRAMEWORK</a:t>
            </a:r>
            <a:endParaRPr lang="sk-SK" sz="1800" b="1" dirty="0">
              <a:solidFill>
                <a:srgbClr val="DB9E0A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endParaRPr lang="sk-SK" sz="1800" dirty="0">
              <a:solidFill>
                <a:srgbClr val="E8E8E8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Monitor → clarify facts</a:t>
            </a:r>
            <a:endParaRPr lang="en-US" sz="1800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Respond with tone aligned to the brand</a:t>
            </a:r>
            <a:endParaRPr lang="en-US" sz="1800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Escalate high-risk topics to PR/Legal</a:t>
            </a:r>
            <a:endParaRPr lang="en-US" sz="1800" dirty="0">
              <a:latin typeface="Gotham Black"/>
            </a:endParaRPr>
          </a:p>
          <a:p>
            <a:pPr>
              <a:lnSpc>
                <a:spcPct val="115000"/>
              </a:lnSpc>
              <a:buSzPct val="100000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Document decisions and actions</a:t>
            </a:r>
            <a:endParaRPr lang="en-US" sz="1800" dirty="0">
              <a:latin typeface="Gotham Black"/>
            </a:endParaRPr>
          </a:p>
          <a:p>
            <a:endParaRPr lang="sk-SK" sz="1800" dirty="0">
              <a:latin typeface="Gotham Black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FA92A71-2EDA-1489-2F4C-281ED700DC2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34975" y="1841183"/>
            <a:ext cx="5484813" cy="43513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SzPct val="100000"/>
              <a:buNone/>
            </a:pPr>
            <a:r>
              <a:rPr lang="en-US" sz="2000" b="1" dirty="0">
                <a:solidFill>
                  <a:srgbClr val="DB9E0A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ZERO TOLERANCE</a:t>
            </a:r>
            <a:endParaRPr lang="sk-SK" sz="1800" b="1" dirty="0">
              <a:solidFill>
                <a:srgbClr val="DB9E0A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sk-SK" sz="1800" dirty="0">
              <a:solidFill>
                <a:srgbClr val="E8E8E8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Hate speech and discrimination</a:t>
            </a:r>
            <a:endParaRPr lang="en-US" sz="1800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Harassment of talent or other users</a:t>
            </a:r>
            <a:endParaRPr lang="en-US" sz="1800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Threats and encouragement of violence</a:t>
            </a:r>
            <a:endParaRPr lang="en-US" sz="1800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Misinformation that may cause harm</a:t>
            </a:r>
            <a:endParaRPr lang="en-US" sz="1800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Promotion of illegal activity</a:t>
            </a:r>
            <a:endParaRPr lang="en-US" sz="1800" dirty="0">
              <a:latin typeface="Gotham Black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5C5181F1-803F-9EBF-8DF2-6AB68301D542}"/>
              </a:ext>
            </a:extLst>
          </p:cNvPr>
          <p:cNvSpPr txBox="1"/>
          <p:nvPr/>
        </p:nvSpPr>
        <p:spPr>
          <a:xfrm>
            <a:off x="1403772" y="5453691"/>
            <a:ext cx="9172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k-SK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SLA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High-risk topics: response plan within 24 hours; PR informed before publishing statement</a:t>
            </a:r>
            <a:r>
              <a:rPr lang="sk-SK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</a:t>
            </a:r>
            <a:endParaRPr lang="en-US" sz="1800" dirty="0">
              <a:solidFill>
                <a:srgbClr val="FFFBB1"/>
              </a:solidFill>
              <a:latin typeface="Gotham Black"/>
            </a:endParaRP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398B6802-FC55-1217-6C78-C0470C5AF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69614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1BDCCD-FC89-8B77-DCE1-175FBD4F7D2E}"/>
              </a:ext>
            </a:extLst>
          </p:cNvPr>
          <p:cNvSpPr/>
          <p:nvPr/>
        </p:nvSpPr>
        <p:spPr>
          <a:xfrm>
            <a:off x="5757718" y="1841183"/>
            <a:ext cx="5596082" cy="3317734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otham Black"/>
            </a:endParaRPr>
          </a:p>
        </p:txBody>
      </p:sp>
    </p:spTree>
    <p:extLst>
      <p:ext uri="{BB962C8B-B14F-4D97-AF65-F5344CB8AC3E}">
        <p14:creationId xmlns:p14="http://schemas.microsoft.com/office/powerpoint/2010/main" val="15115189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78B1F1-255E-49E2-3D6A-D11E7D101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900"/>
            <a:ext cx="9901382" cy="65616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k-SK" sz="4000" dirty="0">
                <a:latin typeface="Gotham Black"/>
              </a:rPr>
              <a:t>Talent &amp; </a:t>
            </a:r>
            <a:r>
              <a:rPr lang="sk-SK" sz="4000" dirty="0" err="1">
                <a:latin typeface="Gotham Black"/>
              </a:rPr>
              <a:t>Influencer</a:t>
            </a:r>
            <a:r>
              <a:rPr lang="sk-SK" sz="4000" dirty="0">
                <a:latin typeface="Gotham Black"/>
              </a:rPr>
              <a:t> </a:t>
            </a:r>
            <a:r>
              <a:rPr lang="sk-SK" sz="4000" dirty="0" err="1">
                <a:latin typeface="Gotham Black"/>
              </a:rPr>
              <a:t>Governance</a:t>
            </a:r>
            <a:endParaRPr lang="sk-SK" sz="4000" dirty="0">
              <a:latin typeface="Gotham Black"/>
            </a:endParaRP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0C51544D-548B-3F19-465D-EC4046506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274" y="1825624"/>
            <a:ext cx="8015143" cy="3803647"/>
          </a:xfrm>
        </p:spPr>
        <p:txBody>
          <a:bodyPr>
            <a:normAutofit/>
          </a:bodyPr>
          <a:lstStyle/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Code of Conduct 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for talent and influencers working with VOYO</a:t>
            </a:r>
            <a:endParaRPr lang="en-US" sz="2400" dirty="0">
              <a:latin typeface="Gotham Black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Non-discrimination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 and anti-harassment standards</a:t>
            </a:r>
            <a:endParaRPr lang="en-US" sz="2400" dirty="0">
              <a:latin typeface="Gotham Black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Social media 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responsibility (especially during sensitive news moments)</a:t>
            </a:r>
            <a:endParaRPr lang="en-US" sz="2400" dirty="0">
              <a:latin typeface="Gotham Black"/>
            </a:endParaRPr>
          </a:p>
          <a:p>
            <a:pPr marL="243840" indent="-243840">
              <a:lnSpc>
                <a:spcPct val="115000"/>
              </a:lnSpc>
              <a:buSzPct val="100000"/>
            </a:pPr>
            <a:r>
              <a:rPr lang="en-US" sz="2400" b="1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Morality</a:t>
            </a:r>
            <a:r>
              <a:rPr lang="en-US" sz="24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 clauses where applicable for major partnerships</a:t>
            </a:r>
            <a:endParaRPr lang="en-US" sz="2400" dirty="0">
              <a:latin typeface="Gotham Black"/>
            </a:endParaRPr>
          </a:p>
          <a:p>
            <a:pPr marL="0" indent="0">
              <a:buNone/>
            </a:pPr>
            <a:endParaRPr lang="sk-SK" sz="2400" dirty="0">
              <a:latin typeface="Gotham Black"/>
            </a:endParaRP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F3812736-9058-0449-2022-74039296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>
                <a:latin typeface="Gotham Black"/>
              </a:rPr>
              <a:t>93</a:t>
            </a:fld>
            <a:endParaRPr lang="sk-SK"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EB04C5AD-1145-79EC-58BC-75D6F4EC1827}"/>
              </a:ext>
            </a:extLst>
          </p:cNvPr>
          <p:cNvSpPr txBox="1"/>
          <p:nvPr/>
        </p:nvSpPr>
        <p:spPr>
          <a:xfrm>
            <a:off x="1562101" y="5710019"/>
            <a:ext cx="83401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IF A CRISIS OCCURS</a:t>
            </a:r>
            <a:endParaRPr lang="sk-SK" sz="1800" b="1" dirty="0">
              <a:solidFill>
                <a:srgbClr val="FFFBB1"/>
              </a:solidFill>
              <a:latin typeface="Gotham Black"/>
              <a:ea typeface="Gotham Book" pitchFamily="34" charset="-122"/>
              <a:cs typeface="Gotham Book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FBB1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Pause campaigns if needed, align with PR/Legal, and follow an agreed statement protocol</a:t>
            </a:r>
            <a:endParaRPr lang="en-US" sz="1800" dirty="0">
              <a:solidFill>
                <a:srgbClr val="FFFBB1"/>
              </a:solidFill>
              <a:latin typeface="Gotham Black"/>
            </a:endParaRPr>
          </a:p>
        </p:txBody>
      </p:sp>
      <p:pic>
        <p:nvPicPr>
          <p:cNvPr id="4" name="Picture 3" descr="Attention PNG transparent image download, size: 2400x2400px">
            <a:extLst>
              <a:ext uri="{FF2B5EF4-FFF2-40B4-BE49-F238E27FC236}">
                <a16:creationId xmlns:a16="http://schemas.microsoft.com/office/drawing/2014/main" id="{0BE08E59-7BF5-EE7D-3540-8BD440F1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7926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27271F-E7E1-4615-693C-963FAEDA0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48199"/>
            <a:ext cx="2524415" cy="271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5437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DB986B-0ED8-55F5-C0C0-113BDB44A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3543"/>
            <a:ext cx="9901382" cy="6561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Brand risk scoring &amp; governance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6DB1C40-B8E2-6480-8F14-BB8FDE04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94</a:t>
            </a:fld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76F49FCA-EF5B-9DA9-6741-436A05349B17}"/>
              </a:ext>
            </a:extLst>
          </p:cNvPr>
          <p:cNvSpPr txBox="1"/>
          <p:nvPr/>
        </p:nvSpPr>
        <p:spPr>
          <a:xfrm>
            <a:off x="461818" y="1615818"/>
            <a:ext cx="112469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7CD50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Purpose</a:t>
            </a:r>
            <a:endParaRPr lang="en-US" sz="2000" b="1" dirty="0">
              <a:latin typeface="Gotham Black"/>
            </a:endParaRPr>
          </a:p>
          <a:p>
            <a:pPr marL="0" indent="0">
              <a:buNone/>
            </a:pPr>
            <a:endParaRPr lang="sk-SK" sz="2000" dirty="0">
              <a:solidFill>
                <a:srgbClr val="E8E8E8"/>
              </a:solidFill>
              <a:latin typeface="Montserrat" panose="00000500000000000000" pitchFamily="2" charset="0"/>
              <a:ea typeface="Gotham Book" pitchFamily="34" charset="-122"/>
              <a:cs typeface="Gotham Book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Evaluate reputational, legal and commercial exposure before acquisition, publication, or major campaigns.</a:t>
            </a:r>
            <a:endParaRPr lang="en-US" sz="2000" dirty="0">
              <a:latin typeface="Gotham Black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B729EEE-AFE0-A65C-F7EA-EB55EB06098B}"/>
              </a:ext>
            </a:extLst>
          </p:cNvPr>
          <p:cNvSpPr/>
          <p:nvPr/>
        </p:nvSpPr>
        <p:spPr>
          <a:xfrm>
            <a:off x="483220" y="3028643"/>
            <a:ext cx="5669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buSzPct val="100000"/>
            </a:pPr>
            <a:r>
              <a:rPr lang="en-US" sz="2000" b="1" dirty="0">
                <a:solidFill>
                  <a:srgbClr val="F7CD50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Risk pillars (score 1–5</a:t>
            </a:r>
            <a:r>
              <a:rPr lang="sk-SK" sz="2000" b="1" dirty="0">
                <a:solidFill>
                  <a:srgbClr val="F7CD50"/>
                </a:solidFill>
                <a:latin typeface="Montserrat" panose="00000500000000000000" pitchFamily="2" charset="0"/>
                <a:ea typeface="Gotham Book" pitchFamily="34" charset="-122"/>
                <a:cs typeface="Gotham Book" pitchFamily="34" charset="-120"/>
              </a:rPr>
              <a:t>)</a:t>
            </a:r>
            <a:endParaRPr lang="sk-SK" b="1" dirty="0">
              <a:solidFill>
                <a:srgbClr val="E8E8E8"/>
              </a:solidFill>
              <a:latin typeface="Montserrat" panose="00000500000000000000" pitchFamily="2" charset="0"/>
              <a:ea typeface="Gotham Book" pitchFamily="34" charset="-122"/>
              <a:cs typeface="Gotham Book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sk-SK" dirty="0">
              <a:solidFill>
                <a:srgbClr val="E8E8E8"/>
              </a:solidFill>
              <a:latin typeface="Montserrat" panose="00000500000000000000" pitchFamily="2" charset="0"/>
              <a:ea typeface="Gotham Book" pitchFamily="34" charset="-122"/>
              <a:cs typeface="Gotham Book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Content sensitivity</a:t>
            </a:r>
            <a:endParaRPr lang="en-US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Cultural / political sensitivity</a:t>
            </a:r>
            <a:endParaRPr lang="en-US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Legal &amp; regulatory exposure</a:t>
            </a:r>
            <a:endParaRPr lang="en-US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Talent volatility</a:t>
            </a:r>
            <a:endParaRPr lang="en-US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Commercial suitability</a:t>
            </a:r>
            <a:endParaRPr lang="en-US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Social virality risk</a:t>
            </a:r>
            <a:endParaRPr lang="en-US" dirty="0">
              <a:latin typeface="Gotham Black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F09EF9A-32D5-D540-26E9-1ED8EDB8A8B9}"/>
              </a:ext>
            </a:extLst>
          </p:cNvPr>
          <p:cNvSpPr/>
          <p:nvPr/>
        </p:nvSpPr>
        <p:spPr>
          <a:xfrm>
            <a:off x="5087186" y="3028643"/>
            <a:ext cx="6621594" cy="2374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buSzPct val="100000"/>
            </a:pPr>
            <a:r>
              <a:rPr lang="en-US" sz="2000" b="1" dirty="0">
                <a:solidFill>
                  <a:srgbClr val="F7CD50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Governance (for high-risk)</a:t>
            </a:r>
            <a:endParaRPr lang="sk-SK" b="1" dirty="0">
              <a:solidFill>
                <a:srgbClr val="E8E8E8"/>
              </a:solidFill>
              <a:latin typeface="Montserrat" panose="00000500000000000000" pitchFamily="2" charset="0"/>
              <a:ea typeface="Gotham Book" pitchFamily="34" charset="-122"/>
              <a:cs typeface="Gotham Book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sk-SK" dirty="0">
              <a:solidFill>
                <a:srgbClr val="E8E8E8"/>
              </a:solidFill>
              <a:latin typeface="Montserrat" panose="00000500000000000000" pitchFamily="2" charset="0"/>
              <a:ea typeface="Gotham Book" pitchFamily="34" charset="-122"/>
              <a:cs typeface="Gotham Book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Panel: Programming, Legal, Marketing, PR, Platform Ops.</a:t>
            </a:r>
            <a:endParaRPr lang="en-US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Enhanced review for Amber/Red scores; Exec sign-off for Critical</a:t>
            </a:r>
            <a:endParaRPr lang="en-US" dirty="0">
              <a:latin typeface="Gotham Black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E8E8E8"/>
                </a:solidFill>
                <a:latin typeface="Gotham Black"/>
                <a:ea typeface="Gotham Book" pitchFamily="34" charset="-122"/>
                <a:cs typeface="Gotham Book" pitchFamily="34" charset="-120"/>
              </a:rPr>
              <a:t>Decisions documented and archived</a:t>
            </a:r>
            <a:endParaRPr lang="en-US" dirty="0">
              <a:latin typeface="Gotham Black"/>
            </a:endParaRP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0910826E-4443-E253-4837-1734E8ECC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7926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BlokTextu 14">
            <a:extLst>
              <a:ext uri="{FF2B5EF4-FFF2-40B4-BE49-F238E27FC236}">
                <a16:creationId xmlns:a16="http://schemas.microsoft.com/office/drawing/2014/main" id="{36FA524D-A1E6-DDAA-B03D-DEF7C2BAB8EA}"/>
              </a:ext>
            </a:extLst>
          </p:cNvPr>
          <p:cNvSpPr txBox="1"/>
          <p:nvPr/>
        </p:nvSpPr>
        <p:spPr>
          <a:xfrm>
            <a:off x="1553715" y="5813972"/>
            <a:ext cx="9800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BB1"/>
                </a:solidFill>
                <a:latin typeface="Gotham Black"/>
              </a:rPr>
              <a:t>OUTCOME</a:t>
            </a:r>
          </a:p>
          <a:p>
            <a:r>
              <a:rPr lang="en-US" dirty="0">
                <a:solidFill>
                  <a:srgbClr val="FFFBB1"/>
                </a:solidFill>
                <a:latin typeface="Gotham Black"/>
              </a:rPr>
              <a:t>Prevention &gt; reaction: consistent decisions, safer promotion, and protected long-term brand trust</a:t>
            </a:r>
          </a:p>
        </p:txBody>
      </p:sp>
    </p:spTree>
    <p:extLst>
      <p:ext uri="{BB962C8B-B14F-4D97-AF65-F5344CB8AC3E}">
        <p14:creationId xmlns:p14="http://schemas.microsoft.com/office/powerpoint/2010/main" val="41363074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6BE1A-4B49-319C-BC10-0AAA8356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dnadpis 4">
            <a:extLst>
              <a:ext uri="{FF2B5EF4-FFF2-40B4-BE49-F238E27FC236}">
                <a16:creationId xmlns:a16="http://schemas.microsoft.com/office/drawing/2014/main" id="{A79956DE-D0D8-5B84-7DAE-5ED086624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6018" y="2150928"/>
            <a:ext cx="10099963" cy="2556143"/>
          </a:xfrm>
        </p:spPr>
        <p:txBody>
          <a:bodyPr anchor="ctr">
            <a:noAutofit/>
          </a:bodyPr>
          <a:lstStyle/>
          <a:p>
            <a:r>
              <a:rPr lang="en-US" sz="6000" b="1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BUILDING</a:t>
            </a:r>
            <a:r>
              <a:rPr lang="en-US" sz="6000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 VOYO </a:t>
            </a:r>
            <a:r>
              <a:rPr lang="en-US" sz="6000" b="1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CONSISTENTLY</a:t>
            </a:r>
            <a:r>
              <a:rPr lang="en-US" sz="6000" dirty="0">
                <a:solidFill>
                  <a:srgbClr val="FFFFFF"/>
                </a:solidFill>
                <a:latin typeface="Gotham Black"/>
                <a:ea typeface="Gotham Light" pitchFamily="34" charset="-122"/>
                <a:cs typeface="Gotham Light" pitchFamily="34" charset="-120"/>
              </a:rPr>
              <a:t> ACROSS MARKETS</a:t>
            </a:r>
            <a:endParaRPr lang="en-US" sz="60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F19E9084-266A-C1C9-E395-3073F1F5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82640-75BE-4676-8FBA-7A48CEEC95B0}" type="slidenum">
              <a:rPr lang="sk-SK" smtClean="0"/>
              <a:pPr/>
              <a:t>95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486096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ED4FD0-E718-4753-74A9-93F707BE0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2475"/>
            <a:ext cx="9901382" cy="656164"/>
          </a:xfrm>
        </p:spPr>
        <p:txBody>
          <a:bodyPr>
            <a:noAutofit/>
          </a:bodyPr>
          <a:lstStyle/>
          <a:p>
            <a:r>
              <a:rPr lang="en-US" sz="4000" dirty="0">
                <a:latin typeface="Gotham Black"/>
              </a:rPr>
              <a:t>VOYO is built through every decision we make</a:t>
            </a:r>
            <a:endParaRPr lang="sk-SK" sz="4000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DD1D0DE-40DC-3B0E-EB8E-492FEFC68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339597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Gotham Black"/>
              </a:rPr>
              <a:t>Before you approve anything, ask:</a:t>
            </a:r>
            <a:endParaRPr lang="sk-SK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700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Gotham Black"/>
              </a:rPr>
              <a:t>Does this strengthen </a:t>
            </a:r>
            <a:r>
              <a:rPr lang="en-US" b="1" dirty="0">
                <a:latin typeface="Gotham Black"/>
              </a:rPr>
              <a:t>trust</a:t>
            </a:r>
            <a:r>
              <a:rPr lang="en-US" dirty="0">
                <a:latin typeface="Gotham Black"/>
              </a:rPr>
              <a:t>?</a:t>
            </a:r>
            <a:endParaRPr lang="sk-SK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Gotham Black"/>
              </a:rPr>
              <a:t>Does this feel </a:t>
            </a:r>
            <a:r>
              <a:rPr lang="en-US" b="1" dirty="0">
                <a:latin typeface="Gotham Black"/>
              </a:rPr>
              <a:t>locally close </a:t>
            </a:r>
            <a:r>
              <a:rPr lang="en-US" dirty="0">
                <a:latin typeface="Gotham Black"/>
              </a:rPr>
              <a:t>and </a:t>
            </a:r>
            <a:r>
              <a:rPr lang="en-US" b="1" dirty="0">
                <a:latin typeface="Gotham Black"/>
              </a:rPr>
              <a:t>culturally fluent</a:t>
            </a:r>
            <a:r>
              <a:rPr lang="en-US" dirty="0">
                <a:latin typeface="Gotham Black"/>
              </a:rPr>
              <a:t>?</a:t>
            </a:r>
            <a:endParaRPr lang="sk-SK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Gotham Black"/>
              </a:rPr>
              <a:t>Does this make </a:t>
            </a:r>
            <a:r>
              <a:rPr lang="en-US" b="1" dirty="0">
                <a:latin typeface="Gotham Black"/>
              </a:rPr>
              <a:t>choosing</a:t>
            </a:r>
            <a:r>
              <a:rPr lang="en-US" dirty="0">
                <a:latin typeface="Gotham Black"/>
              </a:rPr>
              <a:t> and </a:t>
            </a:r>
            <a:r>
              <a:rPr lang="en-US" b="1" dirty="0">
                <a:latin typeface="Gotham Black"/>
              </a:rPr>
              <a:t>watching</a:t>
            </a:r>
            <a:r>
              <a:rPr lang="en-US" dirty="0">
                <a:latin typeface="Gotham Black"/>
              </a:rPr>
              <a:t> </a:t>
            </a:r>
            <a:r>
              <a:rPr lang="en-US" b="1" dirty="0">
                <a:latin typeface="Gotham Black"/>
              </a:rPr>
              <a:t>easier</a:t>
            </a:r>
            <a:r>
              <a:rPr lang="en-US" dirty="0">
                <a:latin typeface="Gotham Black"/>
              </a:rPr>
              <a:t>?</a:t>
            </a:r>
            <a:endParaRPr lang="sk-SK" dirty="0">
              <a:latin typeface="Gotham Black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Gotham Black"/>
              </a:rPr>
              <a:t>Does this bring </a:t>
            </a:r>
            <a:r>
              <a:rPr lang="en-US" b="1" dirty="0">
                <a:latin typeface="Gotham Black"/>
              </a:rPr>
              <a:t>stories</a:t>
            </a:r>
            <a:r>
              <a:rPr lang="en-US" dirty="0">
                <a:latin typeface="Gotham Black"/>
              </a:rPr>
              <a:t> </a:t>
            </a:r>
            <a:r>
              <a:rPr lang="en-US" b="1" dirty="0">
                <a:latin typeface="Gotham Black"/>
              </a:rPr>
              <a:t>people</a:t>
            </a:r>
            <a:r>
              <a:rPr lang="en-US" dirty="0">
                <a:latin typeface="Gotham Black"/>
              </a:rPr>
              <a:t> </a:t>
            </a:r>
            <a:r>
              <a:rPr lang="en-US" b="1" dirty="0">
                <a:latin typeface="Gotham Black"/>
              </a:rPr>
              <a:t>care</a:t>
            </a:r>
            <a:r>
              <a:rPr lang="en-US" dirty="0">
                <a:latin typeface="Gotham Black"/>
              </a:rPr>
              <a:t> about?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E9363B9-2DF3-4833-87F1-114E280F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>
                <a:latin typeface="Gotham Black"/>
              </a:rPr>
              <a:t>96</a:t>
            </a:fld>
            <a:endParaRPr lang="sk-SK">
              <a:latin typeface="Gotham Black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CF345F9B-9B3E-BEF0-F0FB-2EC6A1455362}"/>
              </a:ext>
            </a:extLst>
          </p:cNvPr>
          <p:cNvSpPr txBox="1"/>
          <p:nvPr/>
        </p:nvSpPr>
        <p:spPr>
          <a:xfrm>
            <a:off x="1461943" y="5525353"/>
            <a:ext cx="60941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BB1"/>
                </a:solidFill>
                <a:latin typeface="Gotham Black"/>
              </a:rPr>
              <a:t>If </a:t>
            </a:r>
            <a:r>
              <a:rPr lang="en-US" sz="2400" b="1" dirty="0">
                <a:solidFill>
                  <a:srgbClr val="FFFBB1"/>
                </a:solidFill>
                <a:latin typeface="Gotham Black"/>
              </a:rPr>
              <a:t>yes</a:t>
            </a:r>
            <a:r>
              <a:rPr lang="en-US" sz="2400" dirty="0">
                <a:solidFill>
                  <a:srgbClr val="FFFBB1"/>
                </a:solidFill>
                <a:latin typeface="Gotham Black"/>
              </a:rPr>
              <a:t> → it builds VOYO</a:t>
            </a:r>
            <a:br>
              <a:rPr lang="en-US" sz="2400" dirty="0">
                <a:solidFill>
                  <a:srgbClr val="FFFBB1"/>
                </a:solidFill>
                <a:latin typeface="Gotham Black"/>
              </a:rPr>
            </a:br>
            <a:r>
              <a:rPr lang="en-US" sz="2400" dirty="0">
                <a:solidFill>
                  <a:srgbClr val="FFFBB1"/>
                </a:solidFill>
                <a:latin typeface="Gotham Black"/>
              </a:rPr>
              <a:t>If </a:t>
            </a:r>
            <a:r>
              <a:rPr lang="en-US" sz="2400" b="1" dirty="0">
                <a:solidFill>
                  <a:srgbClr val="FFFBB1"/>
                </a:solidFill>
                <a:latin typeface="Gotham Black"/>
              </a:rPr>
              <a:t>not</a:t>
            </a:r>
            <a:r>
              <a:rPr lang="en-US" sz="2400" dirty="0">
                <a:solidFill>
                  <a:srgbClr val="FFFBB1"/>
                </a:solidFill>
                <a:latin typeface="Gotham Black"/>
              </a:rPr>
              <a:t> → rethink it</a:t>
            </a:r>
            <a:endParaRPr lang="sk-SK" sz="2400" dirty="0">
              <a:solidFill>
                <a:srgbClr val="FFFBB1"/>
              </a:solidFill>
              <a:latin typeface="Gotham Black"/>
            </a:endParaRPr>
          </a:p>
        </p:txBody>
      </p:sp>
      <p:pic>
        <p:nvPicPr>
          <p:cNvPr id="7" name="Picture 6" descr="Attention PNG transparent image download, size: 2400x2400px">
            <a:extLst>
              <a:ext uri="{FF2B5EF4-FFF2-40B4-BE49-F238E27FC236}">
                <a16:creationId xmlns:a16="http://schemas.microsoft.com/office/drawing/2014/main" id="{41948CC5-7B67-A9E5-AA5A-7F7FA219D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5741659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623538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smtClean="0">
            <a:solidFill>
              <a:schemeClr val="bg1"/>
            </a:solidFill>
            <a:latin typeface="Gotham Book" panose="0200060404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Vlastný návrh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5F79A8C27D7E459E567A294E047221" ma:contentTypeVersion="4" ma:contentTypeDescription="Create a new document." ma:contentTypeScope="" ma:versionID="098f7bcbffdd78fcf3484c4292ff7edc">
  <xsd:schema xmlns:xsd="http://www.w3.org/2001/XMLSchema" xmlns:xs="http://www.w3.org/2001/XMLSchema" xmlns:p="http://schemas.microsoft.com/office/2006/metadata/properties" xmlns:ns2="27d6b7cb-eaa8-4731-a2b6-d162df5f99ba" targetNamespace="http://schemas.microsoft.com/office/2006/metadata/properties" ma:root="true" ma:fieldsID="9cdbf138ec6e1a2cd14ff53661a1cebd" ns2:_="">
    <xsd:import namespace="27d6b7cb-eaa8-4731-a2b6-d162df5f99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d6b7cb-eaa8-4731-a2b6-d162df5f99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E261DD-9D39-495D-AACC-55154407415E}">
  <ds:schemaRefs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27d6b7cb-eaa8-4731-a2b6-d162df5f99ba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2B70515-1283-4E50-869E-AC57AFD431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2034CF-E058-45CB-A5B5-96C051F4CE15}">
  <ds:schemaRefs>
    <ds:schemaRef ds:uri="27d6b7cb-eaa8-4731-a2b6-d162df5f99b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1dc5503-7be7-40b8-8971-eac73b92fc35}" enabled="1" method="Standard" siteId="{ac66e848-7cb4-490d-b461-4eb2e62f834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4949</TotalTime>
  <Words>6502</Words>
  <Application>Microsoft Office PowerPoint</Application>
  <PresentationFormat>Širokouhlá</PresentationFormat>
  <Paragraphs>1067</Paragraphs>
  <Slides>96</Slides>
  <Notes>2</Notes>
  <HiddenSlides>0</HiddenSlides>
  <MMClips>0</MMClips>
  <ScaleCrop>false</ScaleCrop>
  <HeadingPairs>
    <vt:vector size="6" baseType="variant">
      <vt:variant>
        <vt:lpstr>Použité písma</vt:lpstr>
      </vt:variant>
      <vt:variant>
        <vt:i4>8</vt:i4>
      </vt:variant>
      <vt:variant>
        <vt:lpstr>Motív</vt:lpstr>
      </vt:variant>
      <vt:variant>
        <vt:i4>2</vt:i4>
      </vt:variant>
      <vt:variant>
        <vt:lpstr>Nadpisy snímok</vt:lpstr>
      </vt:variant>
      <vt:variant>
        <vt:i4>96</vt:i4>
      </vt:variant>
    </vt:vector>
  </HeadingPairs>
  <TitlesOfParts>
    <vt:vector size="106" baseType="lpstr">
      <vt:lpstr>Aptos</vt:lpstr>
      <vt:lpstr>Arial</vt:lpstr>
      <vt:lpstr>Gotham Black</vt:lpstr>
      <vt:lpstr>Gotham Bold</vt:lpstr>
      <vt:lpstr>Gotham Book</vt:lpstr>
      <vt:lpstr>Gotham Light</vt:lpstr>
      <vt:lpstr>Gotham Medium</vt:lpstr>
      <vt:lpstr>Montserrat</vt:lpstr>
      <vt:lpstr>Motív Office</vt:lpstr>
      <vt:lpstr>Vlastný návrh</vt:lpstr>
      <vt:lpstr>Building VOYO  Consistently Across Markets</vt:lpstr>
      <vt:lpstr>Building VOYO Consistently Across Markets</vt:lpstr>
      <vt:lpstr>Overview of Sections</vt:lpstr>
      <vt:lpstr>Chapter 1</vt:lpstr>
      <vt:lpstr>Chapter 1.1</vt:lpstr>
      <vt:lpstr>Why VOYO matters</vt:lpstr>
      <vt:lpstr>Our Brand Story</vt:lpstr>
      <vt:lpstr>VOYO Brand Values</vt:lpstr>
      <vt:lpstr>VOYO Brand Foundation</vt:lpstr>
      <vt:lpstr>VOYO Brand Essence</vt:lpstr>
      <vt:lpstr>VOYO Brand Purpose</vt:lpstr>
      <vt:lpstr>VOYO Positioning Statement</vt:lpstr>
      <vt:lpstr>VOYO in the Entertainment Landscape</vt:lpstr>
      <vt:lpstr>VOYO Target Audience &amp; Needs</vt:lpstr>
      <vt:lpstr>Chapter 1.2</vt:lpstr>
      <vt:lpstr>Prezentácia programu PowerPoint</vt:lpstr>
      <vt:lpstr>VOYO North Star</vt:lpstr>
      <vt:lpstr>Chapter 2</vt:lpstr>
      <vt:lpstr>How to apply VOYO positioning across markets</vt:lpstr>
      <vt:lpstr>When VOYO feels like “our service”</vt:lpstr>
      <vt:lpstr>Local Implementation</vt:lpstr>
      <vt:lpstr>What each market must deliver</vt:lpstr>
      <vt:lpstr>Local relevance — [MARKET]</vt:lpstr>
      <vt:lpstr>What is localised – and what is not (rules for the umbrella Brand Bible)</vt:lpstr>
      <vt:lpstr>Chapter 3</vt:lpstr>
      <vt:lpstr>ONE Universe, two gateways</vt:lpstr>
      <vt:lpstr>Same content world. Different roles.</vt:lpstr>
      <vt:lpstr>Leadership &amp; Brand hierarchy (practice)</vt:lpstr>
      <vt:lpstr>Relationship to News Brands</vt:lpstr>
      <vt:lpstr>Content &amp; Windowing Principles</vt:lpstr>
      <vt:lpstr>Content &amp; Windowing Principles</vt:lpstr>
      <vt:lpstr>Communication Architecture:  Brand vs Platform vs Content</vt:lpstr>
      <vt:lpstr>What leads, and why</vt:lpstr>
      <vt:lpstr>Preview access, spoilers &amp; viewer experience</vt:lpstr>
      <vt:lpstr>Chapter 4</vt:lpstr>
      <vt:lpstr>Chapter 4.1</vt:lpstr>
      <vt:lpstr>Present in the moments that matter</vt:lpstr>
      <vt:lpstr>Responsive to how people watch</vt:lpstr>
      <vt:lpstr>Familiar, personal and easy to engage with</vt:lpstr>
      <vt:lpstr>VOYO across everyday viewing moments</vt:lpstr>
      <vt:lpstr>Chapter 4.2</vt:lpstr>
      <vt:lpstr>Designed for effortless viewing</vt:lpstr>
      <vt:lpstr>Chapter 5</vt:lpstr>
      <vt:lpstr>Chapter 5.1</vt:lpstr>
      <vt:lpstr>Brand Personality and Voice</vt:lpstr>
      <vt:lpstr>Communication Principles</vt:lpstr>
      <vt:lpstr>Tone for Various Content Genres</vt:lpstr>
      <vt:lpstr>Chapter 5.2</vt:lpstr>
      <vt:lpstr>Logo</vt:lpstr>
      <vt:lpstr>V Icon</vt:lpstr>
      <vt:lpstr>Primary Typography</vt:lpstr>
      <vt:lpstr>Alternative Typography</vt:lpstr>
      <vt:lpstr>Sub-brand Logos</vt:lpstr>
      <vt:lpstr>Primary Colours</vt:lpstr>
      <vt:lpstr>Primary Background</vt:lpstr>
      <vt:lpstr>Secondary Colour Palette</vt:lpstr>
      <vt:lpstr>Secondary Background</vt:lpstr>
      <vt:lpstr>Call-to-Action (CTA)</vt:lpstr>
      <vt:lpstr>Chapter 5.3</vt:lpstr>
      <vt:lpstr>Social Media Role</vt:lpstr>
      <vt:lpstr>Content First</vt:lpstr>
      <vt:lpstr>Local &amp; Culturally Fluent</vt:lpstr>
      <vt:lpstr>Social Supports The Viewing Journey</vt:lpstr>
      <vt:lpstr>Create FOMO. Protect The Experience.</vt:lpstr>
      <vt:lpstr>Chapter 6</vt:lpstr>
      <vt:lpstr>Chapter 6.1</vt:lpstr>
      <vt:lpstr>VOYO Growth Pillars</vt:lpstr>
      <vt:lpstr>Content Strategy</vt:lpstr>
      <vt:lpstr>User Acquisition &amp; Retention</vt:lpstr>
      <vt:lpstr>Performance Marketing &amp; Growth Intelligence</vt:lpstr>
      <vt:lpstr>Strategic Partnerships</vt:lpstr>
      <vt:lpstr>Promotional Principles</vt:lpstr>
      <vt:lpstr>Growth Execution Principles</vt:lpstr>
      <vt:lpstr>Chapter 6.2</vt:lpstr>
      <vt:lpstr>Purpose of B2B Brand Usage &amp; Governance</vt:lpstr>
      <vt:lpstr>Scope – Who These Rules Apply To</vt:lpstr>
      <vt:lpstr>Brand Ownership &amp; Legal Status</vt:lpstr>
      <vt:lpstr>How VOYO appears in partner ecosystems</vt:lpstr>
      <vt:lpstr>Brand Assets Usage</vt:lpstr>
      <vt:lpstr>Promotion &amp; Visibility Standards</vt:lpstr>
      <vt:lpstr>Pricing &amp; Value Communication</vt:lpstr>
      <vt:lpstr>How to present VOYO in Bundles</vt:lpstr>
      <vt:lpstr>Final Partner Rule</vt:lpstr>
      <vt:lpstr>Chapter 6.3</vt:lpstr>
      <vt:lpstr>Our responsibility</vt:lpstr>
      <vt:lpstr>Guiding principles</vt:lpstr>
      <vt:lpstr>Content classification &amp; audience protection</vt:lpstr>
      <vt:lpstr>Sensitive themes &amp; enhanced review</vt:lpstr>
      <vt:lpstr>Editorial Integrity in Marketing Assets</vt:lpstr>
      <vt:lpstr>Advertising &amp; Commercial Suitability</vt:lpstr>
      <vt:lpstr>Suitability zones (Green / Amber / Red)</vt:lpstr>
      <vt:lpstr>Social Media &amp; Community Protection</vt:lpstr>
      <vt:lpstr>Talent &amp; Influencer Governance</vt:lpstr>
      <vt:lpstr>Brand risk scoring &amp; governance</vt:lpstr>
      <vt:lpstr>Prezentácia programu PowerPoint</vt:lpstr>
      <vt:lpstr>VOYO is built through every decision we make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Andrej Nízl</dc:creator>
  <cp:lastModifiedBy>Zuzana Netíková</cp:lastModifiedBy>
  <cp:revision>32</cp:revision>
  <dcterms:created xsi:type="dcterms:W3CDTF">2026-02-02T11:02:59Z</dcterms:created>
  <dcterms:modified xsi:type="dcterms:W3CDTF">2026-02-27T10:35:42Z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Motív Office:8</vt:lpwstr>
  </property>
  <property fmtid="{D5CDD505-2E9C-101B-9397-08002B2CF9AE}" pid="3" name="ClassificationContentMarkingFooterText">
    <vt:lpwstr>Internal</vt:lpwstr>
  </property>
  <property fmtid="{D5CDD505-2E9C-101B-9397-08002B2CF9AE}" pid="4" name="ContentTypeId">
    <vt:lpwstr>0x010100725F79A8C27D7E459E567A294E047221</vt:lpwstr>
  </property>
</Properties>
</file>